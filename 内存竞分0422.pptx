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5" r:id="rId3"/>
    <p:sldMasterId id="2147483657" r:id="rId4"/>
    <p:sldMasterId id="2147483659" r:id="rId5"/>
  </p:sldMasterIdLst>
  <p:notesMasterIdLst>
    <p:notesMasterId r:id="rId13"/>
  </p:notesMasterIdLst>
  <p:handoutMasterIdLst>
    <p:handoutMasterId r:id="rId14"/>
  </p:handoutMasterIdLst>
  <p:sldIdLst>
    <p:sldId id="309" r:id="rId6"/>
    <p:sldId id="299" r:id="rId7"/>
    <p:sldId id="311" r:id="rId8"/>
    <p:sldId id="301" r:id="rId9"/>
    <p:sldId id="300" r:id="rId10"/>
    <p:sldId id="310" r:id="rId11"/>
    <p:sldId id="304" r:id="rId1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45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9" autoAdjust="0"/>
    <p:restoredTop sz="97205"/>
  </p:normalViewPr>
  <p:slideViewPr>
    <p:cSldViewPr snapToGrid="0" snapToObjects="1" showGuides="1">
      <p:cViewPr varScale="1">
        <p:scale>
          <a:sx n="121" d="100"/>
          <a:sy n="121" d="100"/>
        </p:scale>
        <p:origin x="368" y="168"/>
      </p:cViewPr>
      <p:guideLst>
        <p:guide pos="3645"/>
        <p:guide orient="horz" pos="2172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内核占用子项</a:t>
            </a:r>
            <a:r>
              <a:rPr lang="zh-CN" altLang="en-US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VM_KERN_COUNT_WIRED_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残余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209</a:t>
            </a:r>
            <a:r>
              <a:rPr lang="zh-CN" altLang="en-US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zones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278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277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277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 (wired initial)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168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VM_KERN_MEMORY_STACK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VM_KERN_MEMORY_PTE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119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109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107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110</a:t>
            </a:r>
            <a:r>
              <a:rPr lang="en" altLang="zh-CN" dirty="0">
                <a:effectLst/>
              </a:rPr>
              <a:t> 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内核总和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832</a:t>
            </a:r>
            <a:r>
              <a:rPr lang="zh-CN" altLang="en-US" dirty="0">
                <a:effectLst/>
              </a:rPr>
              <a:t> 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驱动占用子项</a:t>
            </a:r>
            <a:r>
              <a:rPr lang="zh-CN" altLang="en-US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com.apple.AGXG15P_A0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com.apple.driver.xxx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309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336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com.apple.iokit.xxx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86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74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79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com.apple.iokit.IOSurface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63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52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</a:t>
            </a:r>
            <a:r>
              <a:rPr lang="en" altLang="zh-CN" dirty="0">
                <a:effectLst/>
              </a:rPr>
              <a:t> </a:t>
            </a:r>
            <a:r>
              <a:rPr lang="en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53</a:t>
            </a:r>
            <a:r>
              <a:rPr lang="en" altLang="zh-CN" dirty="0">
                <a:effectLst/>
              </a:rPr>
              <a:t> 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驱动总和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593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415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470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440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465</a:t>
            </a:r>
            <a:r>
              <a:rPr lang="zh-CN" altLang="en-US" dirty="0">
                <a:effectLst/>
              </a:rPr>
              <a:t> 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1145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1368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1314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1376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1297</a:t>
            </a:r>
            <a:r>
              <a:rPr lang="zh-CN" altLang="en-US" dirty="0">
                <a:effectLst/>
              </a:rPr>
              <a:t> </a:t>
            </a: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其中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- VM_KERN_*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为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wired memory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页表中所有以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VM_KERN_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开头的字段之和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-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VM_KERN_COUNT_WIRED_残余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= total Y of X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中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X - 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的值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com.apple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.*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仅统计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wired memory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页表中的项（maps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页表不计入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___.xlsx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package" Target="../embeddings/Microsoft_Excel____1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微信拍照模式竞分数据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81700" y="2827020"/>
            <a:ext cx="6214745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预览阶段（日常取景）：</a:t>
            </a: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1424.56MB</a:t>
            </a: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1766.12MB</a:t>
            </a: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在基础预览时的系统开销比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24%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拍照阶段（瞬间捕获）：</a:t>
            </a: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1618.10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1868.09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在执行拍照动作时，底层系统的开销依然比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15.4%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82017" y="5467668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iPhone 17 Pro Max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开销增加了约 193.5MB（涨幅 13.6%）。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MLN-AL00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开销仅增加了约 102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（涨幅 5.8%）。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" y="3062605"/>
            <a:ext cx="4366895" cy="3286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/>
          <p:cNvSpPr txBox="1"/>
          <p:nvPr/>
        </p:nvSpPr>
        <p:spPr>
          <a:xfrm>
            <a:off x="57785" y="2772410"/>
            <a:ext cx="52241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https://developer.apple.com/documentation/avfoundation/avcapturephotooutput/qualityprioritization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" y="608330"/>
            <a:ext cx="5829101" cy="208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00" y="608330"/>
            <a:ext cx="5892479" cy="2088000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41520" y="4908550"/>
          <a:ext cx="1440000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howAsIcon="1" r:id="rId6" imgW="1524000" imgH="1524000" progId="Excel.Sheet.12">
                  <p:embed/>
                </p:oleObj>
              </mc:Choice>
              <mc:Fallback>
                <p:oleObj showAsIcon="1" r:id="rId6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41520" y="4908550"/>
                        <a:ext cx="1440000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874000" y="3786505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 dirty="0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 dirty="0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3.02）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416675" y="5087620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3774873796"/>
              </p:ext>
            </p:extLst>
          </p:nvPr>
        </p:nvGraphicFramePr>
        <p:xfrm>
          <a:off x="6097905" y="4079875"/>
          <a:ext cx="5967095" cy="901700"/>
        </p:xfrm>
        <a:graphic>
          <a:graphicData uri="http://schemas.openxmlformats.org/drawingml/2006/table">
            <a:tbl>
              <a:tblPr/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(MB)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Basic1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Basic2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Basic3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Basic4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Basic5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压缩前均值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/Stored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371264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374844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419129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335071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274505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压缩后均值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/Occupied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112154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117332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124224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119810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113400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压缩比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3.31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3.19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3.37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2.80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anose="02010600030101010101" pitchFamily="2" charset="-122"/>
                          <a:cs typeface="+mn-cs"/>
                        </a:rPr>
                        <a:t>2.42 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DA348-5CDD-09A9-35EA-5B7547AD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E28D8C4-5392-5CE4-D39F-EAAD129BCD50}"/>
              </a:ext>
            </a:extLst>
          </p:cNvPr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BD8FEA5-BE9A-3E35-5331-2BD65010338E}"/>
              </a:ext>
            </a:extLst>
          </p:cNvPr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F5836B9-82EE-1567-385F-B12E48B1B9E4}"/>
              </a:ext>
            </a:extLst>
          </p:cNvPr>
          <p:cNvSpPr txBox="1"/>
          <p:nvPr/>
        </p:nvSpPr>
        <p:spPr>
          <a:xfrm>
            <a:off x="7874000" y="3786505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3.17）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439AA9-70E8-F008-D454-CB9D75185D41}"/>
              </a:ext>
            </a:extLst>
          </p:cNvPr>
          <p:cNvSpPr txBox="1"/>
          <p:nvPr/>
        </p:nvSpPr>
        <p:spPr>
          <a:xfrm>
            <a:off x="1107440" y="5837555"/>
            <a:ext cx="418592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三方应用推入后台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基本上全压缩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；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前台应用压缩率较后台三方应用低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DE882E-F40E-DFA6-2CD1-4392CC69BEEC}"/>
              </a:ext>
            </a:extLst>
          </p:cNvPr>
          <p:cNvSpPr txBox="1"/>
          <p:nvPr/>
        </p:nvSpPr>
        <p:spPr>
          <a:xfrm>
            <a:off x="7113270" y="3225165"/>
            <a:ext cx="348805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系统服务压缩率较低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但不同系统服务压缩率各不相同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8974CE-178C-4630-46EC-F8851F404B67}"/>
              </a:ext>
            </a:extLst>
          </p:cNvPr>
          <p:cNvSpPr txBox="1"/>
          <p:nvPr/>
        </p:nvSpPr>
        <p:spPr>
          <a:xfrm>
            <a:off x="6416675" y="5087620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505649-C506-3975-E2B3-8E19543C7F76}"/>
              </a:ext>
            </a:extLst>
          </p:cNvPr>
          <p:cNvGraphicFramePr/>
          <p:nvPr/>
        </p:nvGraphicFramePr>
        <p:xfrm>
          <a:off x="6097905" y="4079875"/>
          <a:ext cx="5967095" cy="901700"/>
        </p:xfrm>
        <a:graphic>
          <a:graphicData uri="http://schemas.openxmlformats.org/drawingml/2006/table">
            <a:tbl>
              <a:tblPr/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(MB)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Basic1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Basic2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Basic3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Basic4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Basic5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压缩前均值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/Stored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300177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318533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336992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357600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371671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压缩后均值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/Occupied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120176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99660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112255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101534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114290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压缩比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2.50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3.33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3.03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3.70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3.29 </a:t>
                      </a: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70C7DB44-A200-5463-BE7E-FEA0BF82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90" y="639445"/>
            <a:ext cx="5030956" cy="252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A9FD3E-ED1E-3360-970E-FF847D91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639445"/>
            <a:ext cx="5027705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5F2ADE-8BC0-C16A-25DC-FED3887DB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5" y="3218180"/>
            <a:ext cx="5033768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2374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前台应用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7310120" y="1018540"/>
          <a:ext cx="4432935" cy="22542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7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proc_name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Swapped(MB)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实际占用</a:t>
                      </a:r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(MB)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latin typeface="Times New Roman Regular" panose="02020503050405090304" charset="0"/>
                        </a:rPr>
                        <a:t>压缩率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钉钉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171.35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146.10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54%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QQ</a:t>
                      </a:r>
                      <a:r>
                        <a:rPr lang="zh-CN" altLang="en-US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音乐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202.84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221.30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48%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微信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486.19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543.72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47%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高德地图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287.23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384.61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43%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腾讯视频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373.35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606.67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38%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和平精英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220.00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369.65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抖音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461.57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794.37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支付宝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257.41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490.75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34%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虎牙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177.91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393.65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31%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快手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280.39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701.35 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29%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" y="885825"/>
            <a:ext cx="6717030" cy="2739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66405" y="3352165"/>
            <a:ext cx="2921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/>
              <a:t>动态模型场景下前台应用压缩率</a:t>
            </a:r>
            <a:r>
              <a:rPr lang="en-US" altLang="zh-CN" sz="1200"/>
              <a:t>Top10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49225" y="3818255"/>
            <a:ext cx="563689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优先级高、高频交互的系统服务（如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SpringBoard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mediaserverd、backboardd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），享受低压缩率，确保系统丝滑。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低频后台、处于休眠的服务，面临极高压缩率，被释放空间。动态模型中系统服务的内存大小为时长的加权平均值。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6028372" y="796925"/>
          <a:ext cx="5986780" cy="2346960"/>
        </p:xfrm>
        <a:graphic>
          <a:graphicData uri="http://schemas.openxmlformats.org/drawingml/2006/table">
            <a:tbl>
              <a:tblPr/>
              <a:tblGrid>
                <a:gridCol w="246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proc_name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求和项:Swapped(MB)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求和项:实际占用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压缩率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com.apple.dt.instruments.dtsecurity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78814.27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2454.81625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97%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diskimagesiod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16368.58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1035.78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94%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healthappd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6962.84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535.18125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93%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Spotlight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11626.49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1602.825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PhotosReliveWidget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651.18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91.15375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splashboardd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1160.06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165.09375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PosterBoard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17440.14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2553.6325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87%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com.apple.mobilenotes.WidgetExtension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625.99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98.568125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86%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StoreKitUIService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14822.21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2387.991875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86%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com.apple.MapKit.SnapshotService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721.57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138.029375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84%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87005" y="3143885"/>
            <a:ext cx="2921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/>
              <a:t>动态模型场景下系统服务</a:t>
            </a:r>
            <a:r>
              <a:rPr lang="en-US" altLang="zh-CN" sz="1200"/>
              <a:t>Top10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796925"/>
            <a:ext cx="5922010" cy="28428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28055" y="3552825"/>
            <a:ext cx="6077585" cy="263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com.apple.dt.instruments.dtsecurity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开发者工具安全服务。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dt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代表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Developer Tools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instruments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是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Xcode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中用于性能分析工具。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diskimagesiod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磁盘映像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I/O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守护进程。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healthappd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“健康”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App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守护进程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Spotlight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苹果的全局搜索服务。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PhotosReliveWidget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照片“回忆”小组件服务。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splashboardd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启动屏幕守护进程。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PosterBoard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锁屏与壁纸管理器。</a:t>
            </a: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com.apple.mobilenotes.WidgetExtension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“备忘录”小组件扩展。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StoreKitUIService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App Store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交互界面服务。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StoreKit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是苹果处理应用内购买和订阅的框架。</a:t>
            </a:r>
          </a:p>
          <a:p>
            <a:pPr>
              <a:lnSpc>
                <a:spcPct val="150000"/>
              </a:lnSpc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com.apple.MapKit.SnapshotService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地图快照服务。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系统相机和三方相机内存占用竞分数据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3820" y="4568825"/>
            <a:ext cx="10073005" cy="216852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1. 原生应用：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原生相机中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，iPhone  14PM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（31M）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采用极致轻量化策略，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360M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）存在十倍以上的内存开销差距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在原生拍摄场景中，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(Camera)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仅作为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UI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空壳，内存占用极低且稳定，绝大多数场景仅需 20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- 46MB（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例如 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K30fps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录像仅为 24.5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MB）。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相比之下，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com.huawei.camera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承载了较多业务逻辑，内存占用普遍在 300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- 540MB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区间（例如延时摄影高达 541.4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</a:t>
            </a:r>
            <a:r>
              <a:rPr 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2. 框架服务：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双方架构设计思路高度一致，均保持极低的调度开销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camera_service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稳定在 18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- 22MB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左右，而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appleh13camerad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也仅为 21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- 37MB。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3. 系统服务：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原生场景下均为消耗主力，但在三方应用接入时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的降级释放策略更激进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系统底层的图像处理进程是双方的内存消耗大头（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CameraDaemon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与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mediaserverd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在原生场景均可达 1000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- 1600MB+）。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在面临三方应用（如微信、支付宝）调用时策略出现显著分化：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的系统服务内存会下降至 230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- 390MB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左右（如微信拍照降至 253.94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为三方应用让出空间；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底层服务在三方调用时依然维持在 600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- 1200MB+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的高水位（如微信拍照高达 1186.1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缺乏针对三方场景的重度内存收缩策略。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" y="591185"/>
            <a:ext cx="9106535" cy="3938905"/>
          </a:xfrm>
          <a:prstGeom prst="rect">
            <a:avLst/>
          </a:prstGeom>
        </p:spPr>
      </p:pic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368155" y="591185"/>
          <a:ext cx="1440000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showAsIcon="1" r:id="rId4" imgW="1524000" imgH="1524000" progId="Excel.Sheet.12">
                  <p:embed/>
                </p:oleObj>
              </mc:Choice>
              <mc:Fallback>
                <p:oleObj name="工作表" showAsIcon="1" r:id="rId4" imgW="1524000" imgH="1524000" progId="Excel.Shee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68155" y="591185"/>
                        <a:ext cx="1440000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4210742"/>
              </p:ext>
            </p:extLst>
          </p:nvPr>
        </p:nvGraphicFramePr>
        <p:xfrm>
          <a:off x="381000" y="565785"/>
          <a:ext cx="5252085" cy="4023360"/>
        </p:xfrm>
        <a:graphic>
          <a:graphicData uri="http://schemas.openxmlformats.org/drawingml/2006/table">
            <a:tbl>
              <a:tblPr/>
              <a:tblGrid>
                <a:gridCol w="988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209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277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110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832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- com.apple.iokit.IOSurface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465</a:t>
                      </a: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3353922588"/>
              </p:ext>
            </p:extLst>
          </p:nvPr>
        </p:nvGraphicFramePr>
        <p:xfrm>
          <a:off x="6729730" y="574675"/>
          <a:ext cx="5161915" cy="5227200"/>
        </p:xfrm>
        <a:graphic>
          <a:graphicData uri="http://schemas.openxmlformats.org/drawingml/2006/table">
            <a:tbl>
              <a:tblPr/>
              <a:tblGrid>
                <a:gridCol w="937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6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B138SP18_6.0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00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95.5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6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KDrvUsed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  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UdrvUsed - IonTotalUsed - 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330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LDKSlabUnreclaimable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101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- 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-122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358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GAP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-107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驱动（不含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1337</a:t>
                      </a: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46075" y="462280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 dirty="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 dirty="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29730" y="587438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驱动统计不包含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560578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45758" y="5686742"/>
            <a:ext cx="5080000" cy="7067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单框架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驱动内存</a:t>
            </a: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CMA内存 + UDK驱动内存占用 + LDK驱动内存占用 </a:t>
            </a: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CmaUsed + KDrvUsed + (UdrvUsed - IonTotalUsed - GpuTotalUsed)</a:t>
            </a: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+ LDKSlabUnreclaimable - VmemmapRsvTotal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6075" y="4828540"/>
            <a:ext cx="63836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b="1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公式</a:t>
            </a:r>
            <a:r>
              <a:rPr lang="en-US" altLang="zh-CN" sz="1000" b="1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内核占用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= (wired memory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中的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所有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VM_KERN_* + zones) - VM_KERN_COUNT_BOOT_STOLEN +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VM_KERN_COUNT_WIRED_残余</a:t>
            </a:r>
            <a:endParaRPr lang="en-US" altLang="zh-CN" sz="100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驱动占用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= (wired memory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中的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.*) -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com.apple.iokit.IOSurface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-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com.apple.filesystems.apfs</a:t>
            </a:r>
            <a:endParaRPr lang="en-US" altLang="zh-CN" sz="100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3*295"/>
  <p:tag name="TABLE_ENDDRAG_RECT" val="30*44*413*295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194</TotalTime>
  <Words>1576</Words>
  <Application>Microsoft Macintosh PowerPoint</Application>
  <PresentationFormat>自定义</PresentationFormat>
  <Paragraphs>282</Paragraphs>
  <Slides>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宋体-简</vt:lpstr>
      <vt:lpstr>微软雅黑</vt:lpstr>
      <vt:lpstr>Times New Roman Regular</vt:lpstr>
      <vt:lpstr>Arial</vt:lpstr>
      <vt:lpstr>Calibri</vt:lpstr>
      <vt:lpstr>Wingdings</vt:lpstr>
      <vt:lpstr>1_Title Slide</vt:lpstr>
      <vt:lpstr>Chart page</vt:lpstr>
      <vt:lpstr>4_Chart page</vt:lpstr>
      <vt:lpstr>End page</vt:lpstr>
      <vt:lpstr>1_Chart page</vt:lpstr>
      <vt:lpstr>Excel.Sheet.12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office2016mac94000</cp:lastModifiedBy>
  <cp:revision>68</cp:revision>
  <dcterms:created xsi:type="dcterms:W3CDTF">2026-04-22T06:32:06Z</dcterms:created>
  <dcterms:modified xsi:type="dcterms:W3CDTF">2026-04-22T09:47:29Z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0B6D284BDB836E8D4F35E869E07CB84A_43</vt:lpwstr>
  </property>
  <property fmtid="{D5CDD505-2E9C-101B-9397-08002B2CF9AE}" pid="10" name="KSOProductBuildVer">
    <vt:lpwstr>2052-12.1.25867.25867</vt:lpwstr>
  </property>
</Properties>
</file>