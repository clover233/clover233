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16"/>
  </p:handoutMasterIdLst>
  <p:sldIdLst>
    <p:sldId id="304" r:id="rId7"/>
    <p:sldId id="314" r:id="rId9"/>
    <p:sldId id="299" r:id="rId10"/>
    <p:sldId id="312" r:id="rId11"/>
    <p:sldId id="313" r:id="rId12"/>
    <p:sldId id="300" r:id="rId13"/>
    <p:sldId id="309" r:id="rId14"/>
    <p:sldId id="310" r:id="rId15"/>
  </p:sldIdLst>
  <p:sldSz cx="12196445" cy="6858000"/>
  <p:notesSz cx="6858000" cy="9144000"/>
  <p:embeddedFontLst>
    <p:embeddedFont>
      <p:font typeface="PingFang SC" panose="020B0400000000000000" charset="-122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44" userDrawn="1">
          <p15:clr>
            <a:srgbClr val="A4A3A4"/>
          </p15:clr>
        </p15:guide>
        <p15:guide id="6" orient="horz" pos="2202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FFFFFF"/>
    <a:srgbClr val="151515"/>
    <a:srgbClr val="575756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7" autoAdjust="0"/>
    <p:restoredTop sz="97205"/>
  </p:normalViewPr>
  <p:slideViewPr>
    <p:cSldViewPr snapToGrid="0" snapToObjects="1" showGuides="1">
      <p:cViewPr varScale="1">
        <p:scale>
          <a:sx n="155" d="100"/>
          <a:sy n="155" d="100"/>
        </p:scale>
        <p:origin x="208" y="1288"/>
      </p:cViewPr>
      <p:guideLst>
        <p:guide pos="3644"/>
        <p:guide orient="horz" pos="2202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用例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succ/all： 42/57 28/39 36/42 41/55 34/45	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成功率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：74% 72% 86% 75% 76%</a:t>
            </a:r>
            <a:endParaRPr lang="zh-CN" altLang="en-US" sz="16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内核占用子项</a:t>
            </a:r>
            <a:r>
              <a:rPr lang="zh-CN" altLang="en-US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Basic1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Basic5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VM_KERN_COUNT_WIRED_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残余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178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209</a:t>
            </a:r>
            <a:r>
              <a:rPr lang="zh-CN" altLang="en-US" dirty="0">
                <a:effectLst/>
              </a:rPr>
              <a:t> </a:t>
            </a:r>
            <a:endParaRPr lang="zh-CN" altLang="en-US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zones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281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278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275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277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277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 (wired initial)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168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245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261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293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234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VM_KERN_MEMORY_STACK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VM_KERN_MEMORY_PTE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119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109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107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110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内核总和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688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898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906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936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832</a:t>
            </a:r>
            <a:r>
              <a:rPr lang="zh-CN" altLang="en-US" dirty="0">
                <a:effectLst/>
              </a:rPr>
              <a:t> </a:t>
            </a:r>
            <a:endParaRPr lang="zh-CN" altLang="en-US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驱动占用子项</a:t>
            </a:r>
            <a:r>
              <a:rPr lang="zh-CN" altLang="en-US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Basic1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Basic5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com.apple.AGXG15P_A0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37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43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com.apple.driver.xxx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483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314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361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309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336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360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com.apple.iokit.xxx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80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86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74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79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82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altLang="zh-CN" sz="16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com.apple.iokit.IOSurface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63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52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55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45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</a:t>
            </a:r>
            <a:r>
              <a:rPr lang="en-GB" altLang="zh-CN" dirty="0">
                <a:effectLst/>
              </a:rPr>
              <a:t> </a:t>
            </a:r>
            <a:r>
              <a:rPr lang="en-GB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53</a:t>
            </a:r>
            <a:r>
              <a:rPr lang="en-GB" altLang="zh-CN" dirty="0">
                <a:effectLst/>
              </a:rPr>
              <a:t> </a:t>
            </a:r>
            <a:endParaRPr lang="en-GB" altLang="zh-CN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驱动总和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593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415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470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440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465</a:t>
            </a:r>
            <a:r>
              <a:rPr lang="zh-CN" altLang="en-US" dirty="0">
                <a:effectLst/>
              </a:rPr>
              <a:t> </a:t>
            </a:r>
            <a:endParaRPr lang="zh-CN" altLang="en-US" dirty="0">
              <a:effectLst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6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en-US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驱动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1281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1145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1368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1314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1376</a:t>
            </a:r>
            <a:r>
              <a:rPr lang="zh-CN" altLang="en-US" dirty="0">
                <a:effectLst/>
              </a:rPr>
              <a:t> </a:t>
            </a:r>
            <a:r>
              <a:rPr lang="en-US" altLang="zh-CN" sz="16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1297</a:t>
            </a:r>
            <a:r>
              <a:rPr lang="zh-CN" altLang="en-US" dirty="0">
                <a:effectLst/>
              </a:rPr>
              <a:t> </a:t>
            </a:r>
            <a:endParaRPr lang="zh-CN" altLang="en-US" dirty="0">
              <a:effectLst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其中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：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- VM_KERN_*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为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wired memory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页表中所有以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VM_KERN_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开头的字段之和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-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VM_KERN_COUNT_WIRED_残余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= total Y of X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中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X - Y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的值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com.apple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.*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仅统计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wired memory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页表中的项（maps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 </a:t>
            </a:r>
            <a:r>
              <a:rPr lang="en-US" altLang="zh-CN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页表不计入</a:t>
            </a:r>
            <a:r>
              <a:rPr lang="en-US" altLang="zh-CN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）</a:t>
            </a: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buClrTx/>
              <a:buSzTx/>
              <a:buFontTx/>
              <a:buChar char="-"/>
            </a:pPr>
            <a:endParaRPr lang="en-US" altLang="zh-CN" dirty="0">
              <a:solidFill>
                <a:srgbClr val="0F1115"/>
              </a:solidFill>
              <a:latin typeface="微软雅黑" charset="0"/>
              <a:ea typeface="微软雅黑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package" Target="../embeddings/Workbook1.xlsx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2.png"/><Relationship Id="rId1" Type="http://schemas.openxmlformats.org/officeDocument/2006/relationships/package" Target="../embeddings/Workbook2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总体对比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381000" y="565785"/>
          <a:ext cx="5252085" cy="4023360"/>
        </p:xfrm>
        <a:graphic>
          <a:graphicData uri="http://schemas.openxmlformats.org/drawingml/2006/table">
            <a:tbl>
              <a:tblPr/>
              <a:tblGrid>
                <a:gridCol w="988060"/>
                <a:gridCol w="3110865"/>
                <a:gridCol w="1153160"/>
              </a:tblGrid>
              <a:tr h="25082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iPhone 14 Pro Max(6G + 128) iOS16.1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VM_KERN_COUNT_WIRED_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残余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1" i="0" kern="1200" dirty="0">
                          <a:solidFill>
                            <a:srgbClr val="000000"/>
                          </a:solidFill>
                          <a:highlight>
                            <a:srgbClr val="C0C0C0"/>
                          </a:highlight>
                          <a:latin typeface="微软雅黑" charset="0"/>
                          <a:ea typeface="微软雅黑" charset="0"/>
                          <a:cs typeface="+mn-cs"/>
                        </a:rPr>
                        <a:t>209</a:t>
                      </a:r>
                      <a:endParaRPr lang="en-US" altLang="zh-CN" sz="1200" b="1" i="0" kern="1200" dirty="0">
                        <a:solidFill>
                          <a:srgbClr val="000000"/>
                        </a:solidFill>
                        <a:highlight>
                          <a:srgbClr val="C0C0C0"/>
                        </a:highlight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zones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277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Others (wired initial)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234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2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VM_KERN_MEMORY_PTE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110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832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5082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other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33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com.apple.AGXG15P_A0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43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com.apple.driver.xxx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360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com.apple.iokit.xxx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82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- com.apple.iokit.IOSurface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53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08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200" b="0" i="0" kern="120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+mn-cs"/>
                        </a:rPr>
                        <a:t>465</a:t>
                      </a:r>
                      <a:endParaRPr lang="en-US" altLang="zh-CN" sz="1200" b="0" i="0" kern="120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1184 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729730" y="574675"/>
          <a:ext cx="5161915" cy="5227200"/>
        </p:xfrm>
        <a:graphic>
          <a:graphicData uri="http://schemas.openxmlformats.org/drawingml/2006/table">
            <a:tbl>
              <a:tblPr/>
              <a:tblGrid>
                <a:gridCol w="937895"/>
                <a:gridCol w="3215640"/>
                <a:gridCol w="1008380"/>
              </a:tblGrid>
              <a:tr h="2376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CHZ(8G + 256) B138SP18_6.0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37600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内核服务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235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SUnreclaim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274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KObject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DireAllocate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anon_swap_meta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122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ActvStack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60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PageTables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197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内核总和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979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CHZ 6G + 128G </a:t>
                      </a:r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占用测算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51.5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GAP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95.5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37600"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驱动占用</a:t>
                      </a:r>
                      <a:b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</a:b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驱动占用子项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动态模型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CmaUsed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49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KDrvUsed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0 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UdrvUsed - IonTotalUsed - GpuTotalUsed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330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LDKSlabUnreclaimable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101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- VmemmapRsvTotal</a:t>
                      </a:r>
                      <a:endParaRPr lang="en-US" altLang="zh-CN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-122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</a:rPr>
                        <a:t>驱动总和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358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6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200">
                          <a:solidFill>
                            <a:srgbClr val="0F1115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GAP</a:t>
                      </a:r>
                      <a:endParaRPr lang="zh-CN" altLang="en-US" sz="1200" b="0" i="0">
                        <a:solidFill>
                          <a:srgbClr val="0F1115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-107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2F4F2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总和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+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驱动（不含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ION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GPU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1337</a:t>
                      </a:r>
                      <a:endParaRPr lang="en-US" altLang="zh-CN" sz="1200" b="0" i="0" dirty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3CA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346075" y="4622800"/>
            <a:ext cx="5311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仅具备 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</a:t>
            </a:r>
            <a:r>
              <a:rPr lang="en-US" altLang="zh-CN" sz="1000" dirty="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Pro Max 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6G+</a:t>
            </a:r>
            <a:r>
              <a:rPr lang="en-US" altLang="zh-CN" sz="1000" dirty="0">
                <a:solidFill>
                  <a:srgbClr val="000000"/>
                </a:solidFill>
                <a:latin typeface="微软雅黑" charset="0"/>
                <a:ea typeface="微软雅黑" charset="0"/>
                <a:sym typeface="+mn-ea"/>
              </a:rPr>
              <a:t>128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 </a:t>
            </a:r>
            <a:r>
              <a:rPr lang="zh-CN" altLang="en-US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可越狱，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</a:t>
            </a:r>
            <a:r>
              <a:rPr lang="zh-CN" altLang="en-US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版本为 </a:t>
            </a:r>
            <a:r>
              <a:rPr lang="en-US" altLang="zh-CN" sz="1000" b="0" i="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iOS 16.1。</a:t>
            </a:r>
            <a:endParaRPr lang="en-US" sz="1000" b="0" i="0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29730" y="5874385"/>
            <a:ext cx="5004435" cy="860425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驱动统计不包含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Ion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、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GPU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CHZ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256G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128G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，元数据增加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156K / 1G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(256-128) G = 19.5M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；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存储管理开销跟随纪要。</a:t>
            </a:r>
            <a:endParaRPr lang="en-US" altLang="zh-CN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</a:pP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iPhone 14 Pro Max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6G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相比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CHZ 8G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，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VMEMMAP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管理开销更小：按每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4K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内存页对应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 Byte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结构体折算，管理开销减少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64B/4KB 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内存</a:t>
            </a:r>
            <a:r>
              <a:rPr lang="en-US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×</a:t>
            </a:r>
            <a:r>
              <a:rPr lang="en-US" altLang="zh-CN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(8-6)G=32M</a:t>
            </a:r>
            <a:r>
              <a:rPr lang="zh-CN" altLang="en-US" sz="100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  <a:endParaRPr lang="zh-CN" altLang="en-US" sz="100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46075" y="5605780"/>
            <a:ext cx="534606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45758" y="5686742"/>
            <a:ext cx="5080000" cy="70675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zh-CN" altLang="en-US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单框架</a:t>
            </a:r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驱动内存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CMA内存 + UDK驱动内存占用 + LDK驱动内存占用 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= CmaUsed + KDrvUsed + (UdrvUsed - IonTotalUsed - GpuTotalUsed)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/>
            <a:r>
              <a:rPr lang="en-US" altLang="zh-CN" sz="1000" b="0" i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+ LDKSlabUnreclaimable - VmemmapRsvTotal</a:t>
            </a:r>
            <a:endParaRPr lang="en-US" altLang="zh-CN" sz="1000" b="0" i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6075" y="4828540"/>
            <a:ext cx="63836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000" b="1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公式</a:t>
            </a:r>
            <a:r>
              <a:rPr lang="en-US" altLang="zh-CN" sz="1000" b="1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：</a:t>
            </a:r>
            <a:endParaRPr lang="en-US" altLang="zh-CN" sz="1000" b="1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内核占用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= (wired memory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中的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所有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VM_KERN_* + zones) - VM_KERN_COUNT_BOOT_STOLEN +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VM_KERN_COUNT_WIRED_残余</a:t>
            </a:r>
            <a:endParaRPr lang="en-US" altLang="zh-CN" sz="1000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驱动占用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= (wired memory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中的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com.apple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.*) -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com.apple.iokit.IOSurface</a:t>
            </a:r>
            <a:r>
              <a:rPr lang="en-US" altLang="zh-CN" sz="1000" dirty="0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 - </a:t>
            </a:r>
            <a:r>
              <a:rPr lang="en-US" altLang="zh-CN" sz="1000" dirty="0" err="1">
                <a:solidFill>
                  <a:srgbClr val="0F1115"/>
                </a:solidFill>
                <a:latin typeface="微软雅黑" charset="0"/>
                <a:ea typeface="微软雅黑" charset="0"/>
                <a:cs typeface="微软雅黑" charset="0"/>
              </a:rPr>
              <a:t>com.apple.filesystems.apfs</a:t>
            </a:r>
            <a:endParaRPr lang="en-US" altLang="zh-CN" sz="1000" dirty="0">
              <a:solidFill>
                <a:srgbClr val="0F1115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4161790" y="104775"/>
          <a:ext cx="4140200" cy="3600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612140"/>
                <a:gridCol w="611860"/>
                <a:gridCol w="612000"/>
                <a:gridCol w="612000"/>
                <a:gridCol w="612000"/>
              </a:tblGrid>
              <a:tr h="180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Basic1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Basic2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Basic3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Basic4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Basic5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</a:tr>
              <a:tr h="180000"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82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178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261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261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Times New Roman" panose="02020503050405090304" charset="0"/>
                          <a:ea typeface="等线"/>
                          <a:cs typeface="Times New Roman" panose="02020503050405090304" charset="0"/>
                        </a:rPr>
                        <a:t>261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Times New Roman" panose="02020503050405090304" charset="0"/>
                        <a:ea typeface="等线"/>
                        <a:cs typeface="Times New Roman" panose="02020503050405090304" charset="0"/>
                      </a:endParaRPr>
                    </a:p>
                  </a:txBody>
                  <a:tcPr marL="13017" marR="13017" marT="13017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</a:lnB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cxnSp>
        <p:nvCxnSpPr>
          <p:cNvPr id="14" name="肘形连接符 13"/>
          <p:cNvCxnSpPr/>
          <p:nvPr/>
        </p:nvCxnSpPr>
        <p:spPr>
          <a:xfrm rot="16200000">
            <a:off x="5085715" y="588645"/>
            <a:ext cx="729615" cy="481965"/>
          </a:xfrm>
          <a:prstGeom prst="bentConnector3">
            <a:avLst>
              <a:gd name="adj1" fmla="val 1218"/>
            </a:avLst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内存池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大小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8098155" y="4127500"/>
            <a:ext cx="1966595" cy="261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000" b="1" dirty="0">
                <a:latin typeface="微软雅黑" charset="0"/>
                <a:ea typeface="微软雅黑" charset="0"/>
                <a:cs typeface="微软雅黑" charset="0"/>
              </a:rPr>
              <a:t>iOS</a:t>
            </a:r>
            <a:r>
              <a:rPr lang="zh-CN" altLang="en-US" sz="1000" b="1" dirty="0">
                <a:latin typeface="微软雅黑" charset="0"/>
                <a:ea typeface="微软雅黑" charset="0"/>
                <a:cs typeface="微软雅黑" charset="0"/>
              </a:rPr>
              <a:t>内存压缩比</a:t>
            </a:r>
            <a:r>
              <a:rPr lang="en-US" altLang="zh-CN" sz="1000" b="1" dirty="0">
                <a:latin typeface="微软雅黑" charset="0"/>
                <a:ea typeface="微软雅黑" charset="0"/>
                <a:cs typeface="微软雅黑" charset="0"/>
              </a:rPr>
              <a:t>（</a:t>
            </a:r>
            <a:r>
              <a:rPr lang="zh-CN" altLang="en-US" sz="1000" b="1" dirty="0">
                <a:latin typeface="微软雅黑" charset="0"/>
                <a:ea typeface="微软雅黑" charset="0"/>
                <a:cs typeface="微软雅黑" charset="0"/>
              </a:rPr>
              <a:t>均值为</a:t>
            </a:r>
            <a:r>
              <a:rPr lang="en-US" altLang="zh-CN" sz="1000" b="1" dirty="0">
                <a:latin typeface="微软雅黑" charset="0"/>
                <a:ea typeface="微软雅黑" charset="0"/>
                <a:cs typeface="微软雅黑" charset="0"/>
              </a:rPr>
              <a:t>3.02）</a:t>
            </a:r>
            <a:endParaRPr lang="en-US" altLang="zh-CN" sz="1000" b="1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640830" y="5428615"/>
            <a:ext cx="48812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内存压缩比</a:t>
            </a:r>
            <a:r>
              <a:rPr lang="en-US" altLang="zh-CN" sz="1000" b="1">
                <a:latin typeface="微软雅黑" charset="0"/>
                <a:ea typeface="微软雅黑" charset="0"/>
                <a:cs typeface="微软雅黑" charset="0"/>
                <a:sym typeface="+mn-ea"/>
              </a:rPr>
              <a:t> = 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Pages stored in compressor / Pages occupied by compressor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6097905" y="4420870"/>
          <a:ext cx="5967095" cy="901700"/>
        </p:xfrm>
        <a:graphic>
          <a:graphicData uri="http://schemas.openxmlformats.org/drawingml/2006/table">
            <a:tbl>
              <a:tblPr/>
              <a:tblGrid>
                <a:gridCol w="1445895"/>
                <a:gridCol w="904240"/>
                <a:gridCol w="904240"/>
                <a:gridCol w="904240"/>
                <a:gridCol w="904240"/>
                <a:gridCol w="904240"/>
              </a:tblGrid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(MB)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Basic1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Basic3</a:t>
                      </a:r>
                      <a:endParaRPr lang="en-US" altLang="zh-CN" sz="1100" b="0" i="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Basic5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压缩前均值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/Stored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371264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374844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419129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335071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274505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压缩后均值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/Occupied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112154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117332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124224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119810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113400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Times New Roman Regular" panose="02020503050405090304"/>
                        </a:rPr>
                        <a:t>压缩比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Times New Roman Regular" panose="02020503050405090304"/>
                        <a:ea typeface="Times New Roman Regular" panose="02020503050405090304"/>
                      </a:endParaRPr>
                    </a:p>
                  </a:txBody>
                  <a:tcPr marL="13017" marR="13017" marT="13017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3.31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3.19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3.37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2.80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buNone/>
                      </a:pPr>
                      <a:r>
                        <a:rPr lang="en-US" altLang="zh-CN" sz="1100" b="0" i="0" kern="1200" dirty="0">
                          <a:solidFill>
                            <a:srgbClr val="000000"/>
                          </a:solidFill>
                          <a:latin typeface="Times New Roman Regular" panose="02020503050405090304"/>
                          <a:ea typeface="宋体" pitchFamily="2" charset="-122"/>
                          <a:cs typeface="+mn-cs"/>
                        </a:rPr>
                        <a:t>2.42 </a:t>
                      </a:r>
                      <a:endParaRPr lang="en-US" altLang="zh-CN" sz="1100" b="0" i="0" kern="1200" dirty="0">
                        <a:solidFill>
                          <a:srgbClr val="000000"/>
                        </a:solidFill>
                        <a:latin typeface="Times New Roman Regular" panose="02020503050405090304"/>
                        <a:ea typeface="宋体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D1D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1D1D1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711200"/>
            <a:ext cx="5855632" cy="288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905" y="702310"/>
            <a:ext cx="5882005" cy="28848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" y="3769995"/>
            <a:ext cx="5854700" cy="28797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6097905" y="3590925"/>
            <a:ext cx="292100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后台应用为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：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后台负载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+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后台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三方应用</a:t>
            </a:r>
            <a:endParaRPr lang="zh-CN" altLang="en-US" sz="9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7905" y="6419850"/>
            <a:ext cx="4326890" cy="2298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数值为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Basic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中每一个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Step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中前台应用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、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后台应用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、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系统服务的均值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。（0420</a:t>
            </a:r>
            <a:r>
              <a:rPr lang="zh-CN" altLang="en-US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数据</a:t>
            </a:r>
            <a:r>
              <a:rPr lang="en-US" altLang="zh-CN" sz="9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）</a:t>
            </a:r>
            <a:endParaRPr lang="en-US" altLang="zh-CN" sz="9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785"/>
            <a:ext cx="9721850" cy="723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340"/>
            <a:ext cx="12196445" cy="1188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53467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日志格式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（XNU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54940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20:50:39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7710"/>
            <a:ext cx="5069205" cy="20453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0" y="3019425"/>
            <a:ext cx="46272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20:50:39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180" y="3490595"/>
            <a:ext cx="7034530" cy="15995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23180" y="2992120"/>
            <a:ext cx="30219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基本上全部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Swapped：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000" y="544957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Swapped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Memory Catagory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见下一页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前台应用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0" y="559435"/>
            <a:ext cx="1104265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以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WeChat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为例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未被压缩的有内存寻址 (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page tables)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: 1.4MB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、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图形硬件加速 (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IOAccelerator):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48KB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和 硬件设备驱动 (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IOKit)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: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32K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29790"/>
            <a:ext cx="14963775" cy="7346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" y="1210945"/>
            <a:ext cx="14929485" cy="64516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0" y="934720"/>
            <a:ext cx="5080000" cy="28257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Footprint61：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0" y="1847215"/>
            <a:ext cx="5080000" cy="282575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Footprint62：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7449185" y="3300730"/>
          <a:ext cx="4432935" cy="22472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77620"/>
                <a:gridCol w="1131570"/>
                <a:gridCol w="1052830"/>
                <a:gridCol w="970915"/>
              </a:tblGrid>
              <a:tr h="225425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 Regular" panose="02020503050405090304" charset="0"/>
                        </a:rPr>
                        <a:t>proc_name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 Regular" panose="02020503050405090304" charset="0"/>
                        </a:rPr>
                        <a:t>Swapped(MB)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 Regular" panose="02020503050405090304" charset="0"/>
                        </a:rPr>
                        <a:t>实际占用(MB)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1">
                          <a:solidFill>
                            <a:schemeClr val="tx1"/>
                          </a:solidFill>
                          <a:latin typeface="Times New Roman Regular" panose="02020503050405090304" charset="0"/>
                        </a:rPr>
                        <a:t>压缩率</a:t>
                      </a:r>
                      <a:endParaRPr lang="zh-CN" altLang="en-US" sz="1000" b="1">
                        <a:solidFill>
                          <a:schemeClr val="tx1"/>
                        </a:solidFill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02565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微信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663.35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649.76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51%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256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QQ</a:t>
                      </a: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音乐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184.97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227.18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45%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高德地图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307.26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377.57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45%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2565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番茄小说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169.05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302.44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36%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和平精英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172.66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329.21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34%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百度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149.43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319.27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32%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QQ</a:t>
                      </a: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浏览器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101.76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221.94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31%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2565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腾讯视频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310.02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748.73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29%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去哪儿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199.47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523.66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28%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02565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抖音</a:t>
                      </a:r>
                      <a:endParaRPr lang="zh-CN" altLang="en-US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276.93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735.58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27%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8205153" y="5634355"/>
            <a:ext cx="2921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 b="1"/>
              <a:t>动态模型场景下前台应用压缩率</a:t>
            </a:r>
            <a:r>
              <a:rPr lang="en-US" altLang="zh-CN" sz="1200" b="1"/>
              <a:t>Top10</a:t>
            </a:r>
            <a:endParaRPr lang="en-US" altLang="zh-CN" sz="12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" y="2985770"/>
            <a:ext cx="6958965" cy="328803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内存压缩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系统应用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49225" y="3818255"/>
            <a:ext cx="5636895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优先级高、高频交互的系统服务（如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 SpringBoard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、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mediaserverd、backboardd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），享受低压缩率，确保系统丝滑。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低频后台、处于休眠的服务，面临极高压缩率，被释放空间。动态模型中系统服务的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Swapped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内存大小为时长平均值。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6028372" y="796925"/>
          <a:ext cx="5986780" cy="2339975"/>
        </p:xfrm>
        <a:graphic>
          <a:graphicData uri="http://schemas.openxmlformats.org/drawingml/2006/table">
            <a:tbl>
              <a:tblPr/>
              <a:tblGrid>
                <a:gridCol w="2336165"/>
                <a:gridCol w="1273175"/>
                <a:gridCol w="1250950"/>
                <a:gridCol w="1126490"/>
              </a:tblGrid>
              <a:tr h="21336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proc_name</a:t>
                      </a:r>
                      <a:endParaRPr lang="zh-CN" altLang="en-US" sz="900" b="1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平均:Swapped(MB)</a:t>
                      </a:r>
                      <a:endParaRPr lang="zh-CN" altLang="en-US" sz="900" b="1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平均:实际占用</a:t>
                      </a:r>
                      <a:r>
                        <a:rPr lang="en-US" altLang="zh-CN" sz="900" b="1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(MB)</a:t>
                      </a:r>
                      <a:endParaRPr lang="en-US" altLang="zh-CN" sz="900" b="1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900" b="1" i="0">
                          <a:latin typeface="Times New Roman Regular" panose="02020503050405090304" charset="0"/>
                        </a:rPr>
                        <a:t>压缩率</a:t>
                      </a:r>
                      <a:endParaRPr lang="zh-CN" altLang="en-US" sz="900" b="1" i="0">
                        <a:latin typeface="Times New Roman Regular" panose="02020503050405090304" charset="0"/>
                      </a:endParaRPr>
                    </a:p>
                  </a:txBody>
                  <a:tcPr marL="13017" marR="13017" marT="1301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diskimagesiod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11.13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0.81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93%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StoreKitUIService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19.22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2.59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com.apple.mobilenotes.WidgetExtension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9.22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1.26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88%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knowledgeconstructiond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9.73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1.44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87%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PhotosReliveWidget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8.02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1.21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87%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PosterBoard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17.15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2.82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86%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iMessageAppsViewService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8.80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1.84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83%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Spotlight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18.71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4.01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82%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ReadingWidgetExtension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7.38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1.60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82%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SafariViewService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11.64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2.53 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00" b="0" i="0">
                          <a:latin typeface="Times New Roman Regular" panose="02020503050405090304" charset="0"/>
                          <a:cs typeface="Times New Roman Regular" panose="02020503050405090304" charset="0"/>
                        </a:rPr>
                        <a:t>82%</a:t>
                      </a:r>
                      <a:endParaRPr lang="en-US" altLang="zh-CN" sz="1000" b="0" i="0">
                        <a:latin typeface="Times New Roman Regular" panose="02020503050405090304" charset="0"/>
                        <a:cs typeface="Times New Roman Regular" panose="02020503050405090304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8441055" y="3221990"/>
            <a:ext cx="196278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000" b="1"/>
              <a:t>动态模型场景下系统服务</a:t>
            </a:r>
            <a:r>
              <a:rPr lang="en-US" altLang="zh-CN" sz="1000" b="1"/>
              <a:t>Top10</a:t>
            </a:r>
            <a:endParaRPr lang="en-US" altLang="zh-CN" sz="1000" b="1"/>
          </a:p>
        </p:txBody>
      </p:sp>
      <p:sp>
        <p:nvSpPr>
          <p:cNvPr id="12" name="文本框 11"/>
          <p:cNvSpPr txBox="1"/>
          <p:nvPr/>
        </p:nvSpPr>
        <p:spPr>
          <a:xfrm>
            <a:off x="6028055" y="3552825"/>
            <a:ext cx="6077585" cy="239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diskimagesiod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磁盘映像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I/O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守护进程。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StoreKitUIService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App Store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交互界面服务。</a:t>
            </a: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StoreKit 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是苹果处理应用内购买和订阅的框架。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com.apple.mobilenotes.WidgetExtension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“备忘录”小组件扩展。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>
                <a:latin typeface="Times New Roman Regular" panose="02020503050405090304" charset="0"/>
                <a:cs typeface="Times New Roman Regular" panose="02020503050405090304" charset="0"/>
              </a:rPr>
              <a:t>knowledgeconstructiond：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知识构建守护进程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PhotosReliveWidget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照片“回忆”小组件服务。</a:t>
            </a:r>
            <a:endParaRPr lang="en-US" altLang="zh-CN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en-US" altLang="zh-CN" sz="1000" b="1">
                <a:latin typeface="Times New Roman Regular" panose="02020503050405090304" charset="0"/>
                <a:cs typeface="Times New Roman Regular" panose="02020503050405090304" charset="0"/>
              </a:rPr>
              <a:t>PosterBoard</a:t>
            </a: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</a:rPr>
              <a:t>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</a:rPr>
              <a:t> 锁屏与壁纸管理器。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iMessageAppsViewService：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iMessage 应用程序视图服务。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Spotlight：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聚焦搜索。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ReadingWidgetExtension：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“图书 (Books)”小组件扩展。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/>
              <a:buNone/>
            </a:pPr>
            <a:r>
              <a:rPr lang="zh-CN" altLang="en-US" sz="10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SafariViewService：</a:t>
            </a:r>
            <a:r>
              <a:rPr lang="zh-CN" altLang="en-US" sz="10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Safari 视图服务。</a:t>
            </a:r>
            <a:endParaRPr lang="zh-CN" altLang="en-US" sz="1000">
              <a:latin typeface="Times New Roman Regular" panose="02020503050405090304" charset="0"/>
              <a:cs typeface="Times New Roman Regular" panose="0202050305040509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" y="796925"/>
            <a:ext cx="5635625" cy="287718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微信拍照模式竞分数据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981700" y="2827020"/>
            <a:ext cx="6214745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预览阶段（日常取景）：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1424.56MB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1766.12MB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在基础预览时的系统开销比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24%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buFont typeface="Arial" panose="020B0604020202090204"/>
              <a:buChar char="•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拍照阶段（瞬间捕获）：</a:t>
            </a:r>
            <a:endParaRPr lang="zh-CN" altLang="en-US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 17 Pro Max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1618.10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平均开销：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1868.09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endParaRPr lang="en-US" altLang="zh-CN" sz="1200" b="1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lvl="1">
              <a:lnSpc>
                <a:spcPct val="150000"/>
              </a:lnSpc>
              <a:buFont typeface="Arial" panose="020B0604020202090204"/>
              <a:buChar char="◦"/>
            </a:pPr>
            <a:r>
              <a:rPr lang="zh-CN" altLang="en-US" sz="1200" b="1">
                <a:latin typeface="Times New Roman Regular" panose="02020503050405090304" charset="0"/>
                <a:cs typeface="Times New Roman Regular" panose="02020503050405090304" charset="0"/>
              </a:rPr>
              <a:t>结论：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MLN-AL00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在执行拍照动作时，底层系统的开销依然比 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200">
                <a:latin typeface="Times New Roman Regular" panose="02020503050405090304" charset="0"/>
                <a:cs typeface="Times New Roman Regular" panose="02020503050405090304" charset="0"/>
              </a:rPr>
              <a:t>高出约 </a:t>
            </a:r>
            <a:r>
              <a:rPr lang="en-US" altLang="zh-CN" sz="1200" b="1">
                <a:latin typeface="Times New Roman Regular" panose="02020503050405090304" charset="0"/>
                <a:cs typeface="Times New Roman Regular" panose="02020503050405090304" charset="0"/>
              </a:rPr>
              <a:t>15.4%</a:t>
            </a:r>
            <a:r>
              <a:rPr lang="zh-CN" altLang="en-US" sz="90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altLang="en-US" sz="9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82017" y="5467668"/>
            <a:ext cx="5080000" cy="6451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iPhone 17 Pro Max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开销增加了约 193.5MB（涨幅 13.6%）。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从预览到拍照，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MLN-AL00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开销仅增加了约 102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MB</a:t>
            </a:r>
            <a:r>
              <a:rPr lang="en-US" altLang="zh-CN" sz="1200">
                <a:latin typeface="Times New Roman Regular" panose="02020503050405090304" charset="0"/>
                <a:cs typeface="Times New Roman Regular" panose="02020503050405090304" charset="0"/>
              </a:rPr>
              <a:t>（涨幅 5.8%）。</a:t>
            </a:r>
            <a:endParaRPr lang="en-US" altLang="zh-CN" sz="120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85" y="2986405"/>
            <a:ext cx="4154170" cy="31261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文本框 17"/>
          <p:cNvSpPr txBox="1"/>
          <p:nvPr/>
        </p:nvSpPr>
        <p:spPr>
          <a:xfrm>
            <a:off x="57785" y="2734310"/>
            <a:ext cx="52241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https://developer.apple.com/documentation/avfoundation/avcapturephotooutput/qualityprioritization</a:t>
            </a:r>
            <a:endParaRPr lang="zh-CN" altLang="en-US" sz="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608330"/>
            <a:ext cx="5829101" cy="20880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608330"/>
            <a:ext cx="5892479" cy="2088000"/>
          </a:xfrm>
          <a:prstGeom prst="rect">
            <a:avLst/>
          </a:prstGeom>
        </p:spPr>
      </p:pic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495800" y="4597400"/>
          <a:ext cx="1440000" cy="14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4" imgW="1524000" imgH="1524000" progId="Excel.Sheet.12">
                  <p:embed/>
                </p:oleObj>
              </mc:Choice>
              <mc:Fallback>
                <p:oleObj name="" showAsIcon="1" r:id="rId4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95800" y="4597400"/>
                        <a:ext cx="1440000" cy="14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7785" y="6150610"/>
            <a:ext cx="522414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内存从小到大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：speed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→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</a:rPr>
              <a:t> balanced</a:t>
            </a:r>
            <a:r>
              <a:rPr lang="en-US" altLang="zh-CN" sz="8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→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quality ；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当前微信仅为能适配新版本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iOS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和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新版本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We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Chat</a:t>
            </a:r>
            <a:r>
              <a:rPr lang="zh-CN" altLang="en-US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的手机开放</a:t>
            </a:r>
            <a:r>
              <a:rPr lang="en-US" altLang="zh-CN" sz="800" dirty="0">
                <a:latin typeface="Arial" panose="020B0604020202090204" pitchFamily="34" charset="0"/>
                <a:ea typeface="微软雅黑" panose="020B0503020204020204" pitchFamily="34" charset="-122"/>
                <a:cs typeface="Arial" panose="020B0604020202090204" pitchFamily="34" charset="0"/>
                <a:sym typeface="+mn-ea"/>
              </a:rPr>
              <a:t>。</a:t>
            </a:r>
            <a:endParaRPr lang="en-US" altLang="zh-CN" sz="800" dirty="0">
              <a:latin typeface="Arial" panose="020B0604020202090204" pitchFamily="34" charset="0"/>
              <a:ea typeface="微软雅黑" panose="020B0503020204020204" pitchFamily="3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系统相机和三方相机内存占用竞分数据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83820" y="4503420"/>
            <a:ext cx="10073005" cy="216852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1. 原生应用：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原生相机中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，iPhone  14PM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  <a:sym typeface="+mn-ea"/>
              </a:rPr>
              <a:t>（31M）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采用极致轻量化策略，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360M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）存在十倍以上的内存开销差距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在原生拍摄场景中，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(Camera)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仅作为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UI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空壳，内存占用极低且稳定，绝大多数场景仅需 20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- 46MB（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例如 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K30fps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录像仅为 24.5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相比之下，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的原生相机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 (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com.huawei.camera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)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承载了较多业务逻辑，内存占用普遍在 300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- 540MB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区间（例如延时摄影高达 541.4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</a:t>
            </a:r>
            <a:r>
              <a:rPr 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。</a:t>
            </a:r>
            <a:endParaRPr 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2. 框架服务：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双方架构设计思路高度一致，均保持极低的调度开销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camera_service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稳定在 18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- 22MB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左右，而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appleh13camerad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也仅为 21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- 37MB。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000" b="1" dirty="0">
                <a:latin typeface="Times New Roman Regular" panose="02020503050405090304" charset="0"/>
                <a:cs typeface="Times New Roman Regular" panose="02020503050405090304" charset="0"/>
              </a:rPr>
              <a:t>3. 系统服务：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原生场景下均为消耗主力，但在三方应用接入时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的降级释放策略更激进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系统底层的图像处理进程是双方的内存消耗大头（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CameraDaemon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与 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 </a:t>
            </a:r>
            <a:r>
              <a:rPr lang="en-US" altLang="zh-CN" sz="1000" dirty="0" err="1">
                <a:latin typeface="Times New Roman Regular" panose="02020503050405090304" charset="0"/>
                <a:cs typeface="Times New Roman Regular" panose="02020503050405090304" charset="0"/>
              </a:rPr>
              <a:t>mediaserverd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在原生场景均可达 1000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- 1600MB+）。</a:t>
            </a:r>
            <a:endParaRPr lang="en-US" altLang="zh-CN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在面临三方应用（如微信、支付宝）调用时策略出现显著分化：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iPhone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的系统服务内存会下降至 230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- 390MB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左右（如微信拍照降至 253.94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为三方应用让出空间；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71450" indent="-1714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Char char="•"/>
            </a:pP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CHZ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底层服务在三方调用时依然维持在 600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 - 1200MB+ 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的高水位（如微信拍照高达 1186.1</a:t>
            </a:r>
            <a:r>
              <a:rPr lang="en-US" altLang="zh-CN" sz="1000" dirty="0">
                <a:latin typeface="Times New Roman Regular" panose="02020503050405090304" charset="0"/>
                <a:cs typeface="Times New Roman Regular" panose="02020503050405090304" charset="0"/>
              </a:rPr>
              <a:t>MB），</a:t>
            </a:r>
            <a:r>
              <a:rPr lang="zh-CN" altLang="en-US" sz="1000" dirty="0">
                <a:latin typeface="Times New Roman Regular" panose="02020503050405090304" charset="0"/>
                <a:cs typeface="Times New Roman Regular" panose="02020503050405090304" charset="0"/>
              </a:rPr>
              <a:t>缺乏针对三方场景的重度内存收缩策略。</a:t>
            </a:r>
            <a:endParaRPr lang="zh-CN" altLang="en-US" sz="10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84137" y="597725"/>
          <a:ext cx="18244185" cy="6491605"/>
        </p:xfrm>
        <a:graphic>
          <a:graphicData uri="http://schemas.openxmlformats.org/drawingml/2006/table">
            <a:tbl>
              <a:tblPr/>
              <a:tblGrid>
                <a:gridCol w="611505"/>
                <a:gridCol w="962660"/>
                <a:gridCol w="467360"/>
                <a:gridCol w="834390"/>
                <a:gridCol w="738505"/>
                <a:gridCol w="772160"/>
                <a:gridCol w="666115"/>
                <a:gridCol w="666115"/>
                <a:gridCol w="751205"/>
                <a:gridCol w="751205"/>
                <a:gridCol w="751205"/>
                <a:gridCol w="750570"/>
                <a:gridCol w="751205"/>
                <a:gridCol w="751205"/>
                <a:gridCol w="751205"/>
              </a:tblGrid>
              <a:tr h="134620"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 gridSpan="6"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单框架 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CHZ-AL00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206.0.0.138(SP20C00E138R2P1) 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三方：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206.0.0.100(SP15C00E100R2P1)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iPhone 14 Pro Max iOS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：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16.1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用例名称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场景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测试峰值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com.huawei.camera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camera_service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CameraDaemon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hiaiserver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快照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测试峰值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Camera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appleh13camerad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mediaserverd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三方应用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ISP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驱动</a:t>
                      </a:r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+</a:t>
                      </a:r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宋体-简" panose="02010800040101010101" charset="-122"/>
                          <a:ea typeface="宋体-简" panose="02010800040101010101" charset="-122"/>
                        </a:rPr>
                        <a:t>内核增量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宋体-简" panose="02010800040101010101" charset="-122"/>
                        <a:ea typeface="宋体-简" panose="02010800040101010101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4K30Video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4K30fps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1752.62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385.64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1206.19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58.14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82.61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1295.08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1249.28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486.13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613.77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CodeStart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相机冷启动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1334.14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193.85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965.47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739.27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23.6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694.47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472.38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316.72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FHD30Video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1080p30fps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1583.67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377.52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1044.72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57.91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869.29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490.23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FHD60Video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1080p60fps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后置录像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1566.37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404.02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992.23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67.24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801.04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22.94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756.97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533.52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256.37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HotStart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相机热启动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1636.1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485.91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20.69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980.22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67.51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830.99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769.66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211.58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1615.49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330.57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1091.62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87.87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86.12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1411.92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24.78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1361.92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648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1643.63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335.19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20.78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1118.79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1412.5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25.81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1361.92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710.25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PreCamera5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1627.5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348.42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1089.7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87.29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1422.52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24.44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1372.16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618.2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741.08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1690.82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334.93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1154.23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96.99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85.76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1588.93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46.66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1505.28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1303.22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1721.01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348.12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1173.32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1596.88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1515.52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891.14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PrePortrait5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1754.86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350.53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1205.05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81.42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1525.76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773.83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1430.34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1797.1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1318.36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75.47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1691.04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36.49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941.95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1821.3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337.59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1313.32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70.18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79.98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522.77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RearCamera5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后置拍照（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1854.67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329.07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19.95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1357.64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1617.85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1566.72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447.59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925.25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RearPortrait1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1654.3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376.05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18.56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1094.31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86.03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1668.03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34.72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1607.68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434.55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1037.47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RearPortrait3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1684.21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368.05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1136.21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79.29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1668.51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1607.68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708.4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RearPortrait5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后置人像（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秒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张）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1664.64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344.82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1139.75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79.14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80.63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1687.84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24.58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1628.16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437.38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1164.85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TimeLapse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延时摄影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1734.43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541.4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1019.66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1090.39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30.74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1034.24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490.84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566.58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Alipay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支付宝扫码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1091.38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365.23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19.38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647.3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59.47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693.2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233.36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434.53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505.09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170.89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MeiTuan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美团扫码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1068.03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360.82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18.99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611.5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76.71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694.71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376.75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292.46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421.89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97.97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TaoBaoPhoto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淘宝拍照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1656.3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343.11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22.2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1231.74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59.25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892.97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25.58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524.39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562.38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TaoBaoScan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淘宝扫一扫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1035.7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343.22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611.28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727.79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295.35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407.02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412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TaoBaoVideo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淘宝录像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1114.17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342.92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21.56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699.02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50.66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787.71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396.22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366.19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422.92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273.13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WeChatPhoto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微信拍照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1613.52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21.77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1186.1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60.46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673.38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25.34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253.94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394.1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355.28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398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WeChatScan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微信扫码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1058.67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345.17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21.73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631.36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60.41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823.88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25.44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271.39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527.05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184.19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40335">
                <a:tc>
                  <a:txBody>
                    <a:bodyPr/>
                    <a:p>
                      <a:pPr algn="ctr" fontAlgn="ctr"/>
                      <a:r>
                        <a:rPr lang="en-US" altLang="zh-CN" sz="600" b="1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 WeChatVideo</a:t>
                      </a:r>
                      <a:endParaRPr lang="en-US" altLang="zh-CN" sz="600" b="1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微信录像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1508.01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345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21.5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1081.53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59.98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Helvetica"/>
                        <a:ea typeface="Helvetic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837.75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25.42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361.31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451.02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494.91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Helvetica Neue" panose="02000503000000020004"/>
                          <a:ea typeface="Helvetica Neue" panose="02000503000000020004"/>
                        </a:rPr>
                        <a:t>206.31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Helvetica Neue" panose="02000503000000020004"/>
                        <a:ea typeface="Helvetica Neue" panose="02000503000000020004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0D0D0"/>
                    </a:solidFill>
                  </a:tcPr>
                </a:tc>
              </a:tr>
              <a:tr h="134620"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相机框架服务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原生相机应用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相机框架服务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系统服务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1" i="0">
                          <a:solidFill>
                            <a:srgbClr val="000000"/>
                          </a:solidFill>
                          <a:latin typeface="PingFang SC" panose="020B0400000000000000" charset="-122"/>
                          <a:ea typeface="PingFang SC" panose="020B0400000000000000" charset="-122"/>
                        </a:rPr>
                        <a:t>前台应用</a:t>
                      </a:r>
                      <a:endParaRPr lang="zh-CN" altLang="en-US"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1" i="0">
                        <a:solidFill>
                          <a:srgbClr val="000000"/>
                        </a:solidFill>
                        <a:latin typeface="PingFang SC" panose="020B0400000000000000" charset="-122"/>
                        <a:ea typeface="PingFang SC" panose="020B0400000000000000" charset="-122"/>
                      </a:endParaRPr>
                    </a:p>
                  </a:txBody>
                  <a:tcPr marL="13017" marR="13017" marT="1301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571990" y="4634865"/>
          <a:ext cx="1466215" cy="1466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1" imgW="1524000" imgH="1524000" progId="Excel.Sheet.12">
                  <p:embed/>
                </p:oleObj>
              </mc:Choice>
              <mc:Fallback>
                <p:oleObj name="" showAsIcon="1" r:id="rId1" imgW="1524000" imgH="15240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71990" y="4634865"/>
                        <a:ext cx="1466215" cy="1466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413*295"/>
  <p:tag name="TABLE_ENDDRAG_RECT" val="30*44*413*295"/>
</p:tagLst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7583</Words>
  <Application>WPS 表格</Application>
  <PresentationFormat>自定义</PresentationFormat>
  <Paragraphs>1355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汉仪旗黑</vt:lpstr>
      <vt:lpstr>微软雅黑</vt:lpstr>
      <vt:lpstr>Times New Roman</vt:lpstr>
      <vt:lpstr>等线</vt:lpstr>
      <vt:lpstr>Times New Roman Regular</vt:lpstr>
      <vt:lpstr>宋体-简</vt:lpstr>
      <vt:lpstr>华文宋体</vt:lpstr>
      <vt:lpstr>Times New Roman Regular</vt:lpstr>
      <vt:lpstr>Arial</vt:lpstr>
      <vt:lpstr>PingFang SC</vt:lpstr>
      <vt:lpstr>Helvetica Neue</vt:lpstr>
      <vt:lpstr>Helvetica</vt:lpstr>
      <vt:lpstr>Apple Color Emoji</vt:lpstr>
      <vt:lpstr>宋体</vt:lpstr>
      <vt:lpstr>Arial Unicode MS</vt:lpstr>
      <vt:lpstr>汉仪中等线KW</vt:lpstr>
      <vt:lpstr>Calibri</vt:lpstr>
      <vt:lpstr>Helvetica Neue</vt:lpstr>
      <vt:lpstr>汉仪书宋二KW</vt:lpstr>
      <vt:lpstr>黑体</vt:lpstr>
      <vt:lpstr>汉仪中黑KW</vt:lpstr>
      <vt:lpstr>Helvetica</vt:lpstr>
      <vt:lpstr>等线</vt:lpstr>
      <vt:lpstr>Calibri Light</vt:lpstr>
      <vt:lpstr>1_Title Slide</vt:lpstr>
      <vt:lpstr>Chart page</vt:lpstr>
      <vt:lpstr>4_Chart page</vt:lpstr>
      <vt:lpstr>End page</vt:lpstr>
      <vt:lpstr>1_Chart page</vt:lpstr>
      <vt:lpstr>Excel.Sheet.12</vt:lpstr>
      <vt:lpstr>Excel.Sheet.12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clover</cp:lastModifiedBy>
  <cp:revision>77</cp:revision>
  <dcterms:created xsi:type="dcterms:W3CDTF">2026-05-08T06:53:24Z</dcterms:created>
  <dcterms:modified xsi:type="dcterms:W3CDTF">2026-05-08T06:53:24Z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B57988CABF39DB651CE3EA698BBA19C5_43</vt:lpwstr>
  </property>
  <property fmtid="{D5CDD505-2E9C-101B-9397-08002B2CF9AE}" pid="10" name="KSOProductBuildVer">
    <vt:lpwstr>2052-12.1.25867.25867</vt:lpwstr>
  </property>
</Properties>
</file>