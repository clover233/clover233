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16"/>
  </p:handoutMasterIdLst>
  <p:sldIdLst>
    <p:sldId id="304" r:id="rId7"/>
    <p:sldId id="299" r:id="rId9"/>
    <p:sldId id="301" r:id="rId10"/>
    <p:sldId id="300" r:id="rId11"/>
    <p:sldId id="307" r:id="rId12"/>
    <p:sldId id="309" r:id="rId13"/>
    <p:sldId id="294" r:id="rId14"/>
    <p:sldId id="295" r:id="rId15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45" userDrawn="1">
          <p15:clr>
            <a:srgbClr val="A4A3A4"/>
          </p15:clr>
        </p15:guide>
        <p15:guide id="6" orient="horz" pos="2156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FFFFFF"/>
    <a:srgbClr val="151515"/>
    <a:srgbClr val="575756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6291"/>
  </p:normalViewPr>
  <p:slideViewPr>
    <p:cSldViewPr snapToGrid="0" snapToObjects="1" showGuides="1">
      <p:cViewPr varScale="1">
        <p:scale>
          <a:sx n="128" d="100"/>
          <a:sy n="128" d="100"/>
        </p:scale>
        <p:origin x="520" y="976"/>
      </p:cViewPr>
      <p:guideLst>
        <p:guide pos="3645"/>
        <p:guide orient="horz" pos="2156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CmaUsed			49 	</a:t>
            </a:r>
            <a:endParaRPr lang="en-US" altLang="zh-CN"/>
          </a:p>
          <a:p>
            <a:r>
              <a:rPr lang="en-US" altLang="zh-CN"/>
              <a:t>KDrvUsed			0 	(</a:t>
            </a:r>
            <a:r>
              <a:rPr lang="zh-CN" altLang="en-US"/>
              <a:t>维测开关</a:t>
            </a:r>
            <a:r>
              <a:rPr lang="zh-CN" altLang="en-US"/>
              <a:t>未打开</a:t>
            </a:r>
            <a:r>
              <a:rPr lang="en-US" altLang="zh-CN"/>
              <a:t>)	</a:t>
            </a:r>
            <a:endParaRPr lang="en-US" altLang="zh-CN"/>
          </a:p>
          <a:p>
            <a:r>
              <a:rPr lang="en-US" altLang="zh-CN"/>
              <a:t>UdrvUsed - IonTotalUsed - GpuTotalUsed	186</a:t>
            </a:r>
            <a:endParaRPr lang="en-US" altLang="zh-CN"/>
          </a:p>
          <a:p>
            <a:r>
              <a:rPr lang="zh-CN" altLang="en-US"/>
              <a:t>驱动总和</a:t>
            </a:r>
            <a:r>
              <a:rPr lang="en-US" altLang="zh-CN"/>
              <a:t>			235	</a:t>
            </a:r>
            <a:endParaRPr lang="en-US" altLang="zh-CN"/>
          </a:p>
          <a:p>
            <a:r>
              <a:rPr lang="en-US" altLang="zh-CN"/>
              <a:t>GAP			-260	</a:t>
            </a:r>
            <a:endParaRPr lang="en-US" altLang="zh-CN"/>
          </a:p>
          <a:p>
            <a:r>
              <a:rPr lang="zh-CN" altLang="en-US"/>
              <a:t>内核</a:t>
            </a:r>
            <a:r>
              <a:rPr lang="en-US" altLang="zh-CN"/>
              <a:t>+</a:t>
            </a:r>
            <a:r>
              <a:rPr lang="zh-CN" altLang="en-US"/>
              <a:t>驱动</a:t>
            </a:r>
            <a:r>
              <a:rPr lang="en-US" altLang="zh-CN"/>
              <a:t>			1214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81000" y="565785"/>
          <a:ext cx="5252085" cy="3762375"/>
        </p:xfrm>
        <a:graphic>
          <a:graphicData uri="http://schemas.openxmlformats.org/drawingml/2006/table">
            <a:tbl>
              <a:tblPr/>
              <a:tblGrid>
                <a:gridCol w="988060"/>
                <a:gridCol w="3110865"/>
                <a:gridCol w="1153160"/>
              </a:tblGrid>
              <a:tr h="250825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rowSpan="7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242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218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689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 rowSpan="6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353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617970" y="564515"/>
          <a:ext cx="5161915" cy="5544185"/>
        </p:xfrm>
        <a:graphic>
          <a:graphicData uri="http://schemas.openxmlformats.org/drawingml/2006/table">
            <a:tbl>
              <a:tblPr/>
              <a:tblGrid>
                <a:gridCol w="937895"/>
                <a:gridCol w="3215640"/>
                <a:gridCol w="1008380"/>
              </a:tblGrid>
              <a:tr h="237600">
                <a:tc gridSpan="3"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SP18_6.0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7600">
                <a:tc rowSpan="1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238.5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37600">
                <a:tc rowSpan="8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KDrvUsed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 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UdrvUsed - IonTotalUsed - 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LDKSlabUnreclaimable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- 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-122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GAP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-137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376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1337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81000" y="446024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53200" y="586422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不包含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482981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46392" y="5155882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单框架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驱动内存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CMA内存 + UDK驱动内存占用 + LDK驱动内存占用 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CmaUsed + KDrvUsed + (UdrvUsed - IonTotalUsed - GpuTotalUsed)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+ LDKSlabUnreclaimable - VmemmapRsvTotal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874000" y="3786505"/>
            <a:ext cx="196659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iOS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</a:rPr>
              <a:t>均值为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3.1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</a:rPr>
              <a:t>7）</a:t>
            </a:r>
            <a:endParaRPr lang="en-US" altLang="zh-CN" sz="1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07440" y="5837555"/>
            <a:ext cx="4185920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三方应用推入后台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基本上全压缩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；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前台应用压缩率较后台三方应用低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13270" y="3225165"/>
            <a:ext cx="3488055" cy="24511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系统服务压缩率较低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但不同系统服务压缩率各不相同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16675" y="5087620"/>
            <a:ext cx="48812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 =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Pages stored in compressor / Pages occupied by compressor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7905" y="4079875"/>
          <a:ext cx="5967095" cy="901700"/>
        </p:xfrm>
        <a:graphic>
          <a:graphicData uri="http://schemas.openxmlformats.org/drawingml/2006/table">
            <a:tbl>
              <a:tblPr/>
              <a:tblGrid>
                <a:gridCol w="1445895"/>
                <a:gridCol w="904240"/>
                <a:gridCol w="904240"/>
                <a:gridCol w="904240"/>
                <a:gridCol w="904240"/>
                <a:gridCol w="904240"/>
              </a:tblGrid>
              <a:tr h="22542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(MB)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压缩前均值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/Stored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300177.38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318533.13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336992.45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357600.34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371671.81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压缩后均值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/Occupied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120176.54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99660.98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112255.10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101534.02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114290.20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压缩比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2.50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3.33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3.03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3.70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3.29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1890" y="639445"/>
            <a:ext cx="5030956" cy="252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639445"/>
            <a:ext cx="5027705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3218180"/>
            <a:ext cx="5033768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前台应用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/>
        </p:nvGraphicFramePr>
        <p:xfrm>
          <a:off x="7310120" y="1018540"/>
          <a:ext cx="4432935" cy="22542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77620"/>
                <a:gridCol w="1131570"/>
                <a:gridCol w="1052830"/>
                <a:gridCol w="970915"/>
              </a:tblGrid>
              <a:tr h="225425">
                <a:tc>
                  <a:txBody>
                    <a:bodyPr/>
                    <a:p>
                      <a:pPr algn="ctr" fontAlgn="ctr"/>
                      <a:r>
                        <a:rPr lang="en-US" altLang="zh-CN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proc_name</a:t>
                      </a:r>
                      <a:endParaRPr lang="en-US" altLang="zh-CN" sz="1200" b="1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Swapped(MB)</a:t>
                      </a:r>
                      <a:endParaRPr lang="en-US" altLang="zh-CN" sz="1200" b="1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实际占用</a:t>
                      </a:r>
                      <a:r>
                        <a:rPr lang="en-US" altLang="zh-CN" sz="1200" b="1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(MB)</a:t>
                      </a:r>
                      <a:endParaRPr lang="en-US" altLang="zh-CN" sz="1200" b="1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>
                          <a:latin typeface="Times New Roman Regular" panose="02020503050405090304" charset="0"/>
                        </a:rPr>
                        <a:t>压缩率</a:t>
                      </a:r>
                      <a:endParaRPr lang="zh-CN" altLang="en-US" sz="1200" b="1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钉钉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171.35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146.10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54%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2565"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QQ</a:t>
                      </a:r>
                      <a:r>
                        <a:rPr lang="zh-CN" altLang="en-US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音乐</a:t>
                      </a:r>
                      <a:endParaRPr lang="zh-CN" altLang="en-US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202.84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221.30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48%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微信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486.19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543.72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47%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2565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高德地图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287.23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384.61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43%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腾讯视频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373.35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606.67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38%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2565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和平精英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220.00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369.65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抖音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461.57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794.37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2565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支付宝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257.41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490.75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34%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3200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虎牙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177.91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393.65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31%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  <a:tr h="202565">
                <a:tc>
                  <a:txBody>
                    <a:bodyPr/>
                    <a:p>
                      <a:pPr algn="ctr" fontAlgn="ctr"/>
                      <a:r>
                        <a:rPr lang="zh-CN" altLang="en-US" sz="1000">
                          <a:latin typeface="Times New Roman Regular" panose="02020503050405090304" charset="0"/>
                        </a:rPr>
                        <a:t>快手</a:t>
                      </a:r>
                      <a:endParaRPr lang="zh-CN" altLang="en-US" sz="100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280.39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701.35 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29%</a:t>
                      </a:r>
                      <a:endParaRPr lang="en-US" altLang="zh-CN" sz="100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" y="885825"/>
            <a:ext cx="6717030" cy="2739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66405" y="3352165"/>
            <a:ext cx="2921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200"/>
              <a:t>动态模型场景下前台应用压缩率</a:t>
            </a:r>
            <a:r>
              <a:rPr lang="en-US" altLang="zh-CN" sz="1200"/>
              <a:t>Top10</a:t>
            </a:r>
            <a:endParaRPr lang="en-US" altLang="zh-CN" sz="12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49225" y="3818255"/>
            <a:ext cx="563689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优先级高、高频交互的系统服务（如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 SpringBoard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、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mediaserve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rd、backboardd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），享受低压缩率，确保系统丝滑。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低频后台、处于休眠的服务，面临极高压缩率，被释放空间。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动态模型中系统服务的内存大小为时长的加权平均值。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28372" y="796925"/>
          <a:ext cx="5986780" cy="2346960"/>
        </p:xfrm>
        <a:graphic>
          <a:graphicData uri="http://schemas.openxmlformats.org/drawingml/2006/table">
            <a:tbl>
              <a:tblPr/>
              <a:tblGrid>
                <a:gridCol w="2466340"/>
                <a:gridCol w="1473200"/>
                <a:gridCol w="1193800"/>
                <a:gridCol w="853440"/>
              </a:tblGrid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proc_name</a:t>
                      </a:r>
                      <a:endParaRPr lang="zh-CN" altLang="en-US" sz="1200" b="1" i="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求和项:Swapped(MB)</a:t>
                      </a:r>
                      <a:endParaRPr lang="zh-CN" altLang="en-US" sz="1200" b="1" i="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求和项:实际占用</a:t>
                      </a:r>
                      <a:endParaRPr lang="zh-CN" altLang="en-US" sz="1200" b="1" i="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1" i="0">
                          <a:latin typeface="Times New Roman Regular" panose="02020503050405090304" charset="0"/>
                        </a:rPr>
                        <a:t>压缩率</a:t>
                      </a:r>
                      <a:endParaRPr lang="zh-CN" altLang="en-US" sz="1200" b="1" i="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com.apple.dt.instruments.dtsecurity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78814.27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2454.81625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97%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diskimagesiod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16368.58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1035.78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94%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healthappd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6962.84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535.18125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93%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Spotlight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11626.49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1602.825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PhotosReliveWidget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651.18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91.15375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splashboardd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1160.06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165.09375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PosterBoard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17440.14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2553.6325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87%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com.apple.mobilenotes.WidgetExtension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625.99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98.568125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86%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StoreKitUIService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14822.21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2387.991875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86%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com.apple.MapKit.SnapshotService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721.57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138.029375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84%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87005" y="3143885"/>
            <a:ext cx="2921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200"/>
              <a:t>动态模型场景下系统服务</a:t>
            </a:r>
            <a:r>
              <a:rPr lang="en-US" altLang="zh-CN" sz="1200"/>
              <a:t>Top10</a:t>
            </a:r>
            <a:endParaRPr lang="en-US" altLang="zh-CN" sz="12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796925"/>
            <a:ext cx="5922010" cy="28428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28055" y="3552825"/>
            <a:ext cx="6077585" cy="263017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com.apple.dt.instruments.dtsecurity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开发者工具安全服务。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dt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代表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Developer Tools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，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instruments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是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Xcode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中用于性能分析工具。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diskimagesiod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磁盘映像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I/O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守护进程。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healthappd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“健康”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App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守护进程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Spotlight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苹果的全局搜索服务。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PhotosReliveWidget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照片“回忆”小组件服务。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splashboardd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启动屏幕守护进程。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PosterBoard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锁屏与壁纸管理器。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com.apple.mobilenotes.WidgetExtension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“备忘录”小组件扩展。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StoreKitUIService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App Store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交互界面服务。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StoreKit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是苹果处理应用内购买和订阅的框架。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com.apple.MapKit.SnapshotService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地图快照服务。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785"/>
            <a:ext cx="9721850" cy="723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340"/>
            <a:ext cx="12196445" cy="1188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53467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日志格式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54940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20:50:39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7710"/>
            <a:ext cx="5069205" cy="20453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0" y="3019425"/>
            <a:ext cx="46272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20:50:39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180" y="3490595"/>
            <a:ext cx="7034530" cy="15995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23180" y="2992120"/>
            <a:ext cx="30219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基本上全部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Swapped：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微信拍照竞分数据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592455"/>
            <a:ext cx="6196330" cy="28568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3482340"/>
            <a:ext cx="6195695" cy="28867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52907" y="3774123"/>
            <a:ext cx="5080000" cy="175323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900" b="1">
                <a:latin typeface="Times New Roman Regular" panose="02020503050405090304" charset="0"/>
                <a:cs typeface="Times New Roman Regular" panose="02020503050405090304" charset="0"/>
              </a:rPr>
              <a:t>预览阶段（日常取景）：</a:t>
            </a:r>
            <a:endParaRPr lang="zh-CN" altLang="en-US" sz="9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iPhone 17 Pro Max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</a:rPr>
              <a:t>1424.56MB</a:t>
            </a:r>
            <a:endParaRPr lang="en-US" altLang="zh-CN" sz="9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</a:rPr>
              <a:t>1766.12MB</a:t>
            </a:r>
            <a:endParaRPr lang="en-US" altLang="zh-CN" sz="9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9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在基础预览时的系统开销比 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</a:rPr>
              <a:t>24%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9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900" b="1">
                <a:latin typeface="Times New Roman Regular" panose="02020503050405090304" charset="0"/>
                <a:cs typeface="Times New Roman Regular" panose="02020503050405090304" charset="0"/>
              </a:rPr>
              <a:t>拍照阶段（瞬间捕获）：</a:t>
            </a:r>
            <a:endParaRPr lang="zh-CN" altLang="en-US" sz="9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iPhone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17 Pro Max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</a:rPr>
              <a:t>1618.10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9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</a:rPr>
              <a:t>1868.09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9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9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在执行拍照动作时，底层系统的开销依然比 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900" b="1">
                <a:latin typeface="Times New Roman Regular" panose="02020503050405090304" charset="0"/>
                <a:cs typeface="Times New Roman Regular" panose="02020503050405090304" charset="0"/>
              </a:rPr>
              <a:t>15.4%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9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94182" y="552735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iPhone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17 Pro Max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开销增加了约 193.5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MB（涨幅 13.6%）。</a:t>
            </a:r>
            <a:endParaRPr lang="en-US" altLang="zh-CN" sz="9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MLN-AL00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开销仅增加了约 102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r>
              <a:rPr lang="en-US" altLang="zh-CN" sz="900">
                <a:latin typeface="Times New Roman Regular" panose="02020503050405090304" charset="0"/>
                <a:cs typeface="Times New Roman Regular" panose="02020503050405090304" charset="0"/>
              </a:rPr>
              <a:t>（涨幅 5.8%）。</a:t>
            </a:r>
            <a:endParaRPr lang="en-US" altLang="zh-CN" sz="9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255" y="592455"/>
            <a:ext cx="3795395" cy="28562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文本框 17"/>
          <p:cNvSpPr txBox="1"/>
          <p:nvPr/>
        </p:nvSpPr>
        <p:spPr>
          <a:xfrm>
            <a:off x="6866255" y="3530600"/>
            <a:ext cx="507936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https://developer.apple.com/documentation/avfoundation/avcapturephotooutput/qualityprioritization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95580" y="549275"/>
            <a:ext cx="5657215" cy="1816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b="1">
                <a:latin typeface="宋体" charset="0"/>
                <a:ea typeface="宋体" charset="0"/>
                <a:cs typeface="Times New Roman Regular" panose="02020503050405090304" charset="0"/>
                <a:sym typeface="+mn-ea"/>
              </a:rPr>
              <a:t>公式</a:t>
            </a:r>
            <a:r>
              <a:rPr lang="en-US" altLang="zh-CN" sz="1200" b="1">
                <a:latin typeface="宋体" charset="0"/>
                <a:ea typeface="宋体" charset="0"/>
                <a:cs typeface="Times New Roman Regular" panose="02020503050405090304" charset="0"/>
                <a:sym typeface="+mn-ea"/>
              </a:rPr>
              <a:t>：</a:t>
            </a:r>
            <a:endParaRPr lang="zh-CN" altLang="en-US" sz="1200" b="1">
              <a:latin typeface="宋体" charset="0"/>
              <a:ea typeface="宋体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内核占用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(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所有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VM_KERN_* + zones) 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               - VM_KERN_COUNT_BOOT_STOLEN 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                + VM_KERN_COUNT_WIRED_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残余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// 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口径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单框架比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iOS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多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1G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存储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内存增加内核占用量级</a:t>
            </a:r>
            <a:r>
              <a:rPr lang="en-US" altLang="zh-CN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156kB。</a:t>
            </a:r>
            <a:r>
              <a:rPr lang="zh-CN" altLang="en-US" sz="1200" i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（已确认）</a:t>
            </a:r>
            <a:endParaRPr lang="zh-CN" altLang="en-US" sz="1200" i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驱动占用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= sum(wired memory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中的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com.apple.*) - com.apple.filesystems.apfs</a:t>
            </a:r>
            <a:endParaRPr lang="en-US" altLang="zh-CN" sz="1200" dirty="0" smtClean="0"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483870" y="2976245"/>
          <a:ext cx="4591685" cy="1226185"/>
        </p:xfrm>
        <a:graphic>
          <a:graphicData uri="http://schemas.openxmlformats.org/drawingml/2006/table">
            <a:tbl>
              <a:tblPr/>
              <a:tblGrid>
                <a:gridCol w="1088390"/>
                <a:gridCol w="1751330"/>
                <a:gridCol w="1751965"/>
              </a:tblGrid>
              <a:tr h="248285"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内核占用均值MB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  <a:sym typeface="+mn-ea"/>
                        </a:rPr>
                        <a:t>驱动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  <a:sym typeface="+mn-ea"/>
                        </a:rPr>
                        <a:t>占用均值MB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737.62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629.11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586.25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440.73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628.81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437.87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723.28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490.31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558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Basic5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749.33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 Regular" panose="02020503050405090304" charset="0"/>
                          <a:ea typeface="宋体"/>
                          <a:cs typeface="Times New Roman Regular" panose="02020503050405090304" charset="0"/>
                        </a:rPr>
                        <a:t>476.27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 Regular" panose="02020503050405090304" charset="0"/>
                        <a:ea typeface="宋体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70915" y="2615565"/>
            <a:ext cx="3476625" cy="302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latin typeface="宋体" charset="0"/>
                <a:ea typeface="宋体" charset="0"/>
                <a:cs typeface="宋体" charset="0"/>
              </a:rPr>
              <a:t>表</a:t>
            </a:r>
            <a:r>
              <a:rPr lang="en-US" altLang="zh-CN" sz="1000" b="1" dirty="0" smtClean="0">
                <a:latin typeface="宋体" charset="0"/>
                <a:ea typeface="宋体" charset="0"/>
                <a:cs typeface="宋体" charset="0"/>
              </a:rPr>
              <a:t>3 </a:t>
            </a:r>
            <a:r>
              <a:rPr lang="zh-CN" altLang="en-US" sz="1000" b="1">
                <a:latin typeface="宋体" charset="0"/>
                <a:ea typeface="宋体" charset="0"/>
                <a:cs typeface="宋体" charset="0"/>
                <a:sym typeface="+mn-ea"/>
              </a:rPr>
              <a:t>测试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一</a:t>
            </a:r>
            <a:r>
              <a:rPr lang="en-US" altLang="zh-CN" sz="1000" b="1" dirty="0" smtClean="0">
                <a:latin typeface="宋体" charset="0"/>
                <a:ea typeface="宋体" charset="0"/>
                <a:cs typeface="宋体" charset="0"/>
              </a:rPr>
              <a:t> Top48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动态模型内核及驱动占用</a:t>
            </a:r>
            <a:r>
              <a:rPr lang="zh-CN" altLang="en-US" sz="1000" b="1" dirty="0" smtClean="0">
                <a:latin typeface="宋体" charset="0"/>
                <a:ea typeface="宋体" charset="0"/>
                <a:cs typeface="宋体" charset="0"/>
              </a:rPr>
              <a:t>大小</a:t>
            </a:r>
            <a:endParaRPr lang="zh-CN" altLang="en-US" sz="1000" b="1" dirty="0" smtClean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80250" y="2976245"/>
            <a:ext cx="402780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图2-1 Basic1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（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驱动占用异常点为抖音卡死</a:t>
            </a: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）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00340" y="5864225"/>
            <a:ext cx="195135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图2-2 Basic2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1940" y="4352925"/>
            <a:ext cx="5363210" cy="1931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内核占用均值约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1GB，</a:t>
            </a: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驱动占用约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500MB</a:t>
            </a: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高压场景：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Basic1 的驱动占用均值最高，达到 629.11 MB ；Basic5 的内核占用均值最高，达到 </a:t>
            </a:r>
            <a:r>
              <a:rPr lang="en-US" altLang="zh-CN" sz="1200">
                <a:solidFill>
                  <a:srgbClr val="000000"/>
                </a:solidFill>
                <a:latin typeface="Times New Roman Regular" panose="02020503050405090304" charset="0"/>
                <a:ea typeface="宋体"/>
                <a:cs typeface="Times New Roman Regular" panose="02020503050405090304" charset="0"/>
                <a:sym typeface="+mn-ea"/>
              </a:rPr>
              <a:t>749.33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MB 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低压场景：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Basic2 和 Basic3 的整体表现较好，驱动占用均控制在 440 MB 左右（分别为 440.73 MB 和 437.87 MB） ，内核占用也相对较低（均在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7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50 MB 以下） 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570" y="779145"/>
            <a:ext cx="5760000" cy="21394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70" y="3603625"/>
            <a:ext cx="5749290" cy="2214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235200" y="2872740"/>
            <a:ext cx="18300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图2-3 Basic3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61210" y="5551170"/>
            <a:ext cx="195961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图2-4 Basic4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48625" y="2879090"/>
            <a:ext cx="195961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图2-5 Basic5 </a:t>
            </a:r>
            <a:r>
              <a:rPr lang="zh-CN" altLang="en-US" sz="1000" b="1" dirty="0" smtClean="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rPr>
              <a:t>内核及驱动大小</a:t>
            </a:r>
            <a:endParaRPr lang="en-US" altLang="zh-CN" sz="1000" b="1" dirty="0" smtClean="0">
              <a:latin typeface="Times New Roman Regular" panose="02020503050405090304" charset="0"/>
              <a:ea typeface="宋体" charset="0"/>
              <a:cs typeface="Times New Roman Regular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1715" y="3413760"/>
            <a:ext cx="5899785" cy="92837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内核表现相对稳定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：在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Basic1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至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Basic5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的全程动态模型测试中，内核内存整体水位保持在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55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0MB ~ 750MB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之间，呈现规律性的平稳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驱动波动剧烈：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相比于内核，驱动内存波动受前台应用和具体操作动态模型影响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055360" y="4426585"/>
            <a:ext cx="5946140" cy="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245350" y="4622800"/>
            <a:ext cx="3613150" cy="9283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单框架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驱动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440MB；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内核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1042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MB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iOS：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驱动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494.86MB；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内核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685.06MB（+58.5MB）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58.5MB = 156kB*(512-128)/1024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" y="649605"/>
            <a:ext cx="5760000" cy="22347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" y="3413760"/>
            <a:ext cx="5760000" cy="213746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60" y="649605"/>
            <a:ext cx="6082665" cy="2223135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413*295"/>
  <p:tag name="TABLE_ENDDRAG_RECT" val="30*44*413*295"/>
</p:tagLst>
</file>

<file path=ppt/tags/tag2.xml><?xml version="1.0" encoding="utf-8"?>
<p:tagLst xmlns:p="http://schemas.openxmlformats.org/presentationml/2006/main">
  <p:tag name="TABLE_ENDDRAG_ORIGIN_RECT" val="361*81"/>
  <p:tag name="TABLE_ENDDRAG_RECT" val="38*234*361*81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4365</Words>
  <Application>WPS 演示</Application>
  <PresentationFormat>自定义</PresentationFormat>
  <Paragraphs>585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8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汉仪旗黑</vt:lpstr>
      <vt:lpstr>微软雅黑</vt:lpstr>
      <vt:lpstr>Times New Roman Regular</vt:lpstr>
      <vt:lpstr>宋体</vt:lpstr>
      <vt:lpstr>Wingdings</vt:lpstr>
      <vt:lpstr>Arial</vt:lpstr>
      <vt:lpstr>宋体</vt:lpstr>
      <vt:lpstr>Arial Unicode MS</vt:lpstr>
      <vt:lpstr>Calibri</vt:lpstr>
      <vt:lpstr>Helvetica Neue</vt:lpstr>
      <vt:lpstr>等线</vt:lpstr>
      <vt:lpstr>汉仪中等线KW</vt:lpstr>
      <vt:lpstr>黑体</vt:lpstr>
      <vt:lpstr>汉仪中黑KW</vt:lpstr>
      <vt:lpstr>汉仪书宋二KW</vt:lpstr>
      <vt:lpstr>Apple Color Emoji</vt:lpstr>
      <vt:lpstr>Times New Roman Regular</vt:lpstr>
      <vt:lpstr>宋体-简</vt:lpstr>
      <vt:lpstr>time</vt:lpstr>
      <vt:lpstr>苹方-简</vt:lpstr>
      <vt:lpstr>1_Title Slide</vt:lpstr>
      <vt:lpstr>Chart page</vt:lpstr>
      <vt:lpstr>4_Chart page</vt:lpstr>
      <vt:lpstr>End page</vt:lpstr>
      <vt:lpstr>1_Chart page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Shamrock</cp:lastModifiedBy>
  <cp:revision>64</cp:revision>
  <dcterms:created xsi:type="dcterms:W3CDTF">2026-04-17T05:45:22Z</dcterms:created>
  <dcterms:modified xsi:type="dcterms:W3CDTF">2026-04-17T05:45:22Z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EFEC487174C69F14F58BE069115A2DE8_43</vt:lpwstr>
  </property>
  <property fmtid="{D5CDD505-2E9C-101B-9397-08002B2CF9AE}" pid="10" name="KSOProductBuildVer">
    <vt:lpwstr>2052-12.1.25867.25867</vt:lpwstr>
  </property>
</Properties>
</file>