
<file path=[Content_Types].xml><?xml version="1.0" encoding="utf-8"?>
<Types xmlns="http://schemas.openxmlformats.org/package/2006/content-types">
  <Default Extension="vml" ContentType="application/vnd.openxmlformats-officedocument.vmlDrawing"/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8"/>
  </p:handoutMasterIdLst>
  <p:sldIdLst>
    <p:sldId id="261" r:id="rId3"/>
    <p:sldId id="257" r:id="rId4"/>
    <p:sldId id="258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iOS 相机管线的数据流转（三步走）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从光线进入镜头到屏幕显示，数据经历了一个跨进程的传递，内存池在其中扮演了关键角色：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第一站：底层硬件与 ISP（图像信号处理器）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光信号转为电信号后，ISP 硬件会快速生成原始图像。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同时，ISP 会输出极小的数据矩阵（比如我们在日志里看到的 7985 x 8 的长条状数据）。这些是用来计算自动对焦、自动曝光、白平衡的统计特征，占用极小，直接在底层的微型内存池里流转。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第二站：中央厨房 mediaserverd（系统媒体守护进程）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 iOS 真正干重活的地方。所有的硬件数据都会先汇总到这个系统级进程。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为了做 Deep Fusion（深度融合）、Smart HDR（智能 HDR）或多帧降噪，mediaserverd 会建立超大的内存池（比如日志中出现的需要 22 帧、总计约 400MB 的缓存池）。它会保留多帧历史画面，进行复杂的算法合成。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第三站：应用层（如原生相机或抖音等第三方 App）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合成好的画面会传递给 App。App 往往也会建立自己的内存池，但通常是偏向 GPU 渲染友好的格式（比如 32-bit 的 BGRA 格式，非常适合直接拿去做 Metal/OpenGL 美颜特效渲染）。 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909" y="456134"/>
            <a:ext cx="1073672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charset="-122"/>
                <a:ea typeface="微软雅黑" charset="-122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6075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39" y="1501989"/>
            <a:ext cx="1072964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charset="-122"/>
                <a:ea typeface="微软雅黑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package" Target="../embeddings/Workbook1.xlsx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package" Target="../embeddings/Workbook2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4505"/>
            <a:ext cx="12192000" cy="23044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33186"/>
            <a:ext cx="12199617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Rectangle 1026"/>
          <p:cNvSpPr>
            <a:spLocks noChangeArrowheads="1"/>
          </p:cNvSpPr>
          <p:nvPr/>
        </p:nvSpPr>
        <p:spPr bwMode="auto">
          <a:xfrm>
            <a:off x="0" y="38300"/>
            <a:ext cx="4928235" cy="4591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06" tIns="45703" rIns="91406" bIns="4570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iOS相机Pipeline的内存池管理机制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90204" pitchFamily="34" charset="0"/>
              <a:ea typeface="Open Sans" panose="020B0606030504020204" pitchFamily="34" charset="0"/>
            </a:endParaRPr>
          </a:p>
        </p:txBody>
      </p:sp>
      <p:sp>
        <p:nvSpPr>
          <p:cNvPr id="3" name="Rectangle 1027"/>
          <p:cNvSpPr>
            <a:spLocks noChangeArrowheads="1"/>
          </p:cNvSpPr>
          <p:nvPr/>
        </p:nvSpPr>
        <p:spPr bwMode="auto">
          <a:xfrm>
            <a:off x="148377" y="550783"/>
            <a:ext cx="11328239" cy="13601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13" rIns="0" bIns="126913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在相机运作时，手机每秒要吐出几十张高分辨率的照片。如果系统每生成一帧图像，</a:t>
            </a:r>
            <a:r>
              <a:rPr lang="en-US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malloc</a:t>
            </a: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一块新空间，用完再free，会导致：</a:t>
            </a:r>
            <a:endParaRPr lang="zh-CN" altLang="zh-CN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极高的开销： </a:t>
            </a:r>
            <a:r>
              <a:rPr lang="zh-CN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频繁分配和释放大块内存会严重拖慢 CPU。</a:t>
            </a:r>
            <a:endParaRPr lang="en-US" altLang="zh-C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内存碎片化： </a:t>
            </a:r>
            <a:r>
              <a:rPr lang="zh-CN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内存空间会被切得七零八落。</a:t>
            </a:r>
            <a:endParaRPr lang="zh-CN" altLang="zh-C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2968" y="1562780"/>
            <a:ext cx="3488688" cy="995317"/>
          </a:xfrm>
          <a:prstGeom prst="rect">
            <a:avLst/>
          </a:prstGeom>
        </p:spPr>
      </p:pic>
      <p:sp>
        <p:nvSpPr>
          <p:cNvPr id="9" name="Rectangle 1028"/>
          <p:cNvSpPr>
            <a:spLocks noChangeArrowheads="1"/>
          </p:cNvSpPr>
          <p:nvPr/>
        </p:nvSpPr>
        <p:spPr bwMode="auto">
          <a:xfrm>
            <a:off x="106641" y="1963845"/>
            <a:ext cx="7485191" cy="597535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6" tIns="45703" rIns="91406" bIns="45703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CVPixelBufferPool（像素缓冲池）：系统在相机启动时，直接一次性申请几十块同样大小的PixelBuffer</a:t>
            </a:r>
            <a:r>
              <a:rPr lang="zh-CN" altLang="en-US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放在Pool</a:t>
            </a:r>
            <a:r>
              <a:rPr lang="zh-CN" altLang="en-US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</a:t>
            </a:r>
            <a:r>
              <a:rPr lang="zh-CN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。相机吐出数据时，拿一个PixelBuffer装；App 处理完后，把Buffer放回</a:t>
            </a:r>
            <a:r>
              <a:rPr lang="en-US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Pool</a:t>
            </a:r>
            <a:r>
              <a:rPr lang="zh-CN" altLang="en-US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</a:t>
            </a:r>
            <a:r>
              <a:rPr lang="zh-CN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。全程循环复用，不产生新的内存分配。</a:t>
            </a:r>
            <a:endParaRPr lang="zh-CN" altLang="zh-CN" sz="11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77" y="2851361"/>
            <a:ext cx="6500030" cy="3542009"/>
          </a:xfrm>
          <a:prstGeom prst="rect">
            <a:avLst/>
          </a:prstGeom>
        </p:spPr>
      </p:pic>
      <p:sp>
        <p:nvSpPr>
          <p:cNvPr id="23" name="圆角矩形 22"/>
          <p:cNvSpPr/>
          <p:nvPr/>
        </p:nvSpPr>
        <p:spPr>
          <a:xfrm>
            <a:off x="7210971" y="2851361"/>
            <a:ext cx="4075214" cy="93945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571915" y="2851361"/>
            <a:ext cx="1353327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1.</a:t>
            </a:r>
            <a:r>
              <a:rPr lang="zh-CN" altLang="en-US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底层硬件与</a:t>
            </a: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ISP</a:t>
            </a:r>
            <a:endParaRPr lang="en-US" altLang="zh-CN" sz="1200" dirty="0" smtClean="0">
              <a:solidFill>
                <a:srgbClr val="0070C0"/>
              </a:solidFill>
              <a:latin typeface="Times New Roman" panose="02020503050405090304" pitchFamily="18" charset="0"/>
              <a:ea typeface="PingFang SC" panose="020B0400000000000000" charset="-122"/>
              <a:cs typeface="Times New Roman" panose="0202050305040509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210971" y="4101220"/>
            <a:ext cx="4075214" cy="939457"/>
          </a:xfrm>
          <a:prstGeom prst="round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357998" y="4108202"/>
            <a:ext cx="17817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2.mediaserverd</a:t>
            </a:r>
            <a:r>
              <a:rPr lang="zh-CN" altLang="en-US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系统进程</a:t>
            </a:r>
            <a:endParaRPr lang="zh-CN" altLang="en-US" sz="1200" dirty="0" smtClean="0">
              <a:solidFill>
                <a:srgbClr val="0070C0"/>
              </a:solidFill>
              <a:latin typeface="Times New Roman" panose="02020503050405090304" pitchFamily="18" charset="0"/>
              <a:ea typeface="PingFang SC" panose="020B0400000000000000" charset="-122"/>
              <a:cs typeface="Times New Roman" panose="02020503050405090304" pitchFamily="18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210971" y="5396148"/>
            <a:ext cx="4075214" cy="9394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851848" y="5403130"/>
            <a:ext cx="79282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3.</a:t>
            </a:r>
            <a:r>
              <a:rPr lang="zh-CN" altLang="en-US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应用层</a:t>
            </a:r>
            <a:endParaRPr lang="zh-CN" altLang="en-US" sz="1200" dirty="0" smtClean="0">
              <a:solidFill>
                <a:srgbClr val="0070C0"/>
              </a:solidFill>
              <a:latin typeface="Times New Roman" panose="02020503050405090304" pitchFamily="18" charset="0"/>
              <a:ea typeface="PingFang SC" panose="020B0400000000000000" charset="-122"/>
              <a:cs typeface="Times New Roman" panose="02020503050405090304" pitchFamily="18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309995" y="3126850"/>
            <a:ext cx="1182574" cy="53637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8663321" y="3126850"/>
            <a:ext cx="1182574" cy="53637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0016648" y="3126850"/>
            <a:ext cx="1182574" cy="53637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7409019" y="4383692"/>
            <a:ext cx="1564705" cy="536379"/>
          </a:xfrm>
          <a:prstGeom prst="roundRect">
            <a:avLst/>
          </a:prstGeom>
          <a:solidFill>
            <a:srgbClr val="FBE6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9536128" y="4383692"/>
            <a:ext cx="1564705" cy="536379"/>
          </a:xfrm>
          <a:prstGeom prst="roundRect">
            <a:avLst/>
          </a:prstGeom>
          <a:solidFill>
            <a:srgbClr val="FBE6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7409019" y="5700202"/>
            <a:ext cx="1564705" cy="53637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9536128" y="5700202"/>
            <a:ext cx="1564705" cy="53637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stCxn id="13" idx="3"/>
            <a:endCxn id="14" idx="1"/>
          </p:cNvCxnSpPr>
          <p:nvPr/>
        </p:nvCxnSpPr>
        <p:spPr>
          <a:xfrm>
            <a:off x="8492569" y="3395357"/>
            <a:ext cx="1707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9845895" y="3395357"/>
            <a:ext cx="1707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8" idx="1"/>
          </p:cNvCxnSpPr>
          <p:nvPr/>
        </p:nvCxnSpPr>
        <p:spPr>
          <a:xfrm>
            <a:off x="8973723" y="4651564"/>
            <a:ext cx="562405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8973723" y="5968074"/>
            <a:ext cx="562405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9248261" y="3789232"/>
            <a:ext cx="0" cy="3123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12" idx="0"/>
          </p:cNvCxnSpPr>
          <p:nvPr/>
        </p:nvCxnSpPr>
        <p:spPr>
          <a:xfrm>
            <a:off x="9245087" y="5044169"/>
            <a:ext cx="0" cy="3580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9320942" y="3822557"/>
            <a:ext cx="695706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800" dirty="0" smtClean="0">
                <a:latin typeface="微软雅黑" charset="-122"/>
                <a:ea typeface="微软雅黑" charset="-122"/>
              </a:rPr>
              <a:t>原始图像帧</a:t>
            </a:r>
            <a:endParaRPr lang="zh-CN" altLang="en-US" sz="800" dirty="0" smtClean="0">
              <a:latin typeface="微软雅黑" charset="-122"/>
              <a:ea typeface="微软雅黑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320942" y="5103519"/>
            <a:ext cx="695706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800" dirty="0" smtClean="0">
                <a:latin typeface="微软雅黑" charset="-122"/>
                <a:ea typeface="微软雅黑" charset="-122"/>
              </a:rPr>
              <a:t>处理后图像</a:t>
            </a:r>
            <a:endParaRPr lang="zh-CN" altLang="en-US" sz="800" dirty="0" smtClean="0">
              <a:latin typeface="微软雅黑" charset="-122"/>
              <a:ea typeface="微软雅黑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409019" y="3176362"/>
            <a:ext cx="9489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800" b="1" dirty="0" smtClean="0">
                <a:latin typeface="微软雅黑" charset="-122"/>
                <a:ea typeface="微软雅黑" charset="-122"/>
              </a:rPr>
              <a:t>光传感器</a:t>
            </a:r>
            <a:endParaRPr lang="zh-CN" altLang="en-US" sz="800" b="1" dirty="0" smtClean="0">
              <a:latin typeface="微软雅黑" charset="-122"/>
              <a:ea typeface="微软雅黑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800" dirty="0" smtClean="0">
                <a:latin typeface="微软雅黑" charset="-122"/>
                <a:ea typeface="微软雅黑" charset="-122"/>
              </a:rPr>
              <a:t>光信号➡️电信号</a:t>
            </a:r>
            <a:endParaRPr lang="zh-CN" altLang="en-US" sz="800" dirty="0" smtClean="0">
              <a:latin typeface="微软雅黑" charset="-122"/>
              <a:ea typeface="微软雅黑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773771" y="3164302"/>
            <a:ext cx="99531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800" b="1" dirty="0" smtClean="0">
                <a:latin typeface="微软雅黑" charset="-122"/>
                <a:ea typeface="微软雅黑" charset="-122"/>
              </a:rPr>
              <a:t>ISP</a:t>
            </a:r>
            <a:r>
              <a:rPr lang="zh-CN" altLang="en-US" sz="800" b="1" dirty="0" smtClean="0">
                <a:latin typeface="微软雅黑" charset="-122"/>
                <a:ea typeface="微软雅黑" charset="-122"/>
              </a:rPr>
              <a:t>成像处理</a:t>
            </a:r>
            <a:endParaRPr lang="zh-CN" altLang="en-US" sz="800" b="1" dirty="0" smtClean="0">
              <a:latin typeface="微软雅黑" charset="-122"/>
              <a:ea typeface="微软雅黑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800" dirty="0" smtClean="0">
                <a:latin typeface="微软雅黑" charset="-122"/>
                <a:ea typeface="微软雅黑" charset="-122"/>
              </a:rPr>
              <a:t>快速生成原始图像</a:t>
            </a:r>
            <a:endParaRPr lang="zh-CN" altLang="en-US" sz="800" dirty="0" smtClean="0">
              <a:latin typeface="微软雅黑" charset="-122"/>
              <a:ea typeface="微软雅黑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049656" y="3166206"/>
            <a:ext cx="116226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800" b="1" dirty="0" smtClean="0">
                <a:latin typeface="微软雅黑" charset="-122"/>
                <a:ea typeface="微软雅黑" charset="-122"/>
              </a:rPr>
              <a:t>统计特征矩阵</a:t>
            </a:r>
            <a:endParaRPr lang="zh-CN" altLang="en-US" sz="800" b="1" dirty="0" smtClean="0">
              <a:latin typeface="微软雅黑" charset="-122"/>
              <a:ea typeface="微软雅黑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zh-CN" sz="800" dirty="0">
                <a:effectLst/>
                <a:sym typeface="+mn-ea"/>
              </a:rPr>
              <a:t>自动对焦、自动曝光、白平衡</a:t>
            </a:r>
            <a:endParaRPr lang="zh-CN" altLang="en-US" sz="800" dirty="0" smtClean="0">
              <a:latin typeface="微软雅黑" charset="-122"/>
              <a:ea typeface="微软雅黑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626744" y="4390040"/>
            <a:ext cx="9489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800" b="1" dirty="0" smtClean="0">
                <a:latin typeface="微软雅黑" charset="-122"/>
                <a:ea typeface="微软雅黑" charset="-122"/>
              </a:rPr>
              <a:t>超大内存池</a:t>
            </a:r>
            <a:endParaRPr lang="zh-CN" altLang="en-US" sz="800" b="1" dirty="0" smtClean="0">
              <a:latin typeface="微软雅黑" charset="-122"/>
              <a:ea typeface="微软雅黑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800" dirty="0" smtClean="0">
                <a:latin typeface="微软雅黑" charset="-122"/>
                <a:ea typeface="微软雅黑" charset="-122"/>
              </a:rPr>
              <a:t>多帧画面缓存</a:t>
            </a:r>
            <a:endParaRPr lang="zh-CN" altLang="en-US" sz="800" dirty="0" smtClean="0">
              <a:latin typeface="微软雅黑" charset="-122"/>
              <a:ea typeface="微软雅黑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553902" y="4418604"/>
            <a:ext cx="148345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800" b="1" dirty="0" smtClean="0">
                <a:latin typeface="微软雅黑" charset="-122"/>
                <a:ea typeface="微软雅黑" charset="-122"/>
              </a:rPr>
              <a:t>多帧算法合成</a:t>
            </a:r>
            <a:endParaRPr lang="zh-CN" altLang="en-US" sz="800" b="1" dirty="0" smtClean="0">
              <a:latin typeface="微软雅黑" charset="-122"/>
              <a:ea typeface="微软雅黑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zh-CN" sz="800" dirty="0">
                <a:effectLst/>
                <a:sym typeface="+mn-ea"/>
              </a:rPr>
              <a:t>Deep Fusion、Smart HDR或多帧降噪</a:t>
            </a:r>
            <a:endParaRPr lang="zh-CN" altLang="en-US" sz="800" dirty="0" smtClean="0">
              <a:latin typeface="微软雅黑" charset="-122"/>
              <a:ea typeface="微软雅黑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714342" y="5746540"/>
            <a:ext cx="9489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800" b="1" dirty="0" smtClean="0">
                <a:latin typeface="微软雅黑" charset="-122"/>
                <a:ea typeface="微软雅黑" charset="-122"/>
              </a:rPr>
              <a:t>App</a:t>
            </a:r>
            <a:r>
              <a:rPr lang="zh-CN" altLang="en-US" sz="800" b="1" dirty="0" smtClean="0">
                <a:latin typeface="微软雅黑" charset="-122"/>
                <a:ea typeface="微软雅黑" charset="-122"/>
              </a:rPr>
              <a:t>内存池</a:t>
            </a:r>
            <a:endParaRPr lang="zh-CN" altLang="en-US" sz="800" b="1" dirty="0" smtClean="0">
              <a:latin typeface="微软雅黑" charset="-122"/>
              <a:ea typeface="微软雅黑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800" dirty="0" smtClean="0">
                <a:latin typeface="微软雅黑" charset="-122"/>
                <a:ea typeface="微软雅黑" charset="-122"/>
              </a:rPr>
              <a:t>帧缓冲区管理</a:t>
            </a:r>
            <a:endParaRPr lang="zh-CN" altLang="en-US" sz="800" dirty="0" smtClean="0">
              <a:latin typeface="微软雅黑" charset="-122"/>
              <a:ea typeface="微软雅黑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484077" y="5754157"/>
            <a:ext cx="17151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800" b="1" dirty="0" smtClean="0">
                <a:latin typeface="微软雅黑" charset="-122"/>
                <a:ea typeface="微软雅黑" charset="-122"/>
              </a:rPr>
              <a:t>GPU</a:t>
            </a:r>
            <a:r>
              <a:rPr lang="zh-CN" altLang="en-US" sz="800" b="1" dirty="0" smtClean="0">
                <a:latin typeface="微软雅黑" charset="-122"/>
                <a:ea typeface="微软雅黑" charset="-122"/>
              </a:rPr>
              <a:t>渲染格式</a:t>
            </a:r>
            <a:endParaRPr lang="zh-CN" altLang="en-US" sz="800" b="1" dirty="0" smtClean="0">
              <a:latin typeface="微软雅黑" charset="-122"/>
              <a:ea typeface="微软雅黑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zh-CN" sz="800" dirty="0">
                <a:effectLst/>
                <a:sym typeface="+mn-ea"/>
              </a:rPr>
              <a:t>BGRA </a:t>
            </a:r>
            <a:r>
              <a:rPr lang="en-US" altLang="zh-CN" sz="800" dirty="0">
                <a:effectLst/>
                <a:sym typeface="+mn-ea"/>
              </a:rPr>
              <a:t>：</a:t>
            </a:r>
            <a:r>
              <a:rPr lang="zh-CN" altLang="zh-CN" sz="800" dirty="0">
                <a:effectLst/>
                <a:sym typeface="+mn-ea"/>
              </a:rPr>
              <a:t>Metal/OpenGL 美颜特效</a:t>
            </a:r>
            <a:endParaRPr lang="zh-CN" altLang="en-US" sz="800" dirty="0" smtClean="0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1250"/>
            <a:ext cx="6229619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微信拍照模式竞分数据</a:t>
            </a:r>
            <a:endParaRPr lang="zh-CN" altLang="en-US" sz="2400" b="1" dirty="0">
              <a:latin typeface="微软雅黑" charset="-122"/>
              <a:ea typeface="微软雅黑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3186"/>
            <a:ext cx="12199617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979520" y="2827239"/>
            <a:ext cx="6212480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预览阶段（日常取景）：</a:t>
            </a:r>
            <a:endParaRPr lang="zh-CN" altLang="en-US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 17 Pro Max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1424.56MB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1766.12MB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结论：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在基础预览时的系统开销比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高出约 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24%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拍照阶段（瞬间捕获）：</a:t>
            </a:r>
            <a:endParaRPr lang="zh-CN" altLang="en-US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17 Pro Max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1618.10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1868.09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结论：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在执行拍照动作时，底层系统的开销依然比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高出约 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15.4%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9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79837" y="5466925"/>
            <a:ext cx="5078149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从预览到拍照，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iPhone 17 Pro Max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开销增加了约 193.5MB（涨幅 13.6%）。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从预览到拍照，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MLN-AL00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开销仅增加了约 102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（涨幅 5.8%）。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4" y="2986566"/>
            <a:ext cx="4152656" cy="31249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文本框 17"/>
          <p:cNvSpPr txBox="1"/>
          <p:nvPr/>
        </p:nvSpPr>
        <p:spPr>
          <a:xfrm>
            <a:off x="57764" y="2734563"/>
            <a:ext cx="5222241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800" dirty="0">
                <a:latin typeface="微软雅黑" charset="-122"/>
                <a:ea typeface="微软雅黑" charset="-122"/>
              </a:rPr>
              <a:t>https://developer.apple.com/documentation/avfoundation/avcapturephotooutput/qualityprioritization</a:t>
            </a:r>
            <a:endParaRPr lang="zh-CN" altLang="en-US" sz="800" dirty="0">
              <a:latin typeface="微软雅黑" charset="-122"/>
              <a:ea typeface="微软雅黑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4" y="609358"/>
            <a:ext cx="5826977" cy="2087239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520" y="609358"/>
            <a:ext cx="5890331" cy="2087239"/>
          </a:xfrm>
          <a:prstGeom prst="rect">
            <a:avLst/>
          </a:prstGeom>
        </p:spPr>
      </p:pic>
      <p:graphicFrame>
        <p:nvGraphicFramePr>
          <p:cNvPr id="21" name="对象 2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94162" y="4596974"/>
          <a:ext cx="1439475" cy="143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4" imgW="1524000" imgH="1524000" progId="Excel.Sheet.12">
                  <p:embed/>
                </p:oleObj>
              </mc:Choice>
              <mc:Fallback>
                <p:oleObj name="" showAsIcon="1" r:id="rId4" imgW="1524000" imgH="152400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94162" y="4596974"/>
                        <a:ext cx="1439475" cy="143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7764" y="6149618"/>
            <a:ext cx="5222241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800" dirty="0">
                <a:latin typeface="微软雅黑" charset="-122"/>
                <a:ea typeface="微软雅黑" charset="-122"/>
              </a:rPr>
              <a:t>内存从小到大</a:t>
            </a:r>
            <a:r>
              <a:rPr lang="en-US" altLang="zh-CN" sz="800" dirty="0">
                <a:latin typeface="微软雅黑" charset="-122"/>
                <a:ea typeface="微软雅黑" charset="-122"/>
              </a:rPr>
              <a:t>：speed </a:t>
            </a:r>
            <a:r>
              <a:rPr lang="zh-CN" altLang="en-US" sz="800" dirty="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→</a:t>
            </a:r>
            <a:r>
              <a:rPr lang="en-US" altLang="zh-CN" sz="800" dirty="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 balanced</a:t>
            </a:r>
            <a:r>
              <a:rPr lang="en-US" altLang="zh-CN" sz="800" dirty="0">
                <a:latin typeface="微软雅黑" charset="-122"/>
                <a:ea typeface="微软雅黑" charset="-122"/>
                <a:sym typeface="+mn-ea"/>
              </a:rPr>
              <a:t> </a:t>
            </a:r>
            <a:r>
              <a:rPr lang="zh-CN" altLang="en-US" sz="800" dirty="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→</a:t>
            </a:r>
            <a:r>
              <a:rPr lang="en-US" altLang="zh-CN" sz="800" dirty="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 quality ； </a:t>
            </a:r>
            <a:r>
              <a:rPr lang="zh-CN" altLang="en-US" sz="800" dirty="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当前微信仅为能适配新版本</a:t>
            </a:r>
            <a:r>
              <a:rPr lang="en-US" altLang="zh-CN" sz="800" dirty="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iOS </a:t>
            </a:r>
            <a:r>
              <a:rPr lang="zh-CN" altLang="en-US" sz="800" dirty="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和</a:t>
            </a:r>
            <a:r>
              <a:rPr lang="en-US" altLang="zh-CN" sz="800" dirty="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 </a:t>
            </a:r>
            <a:r>
              <a:rPr lang="zh-CN" altLang="en-US" sz="800" dirty="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新版本</a:t>
            </a:r>
            <a:r>
              <a:rPr lang="en-US" altLang="zh-CN" sz="800" dirty="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WeChat</a:t>
            </a:r>
            <a:r>
              <a:rPr lang="zh-CN" altLang="en-US" sz="800" dirty="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的手机开放</a:t>
            </a:r>
            <a:r>
              <a:rPr lang="en-US" altLang="zh-CN" sz="800" dirty="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。</a:t>
            </a:r>
            <a:endParaRPr lang="en-US" altLang="zh-CN" sz="800" dirty="0">
              <a:latin typeface="Arial" panose="020B0604020202090204" pitchFamily="34" charset="0"/>
              <a:ea typeface="微软雅黑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系统相机和三方相机内存占用竞分数据</a:t>
            </a:r>
            <a:endParaRPr lang="zh-CN" altLang="en-US" sz="2400" b="1" dirty="0">
              <a:latin typeface="微软雅黑" charset="-122"/>
              <a:ea typeface="微软雅黑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3820" y="4503420"/>
            <a:ext cx="10073005" cy="216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latin typeface="Times New Roman Regular" panose="02020503050405090304" charset="0"/>
                <a:cs typeface="Times New Roman Regular" panose="02020503050405090304" charset="0"/>
              </a:rPr>
              <a:t>1. 原生应用：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原生相机中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，iPhone  14PM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（31M）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采用极致轻量化策略，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（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360M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）存在十倍以上的内存开销差距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在原生拍摄场景中，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的原生相机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App (Camera)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仅作为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UI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空壳，内存占用极低且稳定，绝大多数场景仅需 20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- 46MB（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例如 4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K30fps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录像仅为 24.5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MB）。</a:t>
            </a:r>
            <a:endParaRPr lang="en-US" altLang="zh-CN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相比之下，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的原生相机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App (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com.huawei.camera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)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承载了较多业务逻辑，内存占用普遍在 300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- 540MB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区间（例如延时摄影高达 541.4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</a:t>
            </a:r>
            <a:r>
              <a:rPr 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latin typeface="Times New Roman Regular" panose="02020503050405090304" charset="0"/>
                <a:cs typeface="Times New Roman Regular" panose="02020503050405090304" charset="0"/>
              </a:rPr>
              <a:t>2. 框架服务：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双方架构设计思路高度一致，均保持极低的调度开销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camera_service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稳定在 18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- 22MB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左右，而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appleh13camerad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也仅为 21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- 37MB。</a:t>
            </a:r>
            <a:endParaRPr lang="en-US" altLang="zh-CN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latin typeface="Times New Roman Regular" panose="02020503050405090304" charset="0"/>
                <a:cs typeface="Times New Roman Regular" panose="02020503050405090304" charset="0"/>
              </a:rPr>
              <a:t>3. 系统服务：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原生场景下均为消耗主力，但在三方应用接入时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的降级释放策略更激进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系统底层的图像处理进程是双方的内存消耗大头（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CameraDaemon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与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mediaserverd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在原生场景均可达 1000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- 1600MB+）。</a:t>
            </a:r>
            <a:endParaRPr lang="en-US" altLang="zh-CN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在面临三方应用（如微信、支付宝）调用时策略出现显著分化：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的系统服务内存会下降至 230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- 390MB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左右（如微信拍照降至 253.94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MB），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为三方应用让出空间；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底层服务在三方调用时依然维持在 600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- 1200MB+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的高水位（如微信拍照高达 1186.1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MB），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缺乏针对三方场景的重度内存收缩策略。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84137" y="597725"/>
          <a:ext cx="18244185" cy="6491605"/>
        </p:xfrm>
        <a:graphic>
          <a:graphicData uri="http://schemas.openxmlformats.org/drawingml/2006/table">
            <a:tbl>
              <a:tblPr/>
              <a:tblGrid>
                <a:gridCol w="611505"/>
                <a:gridCol w="962660"/>
                <a:gridCol w="467360"/>
                <a:gridCol w="834390"/>
                <a:gridCol w="738505"/>
                <a:gridCol w="772160"/>
                <a:gridCol w="666115"/>
                <a:gridCol w="666115"/>
                <a:gridCol w="751205"/>
                <a:gridCol w="751205"/>
                <a:gridCol w="751205"/>
                <a:gridCol w="750570"/>
                <a:gridCol w="751205"/>
                <a:gridCol w="751205"/>
                <a:gridCol w="751205"/>
              </a:tblGrid>
              <a:tr h="134620"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gridSpan="6"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单框架 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CHZ-AL00 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相机：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206.0.0.138(SP20C00E138R2P1) 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三方：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206.0.0.100(SP15C00E100R2P1)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iPhone 14 Pro Max iOS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：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16.1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用例名称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场景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测试峰值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com.huawei.camera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camera_service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CameraDaemon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hiaiserver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快照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测试峰值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Camera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appleh13camerad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mediaserverd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三方应用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ISP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驱动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+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内核增量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4K30Video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4K30fps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后置录像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1752.62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385.64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20.04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1206.19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58.14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82.61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1295.08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1249.28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486.13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613.77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CodeStart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相机冷启动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1334.14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193.85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18.39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965.47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75.42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81.01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739.27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23.6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694.47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472.38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316.72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FHD30Video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1080p30fps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后置录像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1583.67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377.52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1044.72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57.91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83.1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869.29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20.83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21.08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827.38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490.23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618.2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FHD60Video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1080p60fps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后置录像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1566.37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404.02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19.97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992.23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67.24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801.04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22.94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21.13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756.97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533.52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256.37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HotStart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相机热启动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1636.1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485.91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20.69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980.22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67.51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830.99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35.95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769.66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211.58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PreCamera1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1615.49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330.57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1091.62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87.87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86.12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1411.92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24.78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1361.92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618.2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648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PreCamera3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1643.63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335.19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20.78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1118.79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87.42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81.45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1412.5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25.81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1361.92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618.2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710.25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PreCamera5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1627.5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348.42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1089.7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87.29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81.45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1422.52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24.44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1372.16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618.2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741.08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PrePortrait1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1690.82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334.93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1154.23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96.99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85.76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1588.93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46.66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36.99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1505.28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773.83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1303.22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PrePortrait3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1721.01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348.12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20.26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1173.32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97.21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1596.88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36.89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1515.52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773.83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891.14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PrePortrait5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1754.86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350.53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20.75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1205.05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97.11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1607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37.02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1525.76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773.83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1430.34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RearCamera1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1797.1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20.33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1318.36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75.47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80.94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1691.04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36.49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1617.92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941.95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RearCamera3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1821.3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337.59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1313.32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70.18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79.98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1617.64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1566.72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522.77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RearCamera5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1854.67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329.07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19.95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1357.64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67.63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1617.85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1566.72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925.25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RearPortrait1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1654.3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376.05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18.56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1094.31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79.35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86.03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1668.03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1607.68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434.55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1037.47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RearPortrait3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1684.21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368.05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1136.21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79.29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80.46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1668.51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1607.68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437.38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708.4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RearPortrait5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1664.64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344.82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1139.75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79.14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1687.84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24.58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1628.16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437.38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1164.85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TimeLapse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延时摄影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1734.43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541.4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20.35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1019.66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83.11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1090.39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30.74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1034.24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490.84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566.58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Alipay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支付宝扫码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1091.38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365.23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647.3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59.47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693.2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233.36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434.53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505.09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170.89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MeiTuan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美团扫码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1068.03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360.82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18.99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611.5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76.71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694.71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376.75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292.46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421.89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97.97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TaoBaoPhoto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淘宝拍照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1656.3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343.11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22.2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1231.74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59.25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892.97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524.39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562.38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TaoBaoScan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淘宝扫一扫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1035.7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343.22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611.28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59.8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727.79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295.35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407.02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412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TaoBaoVideo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淘宝录像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1114.17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342.92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21.56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699.02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50.66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787.71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396.22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366.19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422.92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273.13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WeChatPhoto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微信拍照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1613.52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345.19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1186.1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60.46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673.38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25.34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253.94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394.1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355.28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WeChatScan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微信扫码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1058.67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345.17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21.73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631.36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60.41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823.88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271.39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527.05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184.19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4033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WeChatVideo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微信录像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1508.01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1081.53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59.98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837.75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361.31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451.02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206.31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原生相机应用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相机框架服务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系统服务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系统服务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原生相机应用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相机框架服务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系统服务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前台应用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156825" y="4733290"/>
          <a:ext cx="1466215" cy="1466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" imgW="1524000" imgH="1524000" progId="Excel.Sheet.12">
                  <p:embed/>
                </p:oleObj>
              </mc:Choice>
              <mc:Fallback>
                <p:oleObj name="" showAsIcon="1" r:id="rId1" imgW="1524000" imgH="152400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156825" y="4733290"/>
                        <a:ext cx="1466215" cy="1466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4626</Words>
  <Application>WPS 表格</Application>
  <PresentationFormat>宽屏</PresentationFormat>
  <Paragraphs>853</Paragraphs>
  <Slides>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Open Sans</vt:lpstr>
      <vt:lpstr>Times New Roman</vt:lpstr>
      <vt:lpstr>PingFang SC</vt:lpstr>
      <vt:lpstr>Apple Color Emoji</vt:lpstr>
      <vt:lpstr>Arial</vt:lpstr>
      <vt:lpstr>Times New Roman Regular</vt:lpstr>
      <vt:lpstr>helvetica neue</vt:lpstr>
      <vt:lpstr>宋体-简</vt:lpstr>
      <vt:lpstr>Helvetica</vt:lpstr>
      <vt:lpstr>WPS</vt:lpstr>
      <vt:lpstr>Excel.Sheet.12</vt:lpstr>
      <vt:lpstr>Excel.Sheet.12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clover</cp:lastModifiedBy>
  <cp:revision>164</cp:revision>
  <dcterms:created xsi:type="dcterms:W3CDTF">2026-07-15T02:38:23Z</dcterms:created>
  <dcterms:modified xsi:type="dcterms:W3CDTF">2026-07-15T02:38:23Z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4E67439E77A088F18EED566AF334C805_41</vt:lpwstr>
  </property>
</Properties>
</file>