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55" r:id="rId4"/>
    <p:sldMasterId id="2147483657" r:id="rId5"/>
    <p:sldMasterId id="2147483659" r:id="rId6"/>
  </p:sldMasterIdLst>
  <p:notesMasterIdLst>
    <p:notesMasterId r:id="rId8"/>
  </p:notesMasterIdLst>
  <p:handoutMasterIdLst>
    <p:handoutMasterId r:id="rId17"/>
  </p:handoutMasterIdLst>
  <p:sldIdLst>
    <p:sldId id="298" r:id="rId7"/>
    <p:sldId id="304" r:id="rId9"/>
    <p:sldId id="299" r:id="rId10"/>
    <p:sldId id="301" r:id="rId11"/>
    <p:sldId id="300" r:id="rId12"/>
    <p:sldId id="302" r:id="rId13"/>
    <p:sldId id="303" r:id="rId14"/>
    <p:sldId id="294" r:id="rId15"/>
    <p:sldId id="295" r:id="rId16"/>
  </p:sldIdLst>
  <p:sldSz cx="1219644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667" userDrawn="1">
          <p15:clr>
            <a:srgbClr val="A4A3A4"/>
          </p15:clr>
        </p15:guide>
        <p15:guide id="6" orient="horz" pos="2156" userDrawn="1">
          <p15:clr>
            <a:srgbClr val="A4A3A4"/>
          </p15:clr>
        </p15:guide>
        <p15:guide id="7" pos="35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000B"/>
    <a:srgbClr val="FFFFFF"/>
    <a:srgbClr val="151515"/>
    <a:srgbClr val="575756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59" autoAdjust="0"/>
    <p:restoredTop sz="96291"/>
  </p:normalViewPr>
  <p:slideViewPr>
    <p:cSldViewPr snapToGrid="0" snapToObjects="1" showGuides="1">
      <p:cViewPr varScale="1">
        <p:scale>
          <a:sx n="128" d="100"/>
          <a:sy n="128" d="100"/>
        </p:scale>
        <p:origin x="520" y="976"/>
      </p:cViewPr>
      <p:guideLst>
        <p:guide pos="3667"/>
        <p:guide orient="horz" pos="2156"/>
        <p:guide pos="35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CmaUsed			49 	</a:t>
            </a:r>
            <a:endParaRPr lang="en-US" altLang="zh-CN"/>
          </a:p>
          <a:p>
            <a:r>
              <a:rPr lang="en-US" altLang="zh-CN"/>
              <a:t>KDrvUsed			0 	(</a:t>
            </a:r>
            <a:r>
              <a:rPr lang="zh-CN" altLang="en-US"/>
              <a:t>维测开关</a:t>
            </a:r>
            <a:r>
              <a:rPr lang="zh-CN" altLang="en-US"/>
              <a:t>未打开</a:t>
            </a:r>
            <a:r>
              <a:rPr lang="en-US" altLang="zh-CN"/>
              <a:t>)	</a:t>
            </a:r>
            <a:endParaRPr lang="en-US" altLang="zh-CN"/>
          </a:p>
          <a:p>
            <a:r>
              <a:rPr lang="en-US" altLang="zh-CN"/>
              <a:t>UdrvUsed - IonTotalUsed - GpuTotalUsed	186</a:t>
            </a:r>
            <a:endParaRPr lang="en-US" altLang="zh-CN"/>
          </a:p>
          <a:p>
            <a:r>
              <a:rPr lang="zh-CN" altLang="en-US"/>
              <a:t>驱动总和</a:t>
            </a:r>
            <a:r>
              <a:rPr lang="en-US" altLang="zh-CN"/>
              <a:t>			235	</a:t>
            </a:r>
            <a:endParaRPr lang="en-US" altLang="zh-CN"/>
          </a:p>
          <a:p>
            <a:r>
              <a:rPr lang="en-US" altLang="zh-CN"/>
              <a:t>GAP			-260	</a:t>
            </a:r>
            <a:endParaRPr lang="en-US" altLang="zh-CN"/>
          </a:p>
          <a:p>
            <a:r>
              <a:rPr lang="zh-CN" altLang="en-US"/>
              <a:t>内核</a:t>
            </a:r>
            <a:r>
              <a:rPr lang="en-US" altLang="zh-CN"/>
              <a:t>+</a:t>
            </a:r>
            <a:r>
              <a:rPr lang="zh-CN" altLang="en-US"/>
              <a:t>驱动</a:t>
            </a:r>
            <a:r>
              <a:rPr lang="en-US" altLang="zh-CN"/>
              <a:t>			1214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CmaUsed			49 	</a:t>
            </a:r>
            <a:endParaRPr lang="en-US" altLang="zh-CN"/>
          </a:p>
          <a:p>
            <a:r>
              <a:rPr lang="en-US" altLang="zh-CN"/>
              <a:t>KDrvUsed			0 	(</a:t>
            </a:r>
            <a:r>
              <a:rPr lang="zh-CN" altLang="en-US"/>
              <a:t>维测开关</a:t>
            </a:r>
            <a:r>
              <a:rPr lang="zh-CN" altLang="en-US"/>
              <a:t>未打开</a:t>
            </a:r>
            <a:r>
              <a:rPr lang="en-US" altLang="zh-CN"/>
              <a:t>)	</a:t>
            </a:r>
            <a:endParaRPr lang="en-US" altLang="zh-CN"/>
          </a:p>
          <a:p>
            <a:r>
              <a:rPr lang="en-US" altLang="zh-CN"/>
              <a:t>UdrvUsed - IonTotalUsed - GpuTotalUsed	186</a:t>
            </a:r>
            <a:endParaRPr lang="en-US" altLang="zh-CN"/>
          </a:p>
          <a:p>
            <a:r>
              <a:rPr lang="zh-CN" altLang="en-US"/>
              <a:t>驱动总和</a:t>
            </a:r>
            <a:r>
              <a:rPr lang="en-US" altLang="zh-CN"/>
              <a:t>			235	</a:t>
            </a:r>
            <a:endParaRPr lang="en-US" altLang="zh-CN"/>
          </a:p>
          <a:p>
            <a:r>
              <a:rPr lang="en-US" altLang="zh-CN"/>
              <a:t>GAP			-260	</a:t>
            </a:r>
            <a:endParaRPr lang="en-US" altLang="zh-CN"/>
          </a:p>
          <a:p>
            <a:r>
              <a:rPr lang="zh-CN" altLang="en-US"/>
              <a:t>内核</a:t>
            </a:r>
            <a:r>
              <a:rPr lang="en-US" altLang="zh-CN"/>
              <a:t>+</a:t>
            </a:r>
            <a:r>
              <a:rPr lang="zh-CN" altLang="en-US"/>
              <a:t>驱动</a:t>
            </a:r>
            <a:r>
              <a:rPr lang="en-US" altLang="zh-CN"/>
              <a:t>			1214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>
            <a:fillRect/>
          </a:stretch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3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9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3.png"/><Relationship Id="rId2" Type="http://schemas.openxmlformats.org/officeDocument/2006/relationships/package" Target="../embeddings/Workbook1.xlsx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20.jpeg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总体对比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381000" y="565785"/>
          <a:ext cx="5252085" cy="3762375"/>
        </p:xfrm>
        <a:graphic>
          <a:graphicData uri="http://schemas.openxmlformats.org/drawingml/2006/table">
            <a:tbl>
              <a:tblPr/>
              <a:tblGrid>
                <a:gridCol w="988060"/>
                <a:gridCol w="3110865"/>
                <a:gridCol w="1153160"/>
              </a:tblGrid>
              <a:tr h="250825">
                <a:tc gridSpan="3"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iPhone 14 Pro Max(6G + 128) iOS16.1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0825">
                <a:tc rowSpan="7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VM_KERN_COUNT_WIRED_</a:t>
                      </a:r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残余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zones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242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Others (wired initial)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218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VM_KERN_MEMORY_STACK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VM_KERN_MEMORY_PTE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689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0825">
                <a:tc rowSpan="6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other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33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com.apple.AGXG15P_A0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com.apple.driver.xxx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353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com.apple.iokit.xxx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495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总和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1184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6617970" y="564515"/>
          <a:ext cx="5161915" cy="5387340"/>
        </p:xfrm>
        <a:graphic>
          <a:graphicData uri="http://schemas.openxmlformats.org/drawingml/2006/table">
            <a:tbl>
              <a:tblPr/>
              <a:tblGrid>
                <a:gridCol w="937895"/>
                <a:gridCol w="3215640"/>
                <a:gridCol w="1008380"/>
              </a:tblGrid>
              <a:tr h="252000">
                <a:tc gridSpan="3"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CHZ(8G + 256) B138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SP18_6.0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2000">
                <a:tc rowSpan="12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内核服务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235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SUnreclaim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274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KObject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DireAllocate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26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anon_swap_meta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VmemmapRsvTotal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122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ActvStack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60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PageTable</a:t>
                      </a:r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s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197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979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CHZ 6G + 128G </a:t>
                      </a:r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占用测算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51.5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GAP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238.5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2000">
                <a:tc rowSpan="7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CmaUsed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LDKSlabUnreclaim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101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UDrvUsed - VmemmapRsvTotal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IonTotalUsed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722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GpuTotalUsed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715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1651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200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总和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驱动（含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ION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GPU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2630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81000" y="4460240"/>
            <a:ext cx="5311140" cy="2451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</a:t>
            </a:r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仅具备 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iPhone 14 </a:t>
            </a:r>
            <a:r>
              <a:rPr lang="en-US" altLang="zh-CN" sz="1000">
                <a:solidFill>
                  <a:srgbClr val="000000"/>
                </a:solidFill>
                <a:latin typeface="微软雅黑" charset="0"/>
                <a:ea typeface="微软雅黑" charset="0"/>
                <a:sym typeface="+mn-ea"/>
              </a:rPr>
              <a:t>Pro Max 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6G+</a:t>
            </a:r>
            <a:r>
              <a:rPr lang="en-US" altLang="zh-CN" sz="1000">
                <a:solidFill>
                  <a:srgbClr val="000000"/>
                </a:solidFill>
                <a:latin typeface="微软雅黑" charset="0"/>
                <a:ea typeface="微软雅黑" charset="0"/>
                <a:sym typeface="+mn-ea"/>
              </a:rPr>
              <a:t>128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G </a:t>
            </a:r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可越狱，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</a:t>
            </a:r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版本为 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16.1。</a:t>
            </a:r>
            <a:endParaRPr lang="en-US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53200" y="5864225"/>
            <a:ext cx="5004435" cy="86042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驱动统计包含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Ion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GPU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；</a:t>
            </a:r>
            <a:endParaRPr lang="en-US" altLang="zh-CN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CHZ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256G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相比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128G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，元数据增加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156K / 1G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×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️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(256-128) G = 19.5M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；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存储管理开销跟随纪要。</a:t>
            </a:r>
            <a:endParaRPr lang="en-US" altLang="zh-CN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iPhone 14 Pro Max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6G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相比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CHZ 8G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VMEMMAP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管理开销更小：按每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4K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内存页对应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64 Byte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结构体折算，管理开销减少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64B/4KB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×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(8-6)G=32M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zh-CN" altLang="en-US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46075" y="4829810"/>
            <a:ext cx="534606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总体对比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381000" y="565785"/>
          <a:ext cx="5252085" cy="3762375"/>
        </p:xfrm>
        <a:graphic>
          <a:graphicData uri="http://schemas.openxmlformats.org/drawingml/2006/table">
            <a:tbl>
              <a:tblPr/>
              <a:tblGrid>
                <a:gridCol w="988060"/>
                <a:gridCol w="3110865"/>
                <a:gridCol w="1153160"/>
              </a:tblGrid>
              <a:tr h="250825">
                <a:tc gridSpan="3"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iPhone 14 Pro Max(6G + 128) iOS16.1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0825">
                <a:tc rowSpan="7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VM_KERN_COUNT_WIRED_</a:t>
                      </a:r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残余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zones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242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Others (wired initial)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218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VM_KERN_MEMORY_STACK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VM_KERN_MEMORY_PTE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689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0825">
                <a:tc rowSpan="6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other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33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com.apple.AGXG15P_A0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com.apple.driver.xxx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353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com.apple.iokit.xxx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495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总和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1184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6617970" y="564515"/>
          <a:ext cx="5161915" cy="5387340"/>
        </p:xfrm>
        <a:graphic>
          <a:graphicData uri="http://schemas.openxmlformats.org/drawingml/2006/table">
            <a:tbl>
              <a:tblPr/>
              <a:tblGrid>
                <a:gridCol w="937895"/>
                <a:gridCol w="3215640"/>
                <a:gridCol w="1008380"/>
              </a:tblGrid>
              <a:tr h="252000">
                <a:tc gridSpan="3"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CHZ(8G + 256) B138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SP18_6.0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2000">
                <a:tc rowSpan="12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内核服务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235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SUnreclaim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274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KObject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DireAllocate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26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anon_swap_meta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VmemmapRsvTotal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122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ActvStack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60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PageTables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197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979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CHZ 6G + 128G </a:t>
                      </a:r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占用测算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51.5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GAP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238.5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2000">
                <a:tc rowSpan="6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CmaUsed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KDrvUsed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  0 *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UdrvUsed - IonTotalUsed - GpuTotalUsed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186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   235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 *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GAP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  -260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 *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200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总和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驱动（含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ION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GPU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2630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81000" y="4460240"/>
            <a:ext cx="5311140" cy="2451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</a:t>
            </a:r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仅具备 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iPhone 14 </a:t>
            </a:r>
            <a:r>
              <a:rPr lang="en-US" altLang="zh-CN" sz="1000">
                <a:solidFill>
                  <a:srgbClr val="000000"/>
                </a:solidFill>
                <a:latin typeface="微软雅黑" charset="0"/>
                <a:ea typeface="微软雅黑" charset="0"/>
                <a:sym typeface="+mn-ea"/>
              </a:rPr>
              <a:t>Pro Max 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6G+</a:t>
            </a:r>
            <a:r>
              <a:rPr lang="en-US" altLang="zh-CN" sz="1000">
                <a:solidFill>
                  <a:srgbClr val="000000"/>
                </a:solidFill>
                <a:latin typeface="微软雅黑" charset="0"/>
                <a:ea typeface="微软雅黑" charset="0"/>
                <a:sym typeface="+mn-ea"/>
              </a:rPr>
              <a:t>128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G </a:t>
            </a:r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可越狱，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</a:t>
            </a:r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版本为 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16.1。</a:t>
            </a:r>
            <a:endParaRPr lang="en-US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53200" y="5864225"/>
            <a:ext cx="5004435" cy="86042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驱动统计包含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Ion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GPU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；</a:t>
            </a:r>
            <a:endParaRPr lang="en-US" altLang="zh-CN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CHZ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256G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相比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128G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，元数据增加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156K / 1G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×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️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(256-128) G = 19.5M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；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存储管理开销跟随纪要。</a:t>
            </a:r>
            <a:endParaRPr lang="en-US" altLang="zh-CN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iPhone 14 Pro Max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6G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相比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CHZ 8G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VMEMMAP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管理开销更小：按每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4K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内存页对应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64 Byte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结构体折算，管理开销减少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64B/4KB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×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(8-6)G=32M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zh-CN" altLang="en-US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46075" y="4829810"/>
            <a:ext cx="534606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46392" y="5155882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单框架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驱动内存</a:t>
            </a:r>
            <a:endParaRPr lang="en-US" altLang="zh-CN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= CMA内存 + UDK驱动内存占用 + LDK驱动内存占用 </a:t>
            </a:r>
            <a:endParaRPr lang="en-US" altLang="zh-CN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= CmaUsed + KDrvUsed + (UdrvUsed - IonTotalUsed - GpuTotalUsed)</a:t>
            </a:r>
            <a:endParaRPr lang="en-US" altLang="zh-CN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/>
          <p:nvPr/>
        </p:nvGraphicFramePr>
        <p:xfrm>
          <a:off x="726440" y="4993005"/>
          <a:ext cx="4682675" cy="828675"/>
        </p:xfrm>
        <a:graphic>
          <a:graphicData uri="http://schemas.openxmlformats.org/drawingml/2006/table">
            <a:tbl>
              <a:tblPr/>
              <a:tblGrid>
                <a:gridCol w="1082675"/>
                <a:gridCol w="720000"/>
                <a:gridCol w="720000"/>
                <a:gridCol w="720000"/>
                <a:gridCol w="720000"/>
                <a:gridCol w="720000"/>
              </a:tblGrid>
              <a:tr h="18669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(MB)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</a:rPr>
                        <a:t>压缩前总量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165152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144267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155774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153891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177770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</a:rPr>
                        <a:t>压缩后总量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66255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49599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53667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52311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70430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</a:rPr>
                        <a:t>压缩比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2.50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2.94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2.92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2.95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2.54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938020" y="4731385"/>
            <a:ext cx="1966595" cy="261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iOS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内存压缩比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（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均值为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2.77）</a:t>
            </a:r>
            <a:endParaRPr lang="en-US" altLang="zh-CN" sz="10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820" y="746760"/>
            <a:ext cx="4677410" cy="335343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165" y="746760"/>
            <a:ext cx="4695825" cy="335280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848995" y="4197985"/>
            <a:ext cx="4559935" cy="24511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三方应用推入后台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，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基本上全部压缩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；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前台三方应用压缩率较后台三方应用低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146165" y="4197985"/>
            <a:ext cx="4559935" cy="24511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系统服务压缩率较低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，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但不同系统服务压缩率各不相同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26440" y="5885180"/>
            <a:ext cx="488124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  <a:sym typeface="+mn-ea"/>
              </a:rPr>
              <a:t>内存压缩比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  <a:sym typeface="+mn-ea"/>
              </a:rPr>
              <a:t> =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Pages stored in compressor / Pages occupied by compressor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三方应用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86360" y="5538470"/>
            <a:ext cx="3588385" cy="24511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800" i="1">
                <a:latin typeface="Times New Roman Regular" panose="02020503050405090304" charset="0"/>
                <a:cs typeface="Times New Roman Regular" panose="02020503050405090304" charset="0"/>
              </a:rPr>
              <a:t>* </a:t>
            </a:r>
            <a:r>
              <a:rPr lang="zh-CN" altLang="en-US" sz="800" i="1">
                <a:latin typeface="Times New Roman Regular" panose="02020503050405090304" charset="0"/>
                <a:cs typeface="Times New Roman Regular" panose="02020503050405090304" charset="0"/>
              </a:rPr>
              <a:t>此为根据</a:t>
            </a:r>
            <a:r>
              <a:rPr lang="en-US" altLang="zh-CN" sz="800" i="1">
                <a:latin typeface="Times New Roman Regular" panose="02020503050405090304" charset="0"/>
                <a:cs typeface="Times New Roman Regular" panose="02020503050405090304" charset="0"/>
              </a:rPr>
              <a:t>log</a:t>
            </a:r>
            <a:r>
              <a:rPr lang="zh-CN" altLang="en-US" sz="800" i="1">
                <a:latin typeface="Times New Roman Regular" panose="02020503050405090304" charset="0"/>
                <a:cs typeface="Times New Roman Regular" panose="02020503050405090304" charset="0"/>
              </a:rPr>
              <a:t>确定前台的应用</a:t>
            </a:r>
            <a:r>
              <a:rPr lang="en-US" altLang="zh-CN" sz="800" i="1">
                <a:latin typeface="Times New Roman Regular" panose="02020503050405090304" charset="0"/>
                <a:cs typeface="Times New Roman Regular" panose="02020503050405090304" charset="0"/>
              </a:rPr>
              <a:t>，</a:t>
            </a:r>
            <a:r>
              <a:rPr lang="zh-CN" altLang="en-US" sz="800" i="1">
                <a:latin typeface="Times New Roman Regular" panose="02020503050405090304" charset="0"/>
                <a:cs typeface="Times New Roman Regular" panose="02020503050405090304" charset="0"/>
              </a:rPr>
              <a:t>并按照其在</a:t>
            </a:r>
            <a:r>
              <a:rPr lang="zh-CN" altLang="en-US" sz="800" i="1">
                <a:latin typeface="Times New Roman Regular" panose="02020503050405090304" charset="0"/>
                <a:cs typeface="Times New Roman Regular" panose="02020503050405090304" charset="0"/>
              </a:rPr>
              <a:t>前台的采样点筛选出来取</a:t>
            </a:r>
            <a:r>
              <a:rPr lang="zh-CN" altLang="en-US" sz="800" b="1" i="1">
                <a:latin typeface="Times New Roman Regular" panose="02020503050405090304" charset="0"/>
                <a:cs typeface="Times New Roman Regular" panose="02020503050405090304" charset="0"/>
              </a:rPr>
              <a:t>平均值</a:t>
            </a:r>
            <a:r>
              <a:rPr lang="en-US" altLang="zh-CN" sz="800" i="1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23355" y="5569585"/>
            <a:ext cx="39243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8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* </a:t>
            </a:r>
            <a:r>
              <a:rPr lang="zh-CN" altLang="en-US" sz="8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三方应用中由于有长尾数据</a:t>
            </a:r>
            <a:r>
              <a:rPr lang="en-US" altLang="zh-CN" sz="8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，</a:t>
            </a:r>
            <a:r>
              <a:rPr lang="zh-CN" altLang="en-US" sz="8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所以把低于</a:t>
            </a:r>
            <a:r>
              <a:rPr lang="en-US" altLang="zh-CN" sz="8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40M</a:t>
            </a:r>
            <a:r>
              <a:rPr lang="zh-CN" altLang="en-US" sz="8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的数据去掉后进行</a:t>
            </a:r>
            <a:r>
              <a:rPr lang="zh-CN" altLang="en-US" sz="8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取平均值排序</a:t>
            </a:r>
            <a:endParaRPr lang="zh-CN" altLang="en-US" sz="800" i="1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2615" y="736600"/>
            <a:ext cx="6513732" cy="2880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600"/>
            <a:ext cx="566822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系统应用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" y="1051560"/>
            <a:ext cx="5637232" cy="324000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4" name="文本框 13"/>
          <p:cNvSpPr txBox="1"/>
          <p:nvPr/>
        </p:nvSpPr>
        <p:spPr>
          <a:xfrm>
            <a:off x="297815" y="4354830"/>
            <a:ext cx="5636895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优先级高、高频交互的系统服务（如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 SpringBoard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、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mediaserve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rd、backboardd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），享受低压缩率，确保系统丝滑。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低频后台、处于休眠的服务，面临极高压缩率，被释放空间。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动态模型中系统服务的内存大小为时长的加权平均值。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630" y="962025"/>
            <a:ext cx="3509645" cy="20669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文本框 3"/>
          <p:cNvSpPr txBox="1"/>
          <p:nvPr/>
        </p:nvSpPr>
        <p:spPr>
          <a:xfrm>
            <a:off x="214630" y="3582035"/>
            <a:ext cx="3252470" cy="286131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优先级范围</a:t>
            </a:r>
            <a:endParaRPr lang="zh-CN" altLang="en-US" sz="10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最高 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210 — ReportCrash / sharktrace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200 — notifyd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（通知系统）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190 — CommCenter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（蜂窝通信）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180 —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系统核心（大多数守护进程）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160 — SpringBoard / backboardd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140 —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大多数系统服务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40 —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普通进程默认值最低 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20 — IOAccelMemoryInfoCollector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内存限制前几名</a:t>
            </a:r>
            <a:r>
              <a:rPr lang="en-US" sz="1000">
                <a:latin typeface="Times New Roman Regular" panose="02020503050405090304" charset="0"/>
                <a:cs typeface="Times New Roman Regular" panose="02020503050405090304" charset="0"/>
              </a:rPr>
              <a:t>:</a:t>
            </a:r>
            <a:endParaRPr 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mediaserverd 2960 MB 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mediaplaybackd 1600 MB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WebKit WebContent 1536 MB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avconferenced 1024 MB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48705" y="793750"/>
            <a:ext cx="5854700" cy="549275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900"/>
              <a:t>内存相关</a:t>
            </a:r>
            <a:r>
              <a:rPr lang="en-US" altLang="zh-CN" sz="900"/>
              <a:t>：</a:t>
            </a:r>
            <a:endParaRPr lang="en-US" altLang="zh-CN" sz="900"/>
          </a:p>
          <a:p>
            <a:pPr>
              <a:lnSpc>
                <a:spcPct val="150000"/>
              </a:lnSpc>
            </a:pPr>
            <a:r>
              <a:rPr lang="en-US" altLang="zh-CN" sz="900"/>
              <a:t>ActiveSoftMemoryLimit — </a:t>
            </a:r>
            <a:r>
              <a:rPr lang="zh-CN" altLang="en-US" sz="900"/>
              <a:t>进程前台运行时的</a:t>
            </a:r>
            <a:r>
              <a:rPr lang="zh-CN" altLang="en-US" sz="900" b="1"/>
              <a:t>软内存</a:t>
            </a:r>
            <a:r>
              <a:rPr lang="zh-CN" altLang="en-US" sz="900"/>
              <a:t>上限（</a:t>
            </a:r>
            <a:r>
              <a:rPr lang="en-US" altLang="zh-CN" sz="900"/>
              <a:t>MB</a:t>
            </a:r>
            <a:r>
              <a:rPr lang="zh-CN" altLang="en-US" sz="900"/>
              <a:t>），超过会触发 </a:t>
            </a:r>
            <a:r>
              <a:rPr lang="en-US" altLang="zh-CN" sz="900"/>
              <a:t>pressured-exit </a:t>
            </a:r>
            <a:r>
              <a:rPr lang="zh-CN" altLang="en-US" sz="900"/>
              <a:t>警告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ActiveHardMemoryLimit — </a:t>
            </a:r>
            <a:r>
              <a:rPr lang="zh-CN" altLang="en-US" sz="900"/>
              <a:t>前台运行时的</a:t>
            </a:r>
            <a:r>
              <a:rPr lang="zh-CN" altLang="en-US" sz="900" b="1"/>
              <a:t>硬内存</a:t>
            </a:r>
            <a:r>
              <a:rPr lang="zh-CN" altLang="en-US" sz="900"/>
              <a:t>上限，超过直接被 </a:t>
            </a:r>
            <a:r>
              <a:rPr lang="en-US" altLang="zh-CN" sz="900"/>
              <a:t>jetsam </a:t>
            </a:r>
            <a:r>
              <a:rPr lang="zh-CN" altLang="en-US" sz="900"/>
              <a:t>杀死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InactiveSoftMemoryLimit — </a:t>
            </a:r>
            <a:r>
              <a:rPr lang="zh-CN" altLang="en-US" sz="900"/>
              <a:t>后台时的</a:t>
            </a:r>
            <a:r>
              <a:rPr lang="zh-CN" altLang="en-US" sz="900" b="1"/>
              <a:t>软内存</a:t>
            </a:r>
            <a:r>
              <a:rPr lang="zh-CN" altLang="en-US" sz="900"/>
              <a:t>上限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InactiveHardMemoryLimit — </a:t>
            </a:r>
            <a:r>
              <a:rPr lang="zh-CN" altLang="en-US" sz="900"/>
              <a:t>后台时的</a:t>
            </a:r>
            <a:r>
              <a:rPr lang="zh-CN" altLang="en-US" sz="900" b="1"/>
              <a:t>硬内存</a:t>
            </a:r>
            <a:r>
              <a:rPr lang="zh-CN" altLang="en-US" sz="900"/>
              <a:t>上限，超过直接杀死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-1 </a:t>
            </a:r>
            <a:r>
              <a:rPr lang="zh-CN" altLang="en-US" sz="900"/>
              <a:t>代表</a:t>
            </a:r>
            <a:r>
              <a:rPr lang="en-US" altLang="zh-CN" sz="900"/>
              <a:t>"</a:t>
            </a:r>
            <a:r>
              <a:rPr lang="zh-CN" altLang="en-US" sz="900"/>
              <a:t>无限制</a:t>
            </a:r>
            <a:r>
              <a:rPr lang="en-US" altLang="zh-CN" sz="900"/>
              <a:t>"</a:t>
            </a:r>
            <a:r>
              <a:rPr lang="zh-CN" altLang="en-US" sz="900"/>
              <a:t>，通常赋给不可被杀死的关键进程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endParaRPr lang="zh-CN" altLang="en-US" sz="900"/>
          </a:p>
          <a:p>
            <a:pPr>
              <a:lnSpc>
                <a:spcPct val="150000"/>
              </a:lnSpc>
            </a:pPr>
            <a:r>
              <a:rPr lang="en-US" altLang="zh-CN" sz="900"/>
              <a:t>Jetsam</a:t>
            </a:r>
            <a:r>
              <a:rPr lang="zh-CN" altLang="en-US" sz="900"/>
              <a:t>查杀优先级</a:t>
            </a:r>
            <a:r>
              <a:rPr lang="en-US" altLang="zh-CN" sz="900"/>
              <a:t>：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JetsamPriority — </a:t>
            </a:r>
            <a:r>
              <a:rPr lang="zh-CN" altLang="en-US" sz="900"/>
              <a:t>数字越大越不易被杀死，范围 </a:t>
            </a:r>
            <a:r>
              <a:rPr lang="en-US" altLang="zh-CN" sz="900"/>
              <a:t>20</a:t>
            </a:r>
            <a:r>
              <a:rPr lang="zh-CN" altLang="en-US" sz="900"/>
              <a:t>～</a:t>
            </a:r>
            <a:r>
              <a:rPr lang="en-US" altLang="zh-CN" sz="900"/>
              <a:t>210</a:t>
            </a:r>
            <a:endParaRPr lang="en-US" altLang="zh-CN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endParaRPr lang="en-US" altLang="zh-CN" sz="900"/>
          </a:p>
          <a:p>
            <a:pPr>
              <a:lnSpc>
                <a:spcPct val="150000"/>
              </a:lnSpc>
            </a:pPr>
            <a:r>
              <a:rPr lang="zh-CN" altLang="en-US" sz="900"/>
              <a:t>资源限制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ThreadLimit — </a:t>
            </a:r>
            <a:r>
              <a:rPr lang="zh-CN" altLang="en-US" sz="900"/>
              <a:t>最大线程数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SoftPortLimit / HardPortLimit — Mach port </a:t>
            </a:r>
            <a:r>
              <a:rPr lang="zh-CN" altLang="en-US" sz="900"/>
              <a:t>数量限制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LogicalWritesLimit — </a:t>
            </a:r>
            <a:r>
              <a:rPr lang="zh-CN" altLang="en-US" sz="900"/>
              <a:t>写入磁盘的逻辑字节上限（</a:t>
            </a:r>
            <a:r>
              <a:rPr lang="en-US" altLang="zh-CN" sz="900"/>
              <a:t>KB/s</a:t>
            </a:r>
            <a:r>
              <a:rPr lang="zh-CN" altLang="en-US" sz="900"/>
              <a:t>）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EnablePressuredExit — </a:t>
            </a:r>
            <a:r>
              <a:rPr lang="zh-CN" altLang="en-US" sz="900"/>
              <a:t>是否允许在内存压力下主动退出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EnergyEfficiencyMode — </a:t>
            </a:r>
            <a:r>
              <a:rPr lang="zh-CN" altLang="en-US" sz="900"/>
              <a:t>能效模式，</a:t>
            </a:r>
            <a:r>
              <a:rPr lang="en-US" altLang="zh-CN" sz="900"/>
              <a:t>Efficient</a:t>
            </a:r>
            <a:r>
              <a:rPr lang="zh-CN" altLang="en-US" sz="900"/>
              <a:t>（节能）或 </a:t>
            </a:r>
            <a:r>
              <a:rPr lang="en-US" altLang="zh-CN" sz="900"/>
              <a:t>UserInterface</a:t>
            </a:r>
            <a:r>
              <a:rPr lang="zh-CN" altLang="en-US" sz="900"/>
              <a:t>（交互优先）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AlwaysSIGTERMOnShutdown — </a:t>
            </a:r>
            <a:r>
              <a:rPr lang="zh-CN" altLang="en-US" sz="900"/>
              <a:t>关机时总是发 </a:t>
            </a:r>
            <a:r>
              <a:rPr lang="en-US" altLang="zh-CN" sz="900"/>
              <a:t>SIGTERM </a:t>
            </a:r>
            <a:r>
              <a:rPr lang="zh-CN" altLang="en-US" sz="900"/>
              <a:t>而非 </a:t>
            </a:r>
            <a:r>
              <a:rPr lang="en-US" altLang="zh-CN" sz="900"/>
              <a:t>SIGKILL</a:t>
            </a:r>
            <a:endParaRPr lang="en-US" altLang="zh-CN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MallocNanoZone / MallocSpaceEfficient — </a:t>
            </a:r>
            <a:r>
              <a:rPr lang="zh-CN" altLang="en-US" sz="900"/>
              <a:t>内存分配器行为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endParaRPr lang="zh-CN" altLang="en-US" sz="900"/>
          </a:p>
          <a:p>
            <a:pPr>
              <a:lnSpc>
                <a:spcPct val="150000"/>
              </a:lnSpc>
            </a:pPr>
            <a:r>
              <a:rPr lang="zh-CN" altLang="en-US" sz="900"/>
              <a:t>仅 </a:t>
            </a:r>
            <a:r>
              <a:rPr lang="en-US" altLang="zh-CN" sz="900"/>
              <a:t>Extension </a:t>
            </a:r>
            <a:r>
              <a:rPr lang="zh-CN" altLang="en-US" sz="900"/>
              <a:t>扩展类有的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PosterProvider_* — </a:t>
            </a:r>
            <a:r>
              <a:rPr lang="zh-CN" altLang="en-US" sz="900"/>
              <a:t>锁屏小部件（海报组件）的渲染</a:t>
            </a:r>
            <a:r>
              <a:rPr lang="en-US" altLang="zh-CN" sz="900"/>
              <a:t>/</a:t>
            </a:r>
            <a:r>
              <a:rPr lang="zh-CN" altLang="en-US" sz="900"/>
              <a:t>编辑</a:t>
            </a:r>
            <a:r>
              <a:rPr lang="en-US" altLang="zh-CN" sz="900"/>
              <a:t>/</a:t>
            </a:r>
            <a:r>
              <a:rPr lang="zh-CN" altLang="en-US" sz="900"/>
              <a:t>更新内存配额，针对 </a:t>
            </a:r>
            <a:r>
              <a:rPr lang="en-US" altLang="zh-CN" sz="900"/>
              <a:t>iOS 17 </a:t>
            </a:r>
            <a:r>
              <a:rPr lang="zh-CN" altLang="en-US" sz="900"/>
              <a:t>新的 </a:t>
            </a:r>
            <a:r>
              <a:rPr lang="en-US" altLang="zh-CN" sz="900"/>
              <a:t>poster </a:t>
            </a:r>
            <a:r>
              <a:rPr lang="zh-CN" altLang="en-US" sz="900"/>
              <a:t>壁纸功能</a:t>
            </a:r>
            <a:endParaRPr lang="zh-CN" altLang="en-US" sz="900"/>
          </a:p>
          <a:p>
            <a:pPr>
              <a:lnSpc>
                <a:spcPct val="150000"/>
              </a:lnSpc>
            </a:pPr>
            <a:endParaRPr lang="zh-CN" altLang="en-US" sz="900"/>
          </a:p>
          <a:p>
            <a:pPr>
              <a:lnSpc>
                <a:spcPct val="150000"/>
              </a:lnSpc>
            </a:pPr>
            <a:r>
              <a:rPr lang="zh-CN" altLang="en-US" sz="900"/>
              <a:t>仅 </a:t>
            </a:r>
            <a:r>
              <a:rPr lang="en-US" altLang="zh-CN" sz="900"/>
              <a:t>System </a:t>
            </a:r>
            <a:r>
              <a:rPr lang="zh-CN" altLang="en-US" sz="900"/>
              <a:t>类有的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KernelHighWaterMark — </a:t>
            </a:r>
            <a:r>
              <a:rPr lang="zh-CN" altLang="en-US" sz="900"/>
              <a:t>内核内存水位线（</a:t>
            </a:r>
            <a:r>
              <a:rPr lang="en-US" altLang="zh-CN" sz="900"/>
              <a:t>80 MB</a:t>
            </a:r>
            <a:r>
              <a:rPr lang="zh-CN" altLang="en-US" sz="900"/>
              <a:t>）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DarkBootSystemUIHardLimit — </a:t>
            </a:r>
            <a:r>
              <a:rPr lang="zh-CN" altLang="en-US" sz="900"/>
              <a:t>暗启动时 </a:t>
            </a:r>
            <a:r>
              <a:rPr lang="en-US" altLang="zh-CN" sz="900"/>
              <a:t>SystemUI </a:t>
            </a:r>
            <a:r>
              <a:rPr lang="zh-CN" altLang="en-US" sz="900"/>
              <a:t>的内存硬限（</a:t>
            </a:r>
            <a:r>
              <a:rPr lang="en-US" altLang="zh-CN" sz="900"/>
              <a:t>140 MB</a:t>
            </a:r>
            <a:r>
              <a:rPr lang="zh-CN" altLang="en-US" sz="900"/>
              <a:t>）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UserReclaimableLimit — </a:t>
            </a:r>
            <a:r>
              <a:rPr lang="zh-CN" altLang="en-US" sz="900"/>
              <a:t>用户可回收内存阈值（</a:t>
            </a:r>
            <a:r>
              <a:rPr lang="en-US" altLang="zh-CN" sz="900"/>
              <a:t>70 MB</a:t>
            </a:r>
            <a:r>
              <a:rPr lang="zh-CN" altLang="en-US" sz="900"/>
              <a:t>）</a:t>
            </a:r>
            <a:endParaRPr lang="zh-CN" altLang="en-US" sz="900"/>
          </a:p>
        </p:txBody>
      </p:sp>
      <p:sp>
        <p:nvSpPr>
          <p:cNvPr id="11" name="文本框 10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com.apple.jetsamproperties.D74.plist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14630" y="605790"/>
            <a:ext cx="519112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越狱iphone14 promax上 /System/Library/LaunchDaemons/com.apple.jetsamproperties.D74.plist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3995" y="3028950"/>
            <a:ext cx="593471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内核 &gt; 系统守护进程（Daemon） &gt; 系统 App(SystemApp) &gt; XPC 服务(SystemXPCService  XPCService) &gt; 扩展(Extension) &gt; 普通 App(App)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60190" y="4556760"/>
          <a:ext cx="1345565" cy="1345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2" imgW="1524000" imgH="1524000" progId="Excel.Sheet.12">
                  <p:embed/>
                </p:oleObj>
              </mc:Choice>
              <mc:Fallback>
                <p:oleObj name="" showAsIcon="1" r:id="rId2" imgW="1524000" imgH="1524000" progId="Excel.Sheet.12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60190" y="4556760"/>
                        <a:ext cx="1345565" cy="1345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Instruments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里面的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real-mem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含义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06375" y="795655"/>
          <a:ext cx="6491605" cy="1152000"/>
        </p:xfrm>
        <a:graphic>
          <a:graphicData uri="http://schemas.openxmlformats.org/drawingml/2006/table">
            <a:tbl>
              <a:tblPr/>
              <a:tblGrid>
                <a:gridCol w="2228850"/>
                <a:gridCol w="2625725"/>
                <a:gridCol w="846455"/>
                <a:gridCol w="790575"/>
              </a:tblGrid>
              <a:tr h="288000"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文件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采集工具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单位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记录数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PerformanceDynamic_..._res.xlsx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xctrace</a:t>
                      </a:r>
                      <a:r>
                        <a:rPr lang="zh-CN" altLang="en-US" sz="1100"/>
                        <a:t>（</a:t>
                      </a:r>
                      <a:r>
                        <a:rPr lang="en-US" altLang="zh-CN" sz="1100"/>
                        <a:t>Activity Monitor </a:t>
                      </a:r>
                      <a:r>
                        <a:rPr lang="zh-CN" altLang="en-US" sz="1100"/>
                        <a:t>方式）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bytes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7,307</a:t>
                      </a:r>
                      <a:r>
                        <a:rPr lang="zh-CN" altLang="en-US" sz="1100"/>
                        <a:t>行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footprint_all.xlsx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footprint </a:t>
                      </a:r>
                      <a:r>
                        <a:rPr lang="zh-CN" altLang="en-US" sz="1100"/>
                        <a:t>命令（</a:t>
                      </a:r>
                      <a:r>
                        <a:rPr lang="en-US" altLang="zh-CN" sz="1100"/>
                        <a:t>json</a:t>
                      </a:r>
                      <a:r>
                        <a:rPr lang="zh-CN" altLang="en-US" sz="1100"/>
                        <a:t>版）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MB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5,096</a:t>
                      </a:r>
                      <a:r>
                        <a:rPr lang="zh-CN" altLang="en-US" sz="1100"/>
                        <a:t>行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res_summary.xlsx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resident_mem_ios</a:t>
                      </a:r>
                      <a:r>
                        <a:rPr lang="zh-CN" altLang="en-US" sz="1100"/>
                        <a:t>程序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bytes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5,103</a:t>
                      </a:r>
                      <a:r>
                        <a:rPr lang="zh-CN" altLang="en-US" sz="1100"/>
                        <a:t>行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06375" y="2042160"/>
            <a:ext cx="6410325" cy="378460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 b="1"/>
              <a:t>Instruments</a:t>
            </a:r>
            <a:r>
              <a:rPr lang="zh-CN" altLang="en-US" sz="1000" b="1"/>
              <a:t>里面</a:t>
            </a:r>
            <a:endParaRPr lang="zh-CN" altLang="en-US" sz="1000" b="1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 b="1"/>
              <a:t>1.</a:t>
            </a:r>
            <a:r>
              <a:rPr lang="en-US" altLang="zh-CN" sz="1000" b="1">
                <a:solidFill>
                  <a:srgbClr val="FF0000"/>
                </a:solidFill>
              </a:rPr>
              <a:t>M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emory: </a:t>
            </a:r>
            <a:r>
              <a:rPr lang="en-US" altLang="zh-CN" sz="1000" b="1">
                <a:solidFill>
                  <a:schemeClr val="tx1"/>
                </a:solidFill>
              </a:rPr>
              <a:t>memory-physical-footprint</a:t>
            </a:r>
            <a:r>
              <a:rPr lang="en-US" altLang="zh-CN" sz="1000" b="1"/>
              <a:t> (</a:t>
            </a:r>
            <a:r>
              <a:rPr lang="zh-CN" altLang="en-US" sz="1000" b="1"/>
              <a:t>物理内存足迹</a:t>
            </a:r>
            <a:r>
              <a:rPr lang="en-US" altLang="zh-CN" sz="1000" b="1"/>
              <a:t>)</a:t>
            </a:r>
            <a:endParaRPr lang="en-US" altLang="zh-CN" sz="1000" b="1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zh-CN" altLang="en-US" sz="1000"/>
              <a:t>在 </a:t>
            </a:r>
            <a:r>
              <a:rPr lang="en-US" altLang="zh-CN" sz="1000"/>
              <a:t>res_summary.xlsx </a:t>
            </a:r>
            <a:r>
              <a:rPr lang="zh-CN" altLang="en-US" sz="1000"/>
              <a:t>中：等同于 </a:t>
            </a:r>
            <a:r>
              <a:rPr lang="en-US" altLang="zh-CN" sz="1000">
                <a:solidFill>
                  <a:srgbClr val="FF0000"/>
                </a:solidFill>
              </a:rPr>
              <a:t>footprint</a:t>
            </a:r>
            <a:r>
              <a:rPr lang="en-US" altLang="zh-CN" sz="1000"/>
              <a:t> </a:t>
            </a:r>
            <a:r>
              <a:rPr lang="zh-CN" altLang="en-US" sz="1000"/>
              <a:t>字段。</a:t>
            </a:r>
            <a:endParaRPr lang="zh-CN" altLang="en-US" sz="1000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zh-CN" altLang="en-US" sz="1000"/>
              <a:t>在 </a:t>
            </a:r>
            <a:r>
              <a:rPr lang="en-US" altLang="zh-CN" sz="1000"/>
              <a:t>footprint_all.xlsx </a:t>
            </a:r>
            <a:r>
              <a:rPr lang="zh-CN" altLang="en-US" sz="1000"/>
              <a:t>中：对应 </a:t>
            </a:r>
            <a:r>
              <a:rPr lang="en-US" altLang="zh-CN" sz="1000">
                <a:solidFill>
                  <a:srgbClr val="FF0000"/>
                </a:solidFill>
              </a:rPr>
              <a:t>footprint</a:t>
            </a:r>
            <a:r>
              <a:rPr lang="zh-CN" altLang="en-US" sz="1000"/>
              <a:t>（</a:t>
            </a:r>
            <a:r>
              <a:rPr lang="en-US" altLang="zh-CN" sz="1000"/>
              <a:t>MB</a:t>
            </a:r>
            <a:r>
              <a:rPr lang="zh-CN" altLang="en-US" sz="1000"/>
              <a:t>） 字段。。</a:t>
            </a:r>
            <a:endParaRPr lang="zh-CN" altLang="en-US" sz="1000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en-US" altLang="zh-CN" sz="1000" b="1"/>
              <a:t>2.</a:t>
            </a:r>
            <a:r>
              <a:rPr lang="en-US" altLang="zh-CN" sz="1000" b="1">
                <a:solidFill>
                  <a:srgbClr val="FF0000"/>
                </a:solidFill>
              </a:rPr>
              <a:t>Real 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M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em: </a:t>
            </a:r>
            <a:r>
              <a:rPr lang="en-US" altLang="zh-CN" sz="1000" b="1">
                <a:solidFill>
                  <a:schemeClr val="tx1"/>
                </a:solidFill>
              </a:rPr>
              <a:t>memory-real</a:t>
            </a:r>
            <a:r>
              <a:rPr lang="en-US" altLang="zh-CN" sz="1000" b="1"/>
              <a:t> (</a:t>
            </a:r>
            <a:r>
              <a:rPr lang="zh-CN" altLang="en-US" sz="1000" b="1"/>
              <a:t>实际使用的物理内存，即</a:t>
            </a:r>
            <a:r>
              <a:rPr lang="en-US" altLang="zh-CN" sz="1000" b="1"/>
              <a:t> RSS - Resident Set Size)</a:t>
            </a:r>
            <a:endParaRPr lang="en-US" altLang="zh-CN" sz="1000" b="1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zh-CN" altLang="en-US" sz="1000"/>
              <a:t>在</a:t>
            </a:r>
            <a:r>
              <a:rPr lang="en-US" altLang="zh-CN" sz="1000"/>
              <a:t> res_summary.xlsx </a:t>
            </a:r>
            <a:r>
              <a:rPr lang="zh-CN" altLang="en-US" sz="1000"/>
              <a:t>中：完全等于</a:t>
            </a:r>
            <a:r>
              <a:rPr lang="en-US" altLang="zh-CN" sz="1000"/>
              <a:t> </a:t>
            </a:r>
            <a:r>
              <a:rPr lang="en-US" altLang="zh-CN" sz="1000">
                <a:solidFill>
                  <a:srgbClr val="FF0000"/>
                </a:solidFill>
              </a:rPr>
              <a:t>resident_size</a:t>
            </a:r>
            <a:r>
              <a:rPr lang="en-US" altLang="zh-CN" sz="1000"/>
              <a:t> </a:t>
            </a:r>
            <a:r>
              <a:rPr lang="zh-CN" altLang="en-US" sz="1000"/>
              <a:t>字段。数值分毫不差，单位为</a:t>
            </a:r>
            <a:r>
              <a:rPr lang="en-US" altLang="zh-CN" sz="1000"/>
              <a:t> </a:t>
            </a:r>
            <a:r>
              <a:rPr lang="zh-CN" altLang="en-US" sz="1000"/>
              <a:t>字节</a:t>
            </a:r>
            <a:r>
              <a:rPr lang="en-US" altLang="zh-CN" sz="1000"/>
              <a:t> (Bytes)</a:t>
            </a:r>
            <a:r>
              <a:rPr lang="zh-CN" altLang="en-US" sz="1000"/>
              <a:t>。</a:t>
            </a:r>
            <a:endParaRPr lang="zh-CN" altLang="en-US" sz="1000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zh-CN" altLang="en-US" sz="1000"/>
              <a:t>在</a:t>
            </a:r>
            <a:r>
              <a:rPr lang="en-US" altLang="zh-CN" sz="1000"/>
              <a:t> footprint_all.xlsx </a:t>
            </a:r>
            <a:r>
              <a:rPr lang="zh-CN" altLang="en-US" sz="1000"/>
              <a:t>中：宏观应该</a:t>
            </a:r>
            <a:r>
              <a:rPr lang="zh-CN" altLang="en-US" sz="1000">
                <a:sym typeface="+mn-ea"/>
              </a:rPr>
              <a:t>等于</a:t>
            </a:r>
            <a:r>
              <a:rPr lang="en-US" altLang="zh-CN" sz="1000"/>
              <a:t> Dirty(MB) + Clean(MB) </a:t>
            </a:r>
            <a:r>
              <a:rPr lang="zh-CN" altLang="en-US" sz="1000"/>
              <a:t>等长期驻留在</a:t>
            </a:r>
            <a:r>
              <a:rPr lang="en-US" altLang="zh-CN" sz="1000"/>
              <a:t> DRAM </a:t>
            </a:r>
            <a:r>
              <a:rPr lang="zh-CN" altLang="en-US" sz="1000"/>
              <a:t>中的部分总和。</a:t>
            </a:r>
            <a:endParaRPr lang="zh-CN" altLang="en-US" sz="1000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endParaRPr lang="zh-CN" altLang="en-US" sz="1000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en-US" altLang="zh-CN" sz="1000" b="1"/>
              <a:t>3.</a:t>
            </a:r>
            <a:r>
              <a:rPr lang="en-US" altLang="zh-CN" sz="1000" b="1">
                <a:solidFill>
                  <a:srgbClr val="FF0000"/>
                </a:solidFill>
              </a:rPr>
              <a:t>Compressed 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Memory</a:t>
            </a:r>
            <a:r>
              <a:rPr lang="en-US" altLang="zh-CN" sz="1000" b="1"/>
              <a:t>(</a:t>
            </a:r>
            <a:r>
              <a:rPr lang="zh-CN" altLang="en-US" sz="1000" b="1"/>
              <a:t>压缩内存</a:t>
            </a:r>
            <a:r>
              <a:rPr lang="en-US" altLang="zh-CN" sz="1000" b="1"/>
              <a:t>)</a:t>
            </a:r>
            <a:endParaRPr lang="en-US" altLang="zh-CN" sz="1000" b="1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zh-CN" altLang="en-US" sz="1000"/>
              <a:t>在</a:t>
            </a:r>
            <a:r>
              <a:rPr lang="en-US" altLang="zh-CN" sz="1000"/>
              <a:t> footprint_all.xlsx </a:t>
            </a:r>
            <a:r>
              <a:rPr lang="zh-CN" altLang="en-US" sz="1000"/>
              <a:t>中：主要对应</a:t>
            </a:r>
            <a:r>
              <a:rPr lang="en-US" altLang="zh-CN" sz="1000"/>
              <a:t> Swapped(MB) </a:t>
            </a:r>
            <a:r>
              <a:rPr lang="zh-CN" altLang="en-US" sz="1000"/>
              <a:t>字段。因为</a:t>
            </a:r>
            <a:r>
              <a:rPr lang="en-US" altLang="zh-CN" sz="1000"/>
              <a:t> iOS </a:t>
            </a:r>
            <a:r>
              <a:rPr lang="zh-CN" altLang="en-US" sz="1000"/>
              <a:t>没有传统的磁盘交换区，苹果通常使用</a:t>
            </a:r>
            <a:r>
              <a:rPr lang="en-US" altLang="zh-CN" sz="1000"/>
              <a:t> Swapped </a:t>
            </a:r>
            <a:r>
              <a:rPr lang="zh-CN" altLang="en-US" sz="1000"/>
              <a:t>这个词来指代</a:t>
            </a:r>
            <a:r>
              <a:rPr lang="en-US" altLang="zh-CN" sz="1000"/>
              <a:t> </a:t>
            </a:r>
            <a:r>
              <a:rPr lang="zh-CN" altLang="en-US" sz="1000"/>
              <a:t>内存压缩技术。当内存不足时，不活跃的内存会被压缩。</a:t>
            </a:r>
            <a:endParaRPr lang="zh-CN" altLang="en-US" sz="1000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en-US" altLang="zh-CN" sz="1000" b="1"/>
              <a:t>4.</a:t>
            </a:r>
            <a:r>
              <a:rPr lang="en-US" altLang="zh-CN" sz="1000" b="1">
                <a:solidFill>
                  <a:srgbClr val="FF0000"/>
                </a:solidFill>
              </a:rPr>
              <a:t>Purgeable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Memory</a:t>
            </a:r>
            <a:r>
              <a:rPr lang="en-US" altLang="zh-CN" sz="1000" b="1"/>
              <a:t> (</a:t>
            </a:r>
            <a:r>
              <a:rPr lang="zh-CN" altLang="en-US" sz="1000" b="1"/>
              <a:t>可清除内存</a:t>
            </a:r>
            <a:r>
              <a:rPr lang="en-US" altLang="zh-CN" sz="1000" b="1"/>
              <a:t>)</a:t>
            </a:r>
            <a:endParaRPr lang="en-US" altLang="zh-CN" sz="1000" b="1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zh-CN" altLang="en-US" sz="1000"/>
              <a:t>在</a:t>
            </a:r>
            <a:r>
              <a:rPr lang="en-US" altLang="zh-CN" sz="1000"/>
              <a:t> footprint_all.xlsx </a:t>
            </a:r>
            <a:r>
              <a:rPr lang="zh-CN" altLang="en-US" sz="1000"/>
              <a:t>中：直接对应</a:t>
            </a:r>
            <a:r>
              <a:rPr lang="en-US" altLang="zh-CN" sz="1000"/>
              <a:t> Reclaimable(MB) (</a:t>
            </a:r>
            <a:r>
              <a:rPr lang="zh-CN" altLang="en-US" sz="1000"/>
              <a:t>可回收内存</a:t>
            </a:r>
            <a:r>
              <a:rPr lang="en-US" altLang="zh-CN" sz="1000"/>
              <a:t>) </a:t>
            </a:r>
            <a:r>
              <a:rPr lang="zh-CN" altLang="en-US" sz="1000"/>
              <a:t>字段。内存吃紧时可以直接丢弃并重新分配。</a:t>
            </a:r>
            <a:endParaRPr lang="en-US" altLang="zh-CN" sz="1000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en-US" altLang="zh-CN" sz="1000" b="1"/>
              <a:t>5.</a:t>
            </a:r>
            <a:r>
              <a:rPr lang="en-US" altLang="zh-CN" sz="1000" b="1">
                <a:solidFill>
                  <a:srgbClr val="FF0000"/>
                </a:solidFill>
              </a:rPr>
              <a:t>real-private-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memory</a:t>
            </a:r>
            <a:r>
              <a:rPr lang="en-US" altLang="zh-CN" sz="1000" b="1"/>
              <a:t> (</a:t>
            </a:r>
            <a:r>
              <a:rPr lang="zh-CN" altLang="en-US" sz="1000" b="1"/>
              <a:t>私有实际内存</a:t>
            </a:r>
            <a:r>
              <a:rPr lang="en-US" altLang="zh-CN" sz="1000" b="1"/>
              <a:t>) / </a:t>
            </a:r>
            <a:r>
              <a:rPr lang="en-US" altLang="zh-CN" sz="1000" b="1">
                <a:solidFill>
                  <a:srgbClr val="FF0000"/>
                </a:solidFill>
              </a:rPr>
              <a:t>real-shared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-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memory</a:t>
            </a:r>
            <a:r>
              <a:rPr lang="en-US" altLang="zh-CN" sz="1000" b="1"/>
              <a:t> (</a:t>
            </a:r>
            <a:r>
              <a:rPr lang="zh-CN" altLang="en-US" sz="1000" b="1"/>
              <a:t>共享实际内存</a:t>
            </a:r>
            <a:r>
              <a:rPr lang="en-US" altLang="zh-CN" sz="1000" b="1"/>
              <a:t>)</a:t>
            </a:r>
            <a:endParaRPr lang="en-US" altLang="zh-CN" sz="1000" b="1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zh-CN" altLang="en-US" sz="1000"/>
              <a:t>在</a:t>
            </a:r>
            <a:r>
              <a:rPr lang="en-US" altLang="zh-CN" sz="1000"/>
              <a:t> footprint_all.xlsx </a:t>
            </a:r>
            <a:r>
              <a:rPr lang="zh-CN" altLang="en-US" sz="1000"/>
              <a:t>中：</a:t>
            </a:r>
            <a:r>
              <a:rPr lang="en-US" altLang="zh-CN" sz="1000"/>
              <a:t>real-private-</a:t>
            </a:r>
            <a:r>
              <a:rPr lang="en-US" altLang="zh-CN" sz="1000">
                <a:sym typeface="+mn-ea"/>
              </a:rPr>
              <a:t>memory</a:t>
            </a:r>
            <a:r>
              <a:rPr lang="en-US" altLang="zh-CN" sz="1000"/>
              <a:t> </a:t>
            </a:r>
            <a:r>
              <a:rPr lang="zh-CN" altLang="en-US" sz="1000"/>
              <a:t>构成了</a:t>
            </a:r>
            <a:r>
              <a:rPr lang="en-US" altLang="zh-CN" sz="1000"/>
              <a:t> Dirty(MB)</a:t>
            </a:r>
            <a:r>
              <a:rPr lang="zh-CN" altLang="en-US" sz="1000"/>
              <a:t>（脏内存）的核心部分。私有内存无法与其它进程共享，通常是被修改过且必须保存在物理</a:t>
            </a:r>
            <a:r>
              <a:rPr lang="en-US" altLang="zh-CN" sz="1000"/>
              <a:t> RAM </a:t>
            </a:r>
            <a:r>
              <a:rPr lang="zh-CN" altLang="en-US" sz="1000"/>
              <a:t>中的数据。</a:t>
            </a:r>
            <a:endParaRPr lang="zh-CN" altLang="en-US" sz="1000"/>
          </a:p>
        </p:txBody>
      </p:sp>
      <p:sp>
        <p:nvSpPr>
          <p:cNvPr id="7" name="文本框 6"/>
          <p:cNvSpPr txBox="1"/>
          <p:nvPr/>
        </p:nvSpPr>
        <p:spPr>
          <a:xfrm>
            <a:off x="6800215" y="571500"/>
            <a:ext cx="464502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1000" b="1">
                <a:sym typeface="+mn-ea"/>
              </a:rPr>
              <a:t>证明</a:t>
            </a:r>
            <a:r>
              <a:rPr lang="en-US" altLang="zh-CN" sz="1000" b="1">
                <a:sym typeface="+mn-ea"/>
              </a:rPr>
              <a:t>1：</a:t>
            </a:r>
            <a:endParaRPr lang="en-US" altLang="zh-CN" sz="1000" b="1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5780" y="2225675"/>
            <a:ext cx="4320000" cy="31879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875780" y="846455"/>
            <a:ext cx="99758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en-US" altLang="zh-CN" sz="1000" b="1">
                <a:sym typeface="+mn-ea"/>
              </a:rPr>
              <a:t>Instruments：</a:t>
            </a:r>
            <a:endParaRPr lang="en-US" altLang="zh-CN" sz="1000" b="1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75780" y="1909445"/>
            <a:ext cx="99758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zh-CN" altLang="en-US" sz="1000" b="1">
                <a:sym typeface="+mn-ea"/>
              </a:rPr>
              <a:t>程序</a:t>
            </a:r>
            <a:r>
              <a:rPr lang="en-US" altLang="zh-CN" sz="1000" b="1">
                <a:sym typeface="+mn-ea"/>
              </a:rPr>
              <a:t>：</a:t>
            </a:r>
            <a:endParaRPr lang="en-US" altLang="zh-CN" sz="1000" b="1"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875780" y="2574925"/>
            <a:ext cx="389953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en-US" altLang="zh-CN" sz="1000" b="1">
                <a:sym typeface="+mn-ea"/>
              </a:rPr>
              <a:t>Footprint：151193920 Bytes </a:t>
            </a:r>
            <a:r>
              <a:rPr lang="en-US" altLang="en-US" sz="1000" b="1">
                <a:sym typeface="+mn-ea"/>
              </a:rPr>
              <a:t>÷</a:t>
            </a:r>
            <a:r>
              <a:rPr lang="en-US" altLang="zh-CN" sz="1000" b="1">
                <a:sym typeface="+mn-ea"/>
              </a:rPr>
              <a:t> 1024 </a:t>
            </a:r>
            <a:r>
              <a:rPr lang="en-US" altLang="en-US" sz="1000" b="1">
                <a:sym typeface="+mn-ea"/>
              </a:rPr>
              <a:t>÷</a:t>
            </a:r>
            <a:r>
              <a:rPr lang="en-US" altLang="zh-CN" sz="1000" b="1">
                <a:sym typeface="+mn-ea"/>
              </a:rPr>
              <a:t> 1024 ≈ 144.18 MB</a:t>
            </a:r>
            <a:endParaRPr lang="en-US" altLang="zh-CN" sz="1000" b="1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83400" y="3261995"/>
            <a:ext cx="464502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1000" b="1">
                <a:sym typeface="+mn-ea"/>
              </a:rPr>
              <a:t>证明</a:t>
            </a:r>
            <a:r>
              <a:rPr lang="en-US" altLang="zh-CN" sz="1000" b="1">
                <a:sym typeface="+mn-ea"/>
              </a:rPr>
              <a:t>2</a:t>
            </a:r>
            <a:r>
              <a:rPr lang="en-US" altLang="zh-CN" sz="1000" b="1">
                <a:sym typeface="+mn-ea"/>
              </a:rPr>
              <a:t>：</a:t>
            </a:r>
            <a:endParaRPr lang="en-US" altLang="zh-CN" sz="1000" b="1"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58965" y="3536950"/>
            <a:ext cx="99758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en-US" altLang="zh-CN" sz="1000" b="1">
                <a:sym typeface="+mn-ea"/>
              </a:rPr>
              <a:t>Instruments：</a:t>
            </a:r>
            <a:endParaRPr lang="en-US" altLang="zh-CN" sz="1000" b="1"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958965" y="4375785"/>
            <a:ext cx="99758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zh-CN" altLang="en-US" sz="1000" b="1">
                <a:sym typeface="+mn-ea"/>
              </a:rPr>
              <a:t>程序</a:t>
            </a:r>
            <a:r>
              <a:rPr lang="en-US" altLang="zh-CN" sz="1000" b="1">
                <a:sym typeface="+mn-ea"/>
              </a:rPr>
              <a:t>：</a:t>
            </a:r>
            <a:endParaRPr lang="en-US" altLang="zh-CN" sz="1000" b="1"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58965" y="5041265"/>
            <a:ext cx="389953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en-US" altLang="zh-CN" sz="1000" b="1">
                <a:sym typeface="+mn-ea"/>
              </a:rPr>
              <a:t>Footprint：189991872 Bytes </a:t>
            </a:r>
            <a:r>
              <a:rPr lang="en-US" altLang="en-US" sz="1000" b="1">
                <a:sym typeface="+mn-ea"/>
              </a:rPr>
              <a:t>÷</a:t>
            </a:r>
            <a:r>
              <a:rPr lang="en-US" altLang="zh-CN" sz="1000" b="1">
                <a:sym typeface="+mn-ea"/>
              </a:rPr>
              <a:t> 1024 </a:t>
            </a:r>
            <a:r>
              <a:rPr lang="en-US" altLang="en-US" sz="1000" b="1">
                <a:sym typeface="+mn-ea"/>
              </a:rPr>
              <a:t>÷</a:t>
            </a:r>
            <a:r>
              <a:rPr lang="en-US" altLang="zh-CN" sz="1000" b="1">
                <a:sym typeface="+mn-ea"/>
              </a:rPr>
              <a:t> 1024 ≈ 181.18 MB</a:t>
            </a:r>
            <a:endParaRPr lang="en-US" altLang="zh-CN" sz="1000" b="1">
              <a:sym typeface="+mn-ea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320" y="5412740"/>
            <a:ext cx="5580000" cy="166027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965" y="4671695"/>
            <a:ext cx="4320000" cy="31879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0" y="2931795"/>
            <a:ext cx="5580000" cy="16588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400" y="1099185"/>
            <a:ext cx="4300855" cy="3200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3400" y="1426845"/>
            <a:ext cx="4320000" cy="4856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3400" y="3836035"/>
            <a:ext cx="4320000" cy="485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占用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95580" y="549275"/>
            <a:ext cx="5657215" cy="1816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200" b="1">
                <a:latin typeface="宋体" charset="0"/>
                <a:ea typeface="宋体" charset="0"/>
                <a:cs typeface="Times New Roman Regular" panose="02020503050405090304" charset="0"/>
                <a:sym typeface="+mn-ea"/>
              </a:rPr>
              <a:t>公式</a:t>
            </a:r>
            <a:r>
              <a:rPr lang="en-US" altLang="zh-CN" sz="1200" b="1">
                <a:latin typeface="宋体" charset="0"/>
                <a:ea typeface="宋体" charset="0"/>
                <a:cs typeface="Times New Roman Regular" panose="02020503050405090304" charset="0"/>
                <a:sym typeface="+mn-ea"/>
              </a:rPr>
              <a:t>：</a:t>
            </a:r>
            <a:endParaRPr lang="zh-CN" altLang="en-US" sz="1200" b="1">
              <a:latin typeface="宋体" charset="0"/>
              <a:ea typeface="宋体" charset="0"/>
              <a:cs typeface="Times New Roman Regular" panose="02020503050405090304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内核占用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= (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所有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VM_KERN_* + zones) 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                - VM_KERN_COUNT_BOOT_STOLEN 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                + VM_KERN_COUNT_WIRED_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残余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// 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口径</a:t>
            </a: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：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单框架比</a:t>
            </a: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iOS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多</a:t>
            </a: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1G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存储</a:t>
            </a: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，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内存增加内核占用量级</a:t>
            </a: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156kB。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（已确认）</a:t>
            </a:r>
            <a:endParaRPr lang="zh-CN" altLang="en-US" sz="1200" i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驱动占用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= sum(wired memory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中的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com.apple.*) - com.apple.filesystems.apfs</a:t>
            </a:r>
            <a:endParaRPr lang="en-US" altLang="zh-CN" sz="1200" dirty="0" smtClean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ea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483870" y="2976245"/>
          <a:ext cx="4591685" cy="1226185"/>
        </p:xfrm>
        <a:graphic>
          <a:graphicData uri="http://schemas.openxmlformats.org/drawingml/2006/table">
            <a:tbl>
              <a:tblPr/>
              <a:tblGrid>
                <a:gridCol w="1088390"/>
                <a:gridCol w="1751330"/>
                <a:gridCol w="1751965"/>
              </a:tblGrid>
              <a:tr h="248285"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内核占用均值MB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  <a:sym typeface="+mn-ea"/>
                        </a:rPr>
                        <a:t>驱动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  <a:sym typeface="+mn-ea"/>
                        </a:rPr>
                        <a:t>占用均值MB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737.62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629.11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586.25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440.73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628.81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437.87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723.28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490.31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749.33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476.27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970915" y="2615565"/>
            <a:ext cx="3476625" cy="302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000" b="1">
                <a:latin typeface="宋体" charset="0"/>
                <a:ea typeface="宋体" charset="0"/>
                <a:cs typeface="宋体" charset="0"/>
              </a:rPr>
              <a:t>表</a:t>
            </a:r>
            <a:r>
              <a:rPr lang="en-US" altLang="zh-CN" sz="1000" b="1" dirty="0" smtClean="0">
                <a:latin typeface="宋体" charset="0"/>
                <a:ea typeface="宋体" charset="0"/>
                <a:cs typeface="宋体" charset="0"/>
              </a:rPr>
              <a:t>3 </a:t>
            </a:r>
            <a:r>
              <a:rPr lang="zh-CN" altLang="en-US" sz="1000" b="1">
                <a:latin typeface="宋体" charset="0"/>
                <a:ea typeface="宋体" charset="0"/>
                <a:cs typeface="宋体" charset="0"/>
                <a:sym typeface="+mn-ea"/>
              </a:rPr>
              <a:t>测试</a:t>
            </a:r>
            <a:r>
              <a:rPr lang="zh-CN" altLang="en-US" sz="1000" b="1" dirty="0" smtClean="0">
                <a:latin typeface="宋体" charset="0"/>
                <a:ea typeface="宋体" charset="0"/>
                <a:cs typeface="宋体" charset="0"/>
              </a:rPr>
              <a:t>一</a:t>
            </a:r>
            <a:r>
              <a:rPr lang="en-US" altLang="zh-CN" sz="1000" b="1" dirty="0" smtClean="0">
                <a:latin typeface="宋体" charset="0"/>
                <a:ea typeface="宋体" charset="0"/>
                <a:cs typeface="宋体" charset="0"/>
              </a:rPr>
              <a:t> Top48</a:t>
            </a:r>
            <a:r>
              <a:rPr lang="zh-CN" altLang="en-US" sz="1000" b="1" dirty="0" smtClean="0">
                <a:latin typeface="宋体" charset="0"/>
                <a:ea typeface="宋体" charset="0"/>
                <a:cs typeface="宋体" charset="0"/>
              </a:rPr>
              <a:t>动态模型内核及驱动占用</a:t>
            </a:r>
            <a:r>
              <a:rPr lang="zh-CN" altLang="en-US" sz="1000" b="1" dirty="0" smtClean="0">
                <a:latin typeface="宋体" charset="0"/>
                <a:ea typeface="宋体" charset="0"/>
                <a:cs typeface="宋体" charset="0"/>
              </a:rPr>
              <a:t>大小</a:t>
            </a:r>
            <a:endParaRPr lang="zh-CN" altLang="en-US" sz="1000" b="1" dirty="0" smtClean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80250" y="2976245"/>
            <a:ext cx="4027805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图2-1 Basic1 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内核及驱动大小</a:t>
            </a: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（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驱动占用异常点为抖音卡死</a:t>
            </a: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）</a:t>
            </a:r>
            <a:endParaRPr lang="en-US" altLang="zh-CN" sz="1000" b="1" dirty="0" smtClean="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800340" y="5864225"/>
            <a:ext cx="1951355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图2-2 Basic2 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内核及驱动大小</a:t>
            </a:r>
            <a:endParaRPr lang="en-US" altLang="zh-CN" sz="1000" b="1" dirty="0" smtClean="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1940" y="4352925"/>
            <a:ext cx="5363210" cy="19310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内核占用均值约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1GB，</a:t>
            </a: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驱动占用约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500MB</a:t>
            </a: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altLang="en-US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高压场景：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Basic1 的驱动占用均值最高，达到 629.11 MB ；Basic5 的内核占用均值最高，达到 </a:t>
            </a:r>
            <a:r>
              <a:rPr lang="en-US" altLang="zh-CN" sz="1200">
                <a:solidFill>
                  <a:srgbClr val="000000"/>
                </a:solidFill>
                <a:latin typeface="Times New Roman Regular" panose="02020503050405090304" charset="0"/>
                <a:ea typeface="宋体"/>
                <a:cs typeface="Times New Roman Regular" panose="02020503050405090304" charset="0"/>
                <a:sym typeface="+mn-ea"/>
              </a:rPr>
              <a:t>749.33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MB 。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低压场景：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Basic2 和 Basic3 的整体表现较好，驱动占用均控制在 440 MB 左右（分别为 440.73 MB 和 437.87 MB） ，内核占用也相对较低（均在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7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50 MB 以下） 。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570" y="779145"/>
            <a:ext cx="5760000" cy="21394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570" y="3603625"/>
            <a:ext cx="5749290" cy="2214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占用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235200" y="2872740"/>
            <a:ext cx="183007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图2-3 Basic3 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内核及驱动大小</a:t>
            </a:r>
            <a:endParaRPr lang="en-US" altLang="zh-CN" sz="1000" b="1" dirty="0" smtClean="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61210" y="5551170"/>
            <a:ext cx="195961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图2-4 Basic4 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内核及驱动大小</a:t>
            </a:r>
            <a:endParaRPr lang="en-US" altLang="zh-CN" sz="1000" b="1" dirty="0" smtClean="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48625" y="2879090"/>
            <a:ext cx="195961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图2-5 Basic5 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内核及驱动大小</a:t>
            </a:r>
            <a:endParaRPr lang="en-US" altLang="zh-CN" sz="1000" b="1" dirty="0" smtClean="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1715" y="3413760"/>
            <a:ext cx="5899785" cy="9283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内核表现相对稳定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：在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Basic1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至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Basic5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的全程动态模型测试中，内核内存整体水位保持在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55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0MB ~ 750MB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之间，呈现规律性的平稳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驱动波动剧烈：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相比于内核，驱动内存波动受前台应用和具体操作动态模型影响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055360" y="4426585"/>
            <a:ext cx="5946140" cy="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245350" y="4622800"/>
            <a:ext cx="3613150" cy="92837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单框架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驱动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440MB；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内核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1042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MB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iOS：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驱动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494.86MB；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内核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685.06MB（+58.5MB）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58.5MB = 156kB*(512-128)/1024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290" y="649605"/>
            <a:ext cx="5760000" cy="223478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" y="3413760"/>
            <a:ext cx="5760000" cy="213746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360" y="649605"/>
            <a:ext cx="6082665" cy="2223135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TABLE_ENDDRAG_ORIGIN_RECT" val="413*295"/>
  <p:tag name="TABLE_ENDDRAG_RECT" val="30*44*413*295"/>
</p:tagLst>
</file>

<file path=ppt/tags/tag2.xml><?xml version="1.0" encoding="utf-8"?>
<p:tagLst xmlns:p="http://schemas.openxmlformats.org/presentationml/2006/main">
  <p:tag name="TABLE_ENDDRAG_ORIGIN_RECT" val="413*295"/>
  <p:tag name="TABLE_ENDDRAG_RECT" val="30*44*413*295"/>
</p:tagLst>
</file>

<file path=ppt/tags/tag3.xml><?xml version="1.0" encoding="utf-8"?>
<p:tagLst xmlns:p="http://schemas.openxmlformats.org/presentationml/2006/main">
  <p:tag name="TABLE_ENDDRAG_ORIGIN_RECT" val="361*81"/>
  <p:tag name="TABLE_ENDDRAG_RECT" val="38*234*361*81"/>
</p:tagLst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0</TotalTime>
  <Words>6308</Words>
  <Application>WPS 表格</Application>
  <PresentationFormat>自定义</PresentationFormat>
  <Paragraphs>697</Paragraphs>
  <Slides>9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汉仪旗黑</vt:lpstr>
      <vt:lpstr>微软雅黑</vt:lpstr>
      <vt:lpstr>Times New Roman Regular</vt:lpstr>
      <vt:lpstr>宋体</vt:lpstr>
      <vt:lpstr>Wingdings</vt:lpstr>
      <vt:lpstr>Arial</vt:lpstr>
      <vt:lpstr>宋体</vt:lpstr>
      <vt:lpstr>Apple Color Emoji</vt:lpstr>
      <vt:lpstr>Arial Unicode MS</vt:lpstr>
      <vt:lpstr>Calibri</vt:lpstr>
      <vt:lpstr>Helvetica Neue</vt:lpstr>
      <vt:lpstr>等线</vt:lpstr>
      <vt:lpstr>汉仪中等线KW</vt:lpstr>
      <vt:lpstr>黑体</vt:lpstr>
      <vt:lpstr>汉仪中黑KW</vt:lpstr>
      <vt:lpstr>汉仪书宋二KW</vt:lpstr>
      <vt:lpstr>1_Title Slide</vt:lpstr>
      <vt:lpstr>Chart page</vt:lpstr>
      <vt:lpstr>4_Chart page</vt:lpstr>
      <vt:lpstr>End page</vt:lpstr>
      <vt:lpstr>1_Chart page</vt:lpstr>
      <vt:lpstr>Excel.Sheet.12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clover</cp:lastModifiedBy>
  <cp:revision>61</cp:revision>
  <dcterms:created xsi:type="dcterms:W3CDTF">2026-04-11T03:35:26Z</dcterms:created>
  <dcterms:modified xsi:type="dcterms:W3CDTF">2026-04-11T03:35:26Z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  <property fmtid="{D5CDD505-2E9C-101B-9397-08002B2CF9AE}" pid="9" name="ICV">
    <vt:lpwstr>3DEA19BA465BC8C6D31BCF69430EA2A7_43</vt:lpwstr>
  </property>
  <property fmtid="{D5CDD505-2E9C-101B-9397-08002B2CF9AE}" pid="10" name="KSOProductBuildVer">
    <vt:lpwstr>2052-12.1.25205.25205</vt:lpwstr>
  </property>
</Properties>
</file>