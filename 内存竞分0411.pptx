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xlsx" ContentType="application/vnd.openxmlformats-officedocument.spreadsheetml.shee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3" r:id="rId3"/>
    <p:sldMasterId id="2147483655" r:id="rId4"/>
    <p:sldMasterId id="2147483657" r:id="rId5"/>
    <p:sldMasterId id="2147483659" r:id="rId6"/>
  </p:sldMasterIdLst>
  <p:notesMasterIdLst>
    <p:notesMasterId r:id="rId10"/>
  </p:notesMasterIdLst>
  <p:handoutMasterIdLst>
    <p:handoutMasterId r:id="rId19"/>
  </p:handoutMasterIdLst>
  <p:sldIdLst>
    <p:sldId id="305" r:id="rId7"/>
    <p:sldId id="306" r:id="rId8"/>
    <p:sldId id="298" r:id="rId9"/>
    <p:sldId id="304" r:id="rId11"/>
    <p:sldId id="299" r:id="rId12"/>
    <p:sldId id="301" r:id="rId13"/>
    <p:sldId id="300" r:id="rId14"/>
    <p:sldId id="302" r:id="rId15"/>
    <p:sldId id="303" r:id="rId16"/>
    <p:sldId id="294" r:id="rId17"/>
    <p:sldId id="295" r:id="rId18"/>
  </p:sldIdLst>
  <p:sldSz cx="1219644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5" pos="3667" userDrawn="1">
          <p15:clr>
            <a:srgbClr val="A4A3A4"/>
          </p15:clr>
        </p15:guide>
        <p15:guide id="6" orient="horz" pos="2156" userDrawn="1">
          <p15:clr>
            <a:srgbClr val="A4A3A4"/>
          </p15:clr>
        </p15:guide>
        <p15:guide id="7" pos="358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7000B"/>
    <a:srgbClr val="FFFFFF"/>
    <a:srgbClr val="151515"/>
    <a:srgbClr val="575756"/>
    <a:srgbClr val="DD4654"/>
    <a:srgbClr val="F3D2D5"/>
    <a:srgbClr val="E6A8AD"/>
    <a:srgbClr val="E57B84"/>
    <a:srgbClr val="E57984"/>
    <a:srgbClr val="BF000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72833802-FEF1-4C79-8D5D-14CF1EAF98D9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859" autoAdjust="0"/>
    <p:restoredTop sz="96291"/>
  </p:normalViewPr>
  <p:slideViewPr>
    <p:cSldViewPr snapToGrid="0" snapToObjects="1" showGuides="1">
      <p:cViewPr varScale="1">
        <p:scale>
          <a:sx n="128" d="100"/>
          <a:sy n="128" d="100"/>
        </p:scale>
        <p:origin x="520" y="976"/>
      </p:cViewPr>
      <p:guideLst>
        <p:guide pos="3667"/>
        <p:guide orient="horz" pos="2156"/>
        <p:guide pos="358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96" d="100"/>
          <a:sy n="96" d="100"/>
        </p:scale>
        <p:origin x="3104" y="16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3.xml"/><Relationship Id="rId8" Type="http://schemas.openxmlformats.org/officeDocument/2006/relationships/slide" Target="slides/slide2.xml"/><Relationship Id="rId7" Type="http://schemas.openxmlformats.org/officeDocument/2006/relationships/slide" Target="slides/slide1.xml"/><Relationship Id="rId6" Type="http://schemas.openxmlformats.org/officeDocument/2006/relationships/slideMaster" Target="slideMasters/slideMaster5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handoutMaster" Target="handoutMasters/handoutMaster1.xml"/><Relationship Id="rId18" Type="http://schemas.openxmlformats.org/officeDocument/2006/relationships/slide" Target="slides/slide11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1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png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CF71B8-DF2A-2E41-BE66-2E18A767DA8A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5F0CC5-85BE-A64A-BD47-54C66F7E93E3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D60A27-BF12-6744-9E93-932A0E34D8BB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7326F3-4732-B74B-9C70-D0992466E49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835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7435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/>
              <a:t>CmaUsed			49 	</a:t>
            </a:r>
            <a:endParaRPr lang="en-US" altLang="zh-CN"/>
          </a:p>
          <a:p>
            <a:r>
              <a:rPr lang="en-US" altLang="zh-CN"/>
              <a:t>KDrvUsed			0 	(</a:t>
            </a:r>
            <a:r>
              <a:rPr lang="zh-CN" altLang="en-US"/>
              <a:t>维测开关</a:t>
            </a:r>
            <a:r>
              <a:rPr lang="zh-CN" altLang="en-US"/>
              <a:t>未打开</a:t>
            </a:r>
            <a:r>
              <a:rPr lang="en-US" altLang="zh-CN"/>
              <a:t>)	</a:t>
            </a:r>
            <a:endParaRPr lang="en-US" altLang="zh-CN"/>
          </a:p>
          <a:p>
            <a:r>
              <a:rPr lang="en-US" altLang="zh-CN"/>
              <a:t>UdrvUsed - IonTotalUsed - GpuTotalUsed	186</a:t>
            </a:r>
            <a:endParaRPr lang="en-US" altLang="zh-CN"/>
          </a:p>
          <a:p>
            <a:r>
              <a:rPr lang="zh-CN" altLang="en-US"/>
              <a:t>驱动总和</a:t>
            </a:r>
            <a:r>
              <a:rPr lang="en-US" altLang="zh-CN"/>
              <a:t>			235	</a:t>
            </a:r>
            <a:endParaRPr lang="en-US" altLang="zh-CN"/>
          </a:p>
          <a:p>
            <a:r>
              <a:rPr lang="en-US" altLang="zh-CN"/>
              <a:t>GAP			-260	</a:t>
            </a:r>
            <a:endParaRPr lang="en-US" altLang="zh-CN"/>
          </a:p>
          <a:p>
            <a:r>
              <a:rPr lang="zh-CN" altLang="en-US"/>
              <a:t>内核</a:t>
            </a:r>
            <a:r>
              <a:rPr lang="en-US" altLang="zh-CN"/>
              <a:t>+</a:t>
            </a:r>
            <a:r>
              <a:rPr lang="zh-CN" altLang="en-US"/>
              <a:t>驱动</a:t>
            </a:r>
            <a:r>
              <a:rPr lang="en-US" altLang="zh-CN"/>
              <a:t>			1214</a:t>
            </a:r>
            <a:endParaRPr lang="en-US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/>
              <a:t>CmaUsed			49 	</a:t>
            </a:r>
            <a:endParaRPr lang="en-US" altLang="zh-CN"/>
          </a:p>
          <a:p>
            <a:r>
              <a:rPr lang="en-US" altLang="zh-CN"/>
              <a:t>KDrvUsed			0 	(</a:t>
            </a:r>
            <a:r>
              <a:rPr lang="zh-CN" altLang="en-US"/>
              <a:t>维测开关</a:t>
            </a:r>
            <a:r>
              <a:rPr lang="zh-CN" altLang="en-US"/>
              <a:t>未打开</a:t>
            </a:r>
            <a:r>
              <a:rPr lang="en-US" altLang="zh-CN"/>
              <a:t>)	</a:t>
            </a:r>
            <a:endParaRPr lang="en-US" altLang="zh-CN"/>
          </a:p>
          <a:p>
            <a:r>
              <a:rPr lang="en-US" altLang="zh-CN"/>
              <a:t>UdrvUsed - IonTotalUsed - GpuTotalUsed	186</a:t>
            </a:r>
            <a:endParaRPr lang="en-US" altLang="zh-CN"/>
          </a:p>
          <a:p>
            <a:r>
              <a:rPr lang="zh-CN" altLang="en-US"/>
              <a:t>驱动总和</a:t>
            </a:r>
            <a:r>
              <a:rPr lang="en-US" altLang="zh-CN"/>
              <a:t>			235	</a:t>
            </a:r>
            <a:endParaRPr lang="en-US" altLang="zh-CN"/>
          </a:p>
          <a:p>
            <a:r>
              <a:rPr lang="en-US" altLang="zh-CN"/>
              <a:t>GAP			-260	</a:t>
            </a:r>
            <a:endParaRPr lang="en-US" altLang="zh-CN"/>
          </a:p>
          <a:p>
            <a:r>
              <a:rPr lang="zh-CN" altLang="en-US"/>
              <a:t>内核</a:t>
            </a:r>
            <a:r>
              <a:rPr lang="en-US" altLang="zh-CN"/>
              <a:t>+</a:t>
            </a:r>
            <a:r>
              <a:rPr lang="zh-CN" altLang="en-US"/>
              <a:t>驱动</a:t>
            </a:r>
            <a:r>
              <a:rPr lang="en-US" altLang="zh-CN"/>
              <a:t>			1214</a:t>
            </a:r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探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 cstate="screen"/>
          <a:srcRect/>
          <a:stretch>
            <a:fillRect/>
          </a:stretch>
        </p:blipFill>
        <p:spPr>
          <a:xfrm>
            <a:off x="1" y="0"/>
            <a:ext cx="12196763" cy="5602265"/>
          </a:xfrm>
          <a:prstGeom prst="rect">
            <a:avLst/>
          </a:prstGeom>
        </p:spPr>
      </p:pic>
      <p:sp>
        <p:nvSpPr>
          <p:cNvPr id="7" name="L 形 6"/>
          <p:cNvSpPr/>
          <p:nvPr userDrawn="1"/>
        </p:nvSpPr>
        <p:spPr>
          <a:xfrm rot="5400000">
            <a:off x="7853942" y="2130562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10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  <a:ln>
            <a:noFill/>
            <a:prstDash val="dash"/>
          </a:ln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智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/>
          <p:cNvPicPr>
            <a:picLocks noChangeAspect="1"/>
          </p:cNvPicPr>
          <p:nvPr userDrawn="1"/>
        </p:nvPicPr>
        <p:blipFill rotWithShape="1">
          <a:blip r:embed="rId2" cstate="screen"/>
          <a:srcRect/>
          <a:stretch>
            <a:fillRect/>
          </a:stretch>
        </p:blipFill>
        <p:spPr>
          <a:xfrm>
            <a:off x="1" y="0"/>
            <a:ext cx="12196763" cy="5602265"/>
          </a:xfrm>
          <a:prstGeom prst="rect">
            <a:avLst/>
          </a:prstGeom>
        </p:spPr>
      </p:pic>
      <p:sp>
        <p:nvSpPr>
          <p:cNvPr id="18" name="L 形 17"/>
          <p:cNvSpPr/>
          <p:nvPr userDrawn="1"/>
        </p:nvSpPr>
        <p:spPr>
          <a:xfrm rot="5400000">
            <a:off x="5824025" y="2568635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攀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825" r="2034" b="5607"/>
          <a:stretch>
            <a:fillRect/>
          </a:stretch>
        </p:blipFill>
        <p:spPr>
          <a:xfrm>
            <a:off x="1" y="-36206"/>
            <a:ext cx="12196763" cy="563847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8" name="L 形 7"/>
          <p:cNvSpPr/>
          <p:nvPr userDrawn="1"/>
        </p:nvSpPr>
        <p:spPr>
          <a:xfrm rot="5400000">
            <a:off x="7929967" y="1657555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灯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8" t="7030" b="11599"/>
          <a:stretch>
            <a:fillRect/>
          </a:stretch>
        </p:blipFill>
        <p:spPr>
          <a:xfrm>
            <a:off x="0" y="0"/>
            <a:ext cx="12196763" cy="5602265"/>
          </a:xfrm>
          <a:prstGeom prst="rect">
            <a:avLst/>
          </a:prstGeom>
        </p:spPr>
      </p:pic>
      <p:sp>
        <p:nvSpPr>
          <p:cNvPr id="13" name="L 形 12"/>
          <p:cNvSpPr/>
          <p:nvPr userDrawn="1"/>
        </p:nvSpPr>
        <p:spPr>
          <a:xfrm rot="5400000">
            <a:off x="5945516" y="2323519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11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s page"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1033620" y="1843088"/>
            <a:ext cx="10122060" cy="3013725"/>
          </a:xfrm>
          <a:prstGeom prst="rect">
            <a:avLst/>
          </a:prstGeom>
        </p:spPr>
        <p:txBody>
          <a:bodyPr tIns="90000" bIns="90000"/>
          <a:lstStyle>
            <a:lvl1pPr marL="412750" indent="-398780">
              <a:lnSpc>
                <a:spcPct val="70000"/>
              </a:lnSpc>
              <a:buFont typeface="+mj-lt"/>
              <a:buAutoNum type="arabicPeriod"/>
              <a:defRPr sz="2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12750" indent="-398780">
              <a:buFont typeface="+mj-lt"/>
              <a:buAutoNum type="arabicPeriod"/>
              <a:defRPr/>
            </a:lvl2pPr>
            <a:lvl3pPr marL="13970" indent="0">
              <a:buFont typeface="+mj-lt"/>
              <a:buNone/>
              <a:defRPr sz="22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970" indent="0">
              <a:buFont typeface="+mj-lt"/>
              <a:buNone/>
              <a:defRPr sz="22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3970" indent="0">
              <a:buFont typeface="+mj-lt"/>
              <a:buNone/>
              <a:defRPr sz="22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altLang="zh-CN" dirty="0"/>
          </a:p>
        </p:txBody>
      </p:sp>
      <p:cxnSp>
        <p:nvCxnSpPr>
          <p:cNvPr id="3" name="直线连接符 14"/>
          <p:cNvCxnSpPr/>
          <p:nvPr userDrawn="1"/>
        </p:nvCxnSpPr>
        <p:spPr>
          <a:xfrm flipH="1">
            <a:off x="1029918" y="1349255"/>
            <a:ext cx="885967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文本框 16"/>
          <p:cNvSpPr txBox="1"/>
          <p:nvPr userDrawn="1"/>
        </p:nvSpPr>
        <p:spPr>
          <a:xfrm>
            <a:off x="918916" y="630373"/>
            <a:ext cx="1147485" cy="6535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63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目录</a:t>
            </a:r>
            <a:endParaRPr kumimoji="1" lang="zh-CN" altLang="en-US" sz="3635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593725" indent="0" algn="ctr">
              <a:buNone/>
              <a:defRPr sz="2600"/>
            </a:lvl2pPr>
            <a:lvl3pPr marL="1188085" indent="0" algn="ctr">
              <a:buNone/>
              <a:defRPr sz="2340"/>
            </a:lvl3pPr>
            <a:lvl4pPr marL="1781810" indent="0" algn="ctr">
              <a:buNone/>
              <a:defRPr sz="2080"/>
            </a:lvl4pPr>
            <a:lvl5pPr marL="2375535" indent="0" algn="ctr">
              <a:buNone/>
              <a:defRPr sz="2080"/>
            </a:lvl5pPr>
            <a:lvl6pPr marL="2969260" indent="0" algn="ctr">
              <a:buNone/>
              <a:defRPr sz="2080"/>
            </a:lvl6pPr>
            <a:lvl7pPr marL="3563620" indent="0" algn="ctr">
              <a:buNone/>
              <a:defRPr sz="2080"/>
            </a:lvl7pPr>
            <a:lvl8pPr marL="4157345" indent="0" algn="ctr">
              <a:buNone/>
              <a:defRPr sz="2080"/>
            </a:lvl8pPr>
            <a:lvl9pPr marL="4751070" indent="0" algn="ctr">
              <a:buNone/>
              <a:defRPr sz="2080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0" hasCustomPrompt="1"/>
          </p:nvPr>
        </p:nvSpPr>
        <p:spPr>
          <a:xfrm>
            <a:off x="736908" y="1501989"/>
            <a:ext cx="10733557" cy="4690459"/>
          </a:xfrm>
          <a:prstGeom prst="rect">
            <a:avLst/>
          </a:prstGeom>
        </p:spPr>
        <p:txBody>
          <a:bodyPr lIns="0" tIns="0" rIns="0" bIns="0"/>
          <a:lstStyle>
            <a:lvl1pPr marL="12065" indent="0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1208405" algn="ctr"/>
              </a:tabLst>
              <a:defRPr sz="18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90204" pitchFamily="34" charset="0"/>
              </a:defRPr>
            </a:lvl1pPr>
            <a:lvl2pPr marL="525780" indent="-171450">
              <a:buFont typeface="Arial" panose="020B0604020202090204" pitchFamily="34" charset="0"/>
              <a:buChar char="•"/>
              <a:tabLst>
                <a:tab pos="1208405" algn="ctr"/>
              </a:tabLst>
              <a:defRPr sz="1300" baseline="0"/>
            </a:lvl2pPr>
            <a:lvl3pPr marL="525780" indent="-171450">
              <a:buFont typeface="Arial" panose="020B0604020202090204" pitchFamily="34" charset="0"/>
              <a:buChar char="•"/>
              <a:tabLst>
                <a:tab pos="1208405" algn="ctr"/>
              </a:tabLst>
              <a:defRPr sz="1300" baseline="0"/>
            </a:lvl3pPr>
            <a:lvl4pPr marL="525780" indent="-171450">
              <a:buFont typeface="Arial" panose="020B0604020202090204" pitchFamily="34" charset="0"/>
              <a:buChar char="•"/>
              <a:tabLst>
                <a:tab pos="1208405" algn="ctr"/>
              </a:tabLst>
              <a:defRPr sz="1300" baseline="0"/>
            </a:lvl4pPr>
            <a:lvl5pPr marL="525780" indent="-171450">
              <a:buFont typeface="Arial" panose="020B0604020202090204" pitchFamily="34" charset="0"/>
              <a:buChar char="•"/>
              <a:tabLst>
                <a:tab pos="1208405" algn="ctr"/>
              </a:tabLst>
              <a:defRPr sz="1300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pag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607486" y="1402064"/>
            <a:ext cx="3921034" cy="854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4940" dirty="0">
                <a:solidFill>
                  <a:schemeClr val="tx1"/>
                </a:solidFill>
              </a:rPr>
              <a:t>Thank you.</a:t>
            </a:r>
            <a:endParaRPr lang="en-US" sz="494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593725" indent="0" algn="ctr">
              <a:buNone/>
              <a:defRPr sz="2600"/>
            </a:lvl2pPr>
            <a:lvl3pPr marL="1188085" indent="0" algn="ctr">
              <a:buNone/>
              <a:defRPr sz="2340"/>
            </a:lvl3pPr>
            <a:lvl4pPr marL="1781810" indent="0" algn="ctr">
              <a:buNone/>
              <a:defRPr sz="2080"/>
            </a:lvl4pPr>
            <a:lvl5pPr marL="2375535" indent="0" algn="ctr">
              <a:buNone/>
              <a:defRPr sz="2080"/>
            </a:lvl5pPr>
            <a:lvl6pPr marL="2969260" indent="0" algn="ctr">
              <a:buNone/>
              <a:defRPr sz="2080"/>
            </a:lvl6pPr>
            <a:lvl7pPr marL="3563620" indent="0" algn="ctr">
              <a:buNone/>
              <a:defRPr sz="2080"/>
            </a:lvl7pPr>
            <a:lvl8pPr marL="4157345" indent="0" algn="ctr">
              <a:buNone/>
              <a:defRPr sz="2080"/>
            </a:lvl8pPr>
            <a:lvl9pPr marL="4751070" indent="0" algn="ctr">
              <a:buNone/>
              <a:defRPr sz="2080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0" hasCustomPrompt="1"/>
          </p:nvPr>
        </p:nvSpPr>
        <p:spPr>
          <a:xfrm>
            <a:off x="736908" y="1501989"/>
            <a:ext cx="10733557" cy="4690459"/>
          </a:xfrm>
          <a:prstGeom prst="rect">
            <a:avLst/>
          </a:prstGeom>
        </p:spPr>
        <p:txBody>
          <a:bodyPr lIns="0" tIns="0" rIns="0" bIns="0"/>
          <a:lstStyle>
            <a:lvl1pPr marL="12065" indent="0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1208405" algn="ctr"/>
              </a:tabLst>
              <a:defRPr sz="18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90204" pitchFamily="34" charset="0"/>
              </a:defRPr>
            </a:lvl1pPr>
            <a:lvl2pPr marL="525780" indent="-171450">
              <a:buFont typeface="Arial" panose="020B0604020202090204" pitchFamily="34" charset="0"/>
              <a:buChar char="•"/>
              <a:tabLst>
                <a:tab pos="1208405" algn="ctr"/>
              </a:tabLst>
              <a:defRPr sz="1300" baseline="0"/>
            </a:lvl2pPr>
            <a:lvl3pPr marL="525780" indent="-171450">
              <a:buFont typeface="Arial" panose="020B0604020202090204" pitchFamily="34" charset="0"/>
              <a:buChar char="•"/>
              <a:tabLst>
                <a:tab pos="1208405" algn="ctr"/>
              </a:tabLst>
              <a:defRPr sz="1300" baseline="0"/>
            </a:lvl3pPr>
            <a:lvl4pPr marL="525780" indent="-171450">
              <a:buFont typeface="Arial" panose="020B0604020202090204" pitchFamily="34" charset="0"/>
              <a:buChar char="•"/>
              <a:tabLst>
                <a:tab pos="1208405" algn="ctr"/>
              </a:tabLst>
              <a:defRPr sz="1300" baseline="0"/>
            </a:lvl4pPr>
            <a:lvl5pPr marL="525780" indent="-171450">
              <a:buFont typeface="Arial" panose="020B0604020202090204" pitchFamily="34" charset="0"/>
              <a:buChar char="•"/>
              <a:tabLst>
                <a:tab pos="1208405" algn="ctr"/>
              </a:tabLst>
              <a:defRPr sz="1300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image" Target="../media/image5.png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5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/>
          <p:cNvSpPr>
            <a:spLocks noGrp="1"/>
          </p:cNvSpPr>
          <p:nvPr>
            <p:ph type="body" idx="1"/>
          </p:nvPr>
        </p:nvSpPr>
        <p:spPr>
          <a:xfrm>
            <a:off x="909309" y="6270651"/>
            <a:ext cx="1982316" cy="15361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>
              <a:lnSpc>
                <a:spcPct val="100000"/>
              </a:lnSpc>
            </a:pPr>
            <a:r>
              <a:rPr kumimoji="1" lang="en-US" altLang="zh-CN" sz="1000" dirty="0"/>
              <a:t>Security Level:</a:t>
            </a:r>
            <a:endParaRPr lang="en-US" altLang="zh-CN" sz="1000" dirty="0"/>
          </a:p>
        </p:txBody>
      </p:sp>
      <p:pic>
        <p:nvPicPr>
          <p:cNvPr id="38" name="图片 37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6684" y="5976168"/>
            <a:ext cx="2258389" cy="48253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hdr="0" ftr="0" dt="0"/>
  <p:txStyles>
    <p:titleStyle>
      <a:lvl1pPr algn="l" defTabSz="914400" rtl="0" eaLnBrk="1" latinLnBrk="0" hangingPunct="1">
        <a:lnSpc>
          <a:spcPts val="3440"/>
        </a:lnSpc>
        <a:spcBef>
          <a:spcPct val="0"/>
        </a:spcBef>
        <a:buNone/>
        <a:defRPr sz="32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buFontTx/>
        <a:buNone/>
        <a:defRPr sz="1000" kern="1200">
          <a:solidFill>
            <a:srgbClr val="1D1D1B"/>
          </a:solidFill>
          <a:latin typeface="Arial" panose="020B0604020202090204" pitchFamily="34" charset="0"/>
          <a:ea typeface="微软雅黑" panose="020B0503020204020204" pitchFamily="34" charset="-122"/>
          <a:cs typeface="Arial" panose="020B0604020202090204" pitchFamily="34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90204" pitchFamily="34" charset="0"/>
          <a:ea typeface="+mn-ea"/>
          <a:cs typeface="Arial" panose="020B0604020202090204" pitchFamily="34" charset="0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90204" pitchFamily="34" charset="0"/>
          <a:ea typeface="+mn-ea"/>
          <a:cs typeface="Arial" panose="020B0604020202090204" pitchFamily="34" charset="0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90204" pitchFamily="34" charset="0"/>
          <a:ea typeface="+mn-ea"/>
          <a:cs typeface="Arial" panose="020B0604020202090204" pitchFamily="34" charset="0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90204" pitchFamily="34" charset="0"/>
          <a:ea typeface="+mn-ea"/>
          <a:cs typeface="Arial" panose="020B060402020209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hf hdr="0" ftr="0" dt="0"/>
  <p:txStyles>
    <p:titleStyle>
      <a:lvl1pPr algn="l" defTabSz="1188085" rtl="0" eaLnBrk="1" latinLnBrk="0" hangingPunct="1">
        <a:lnSpc>
          <a:spcPct val="90000"/>
        </a:lnSpc>
        <a:spcBef>
          <a:spcPct val="0"/>
        </a:spcBef>
        <a:buNone/>
        <a:defRPr sz="571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7180" indent="-297180" algn="l" defTabSz="1188085" rtl="0" eaLnBrk="1" latinLnBrk="0" hangingPunct="1">
        <a:lnSpc>
          <a:spcPct val="90000"/>
        </a:lnSpc>
        <a:spcBef>
          <a:spcPts val="1300"/>
        </a:spcBef>
        <a:buFont typeface="Arial" panose="020B0604020202090204" pitchFamily="34" charset="0"/>
        <a:buChar char="•"/>
        <a:defRPr sz="3635" kern="1200">
          <a:solidFill>
            <a:schemeClr val="tx1"/>
          </a:solidFill>
          <a:latin typeface="+mn-lt"/>
          <a:ea typeface="+mn-ea"/>
          <a:cs typeface="+mn-cs"/>
        </a:defRPr>
      </a:lvl1pPr>
      <a:lvl2pPr marL="89090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3120" kern="1200">
          <a:solidFill>
            <a:schemeClr val="tx1"/>
          </a:solidFill>
          <a:latin typeface="+mn-lt"/>
          <a:ea typeface="+mn-ea"/>
          <a:cs typeface="+mn-cs"/>
        </a:defRPr>
      </a:lvl2pPr>
      <a:lvl3pPr marL="148463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207835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67271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86016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45452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504825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1pPr>
      <a:lvl2pPr marL="59372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2pPr>
      <a:lvl3pPr marL="118808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3pPr>
      <a:lvl4pPr marL="178181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37553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296926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56362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15734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475107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1095467" y="6356939"/>
            <a:ext cx="1463467" cy="242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75" b="0" baseline="0" dirty="0">
                <a:solidFill>
                  <a:srgbClr val="1D1D1B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Huawei Confidential</a:t>
            </a:r>
            <a:endParaRPr lang="en-US" sz="975" b="0" baseline="0" dirty="0">
              <a:solidFill>
                <a:srgbClr val="1D1D1B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4" name="TextBox 3"/>
          <p:cNvSpPr txBox="1"/>
          <p:nvPr userDrawn="1"/>
        </p:nvSpPr>
        <p:spPr>
          <a:xfrm>
            <a:off x="734131" y="6402806"/>
            <a:ext cx="499729" cy="1502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9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3837181-38C6-AD4F-B8BA-B444770388BB}" type="slidenum">
              <a:rPr lang="en-US" sz="975" smtClean="0">
                <a:solidFill>
                  <a:srgbClr val="1D1D1B"/>
                </a:solidFill>
                <a:latin typeface="Arial" panose="020B0604020202090204" pitchFamily="34" charset="0"/>
                <a:cs typeface="Arial" panose="020B0604020202090204" pitchFamily="34" charset="0"/>
              </a:rPr>
            </a:fld>
            <a:endParaRPr lang="en-US" sz="975" dirty="0">
              <a:solidFill>
                <a:srgbClr val="1D1D1B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pic>
        <p:nvPicPr>
          <p:cNvPr id="41" name="图片 4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5999" y="6319870"/>
            <a:ext cx="1269075" cy="271153"/>
          </a:xfrm>
          <a:prstGeom prst="rect">
            <a:avLst/>
          </a:prstGeom>
        </p:spPr>
      </p:pic>
      <p:grpSp>
        <p:nvGrpSpPr>
          <p:cNvPr id="25" name="组合 24"/>
          <p:cNvGrpSpPr/>
          <p:nvPr userDrawn="1"/>
        </p:nvGrpSpPr>
        <p:grpSpPr>
          <a:xfrm>
            <a:off x="12216278" y="2931937"/>
            <a:ext cx="1982916" cy="3934682"/>
            <a:chOff x="12216278" y="2262477"/>
            <a:chExt cx="1982916" cy="4604143"/>
          </a:xfrm>
        </p:grpSpPr>
        <p:grpSp>
          <p:nvGrpSpPr>
            <p:cNvPr id="26" name="组合 25"/>
            <p:cNvGrpSpPr/>
            <p:nvPr userDrawn="1"/>
          </p:nvGrpSpPr>
          <p:grpSpPr>
            <a:xfrm>
              <a:off x="12315635" y="2262477"/>
              <a:ext cx="1883559" cy="692624"/>
              <a:chOff x="12315635" y="2207613"/>
              <a:chExt cx="1883559" cy="692624"/>
            </a:xfrm>
          </p:grpSpPr>
          <p:sp>
            <p:nvSpPr>
              <p:cNvPr id="44" name="矩形 5"/>
              <p:cNvSpPr/>
              <p:nvPr userDrawn="1"/>
            </p:nvSpPr>
            <p:spPr>
              <a:xfrm>
                <a:off x="12315635" y="2401808"/>
                <a:ext cx="911019" cy="498429"/>
              </a:xfrm>
              <a:prstGeom prst="rect">
                <a:avLst/>
              </a:prstGeom>
              <a:solidFill>
                <a:srgbClr val="C8102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P</a:t>
                </a:r>
                <a:r>
                  <a:rPr kumimoji="1" lang="en-US" altLang="en-US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ANTONE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 186C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200/16/46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45" name="矩形 9"/>
              <p:cNvSpPr/>
              <p:nvPr userDrawn="1"/>
            </p:nvSpPr>
            <p:spPr>
              <a:xfrm>
                <a:off x="13288175" y="2401808"/>
                <a:ext cx="911019" cy="498429"/>
              </a:xfrm>
              <a:prstGeom prst="rect">
                <a:avLst/>
              </a:prstGeom>
              <a:solidFill>
                <a:srgbClr val="C7000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P</a:t>
                </a:r>
                <a:r>
                  <a:rPr kumimoji="1" lang="en-US" altLang="en-US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ANTONE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 185C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199/0/11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46" name="文本框 31"/>
              <p:cNvSpPr txBox="1"/>
              <p:nvPr userDrawn="1"/>
            </p:nvSpPr>
            <p:spPr>
              <a:xfrm>
                <a:off x="12326898" y="2207613"/>
                <a:ext cx="384721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kumimoji="1" lang="zh-CN" altLang="en-US" sz="10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品牌色</a:t>
                </a:r>
                <a:endParaRPr kumimoji="1" lang="zh-CN" altLang="en-US" sz="10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7" name="组合 26"/>
            <p:cNvGrpSpPr/>
            <p:nvPr userDrawn="1"/>
          </p:nvGrpSpPr>
          <p:grpSpPr>
            <a:xfrm>
              <a:off x="12216278" y="3080825"/>
              <a:ext cx="1982912" cy="3785795"/>
              <a:chOff x="12216278" y="3080825"/>
              <a:chExt cx="1982912" cy="3785795"/>
            </a:xfrm>
          </p:grpSpPr>
          <p:sp>
            <p:nvSpPr>
              <p:cNvPr id="28" name="矩形 12"/>
              <p:cNvSpPr/>
              <p:nvPr userDrawn="1"/>
            </p:nvSpPr>
            <p:spPr>
              <a:xfrm>
                <a:off x="12315640" y="3785971"/>
                <a:ext cx="885201" cy="462672"/>
              </a:xfrm>
              <a:prstGeom prst="rect">
                <a:avLst/>
              </a:prstGeom>
              <a:solidFill>
                <a:srgbClr val="EA5A4F"/>
              </a:solidFill>
              <a:ln>
                <a:solidFill>
                  <a:srgbClr val="EA5A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234/90/79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29" name="矩形 13"/>
              <p:cNvSpPr/>
              <p:nvPr userDrawn="1"/>
            </p:nvSpPr>
            <p:spPr>
              <a:xfrm>
                <a:off x="12315640" y="3259312"/>
                <a:ext cx="885201" cy="462672"/>
              </a:xfrm>
              <a:prstGeom prst="rect">
                <a:avLst/>
              </a:prstGeom>
              <a:solidFill>
                <a:srgbClr val="78000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120/0/15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30" name="文本框 15"/>
              <p:cNvSpPr txBox="1"/>
              <p:nvPr userDrawn="1"/>
            </p:nvSpPr>
            <p:spPr>
              <a:xfrm>
                <a:off x="12216278" y="3080825"/>
                <a:ext cx="569387" cy="153888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b" anchorCtr="0">
                <a:sp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kumimoji="1" lang="zh-CN" altLang="en-US" sz="10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辅助色</a:t>
                </a:r>
                <a:endParaRPr kumimoji="1" lang="zh-CN" altLang="en-US" sz="10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1" name="矩形 16"/>
              <p:cNvSpPr/>
              <p:nvPr userDrawn="1"/>
            </p:nvSpPr>
            <p:spPr>
              <a:xfrm>
                <a:off x="12315640" y="4836793"/>
                <a:ext cx="885201" cy="462672"/>
              </a:xfrm>
              <a:prstGeom prst="rect">
                <a:avLst/>
              </a:prstGeom>
              <a:solidFill>
                <a:srgbClr val="F8B53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248/181/60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32" name="矩形 17"/>
              <p:cNvSpPr/>
              <p:nvPr userDrawn="1"/>
            </p:nvSpPr>
            <p:spPr>
              <a:xfrm>
                <a:off x="12315640" y="4319278"/>
                <a:ext cx="885201" cy="462672"/>
              </a:xfrm>
              <a:prstGeom prst="rect">
                <a:avLst/>
              </a:prstGeom>
              <a:solidFill>
                <a:srgbClr val="EB5C0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235/92/1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33" name="矩形 18"/>
              <p:cNvSpPr/>
              <p:nvPr userDrawn="1"/>
            </p:nvSpPr>
            <p:spPr>
              <a:xfrm>
                <a:off x="12315636" y="5880294"/>
                <a:ext cx="911019" cy="462672"/>
              </a:xfrm>
              <a:prstGeom prst="rect">
                <a:avLst/>
              </a:prstGeom>
              <a:solidFill>
                <a:srgbClr val="89898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137/137/137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34" name="矩形 19"/>
              <p:cNvSpPr/>
              <p:nvPr userDrawn="1"/>
            </p:nvSpPr>
            <p:spPr>
              <a:xfrm>
                <a:off x="12315636" y="5362779"/>
                <a:ext cx="911019" cy="462672"/>
              </a:xfrm>
              <a:prstGeom prst="rect">
                <a:avLst/>
              </a:prstGeom>
              <a:solidFill>
                <a:srgbClr val="23181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35/24/21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35" name="矩形 22"/>
              <p:cNvSpPr/>
              <p:nvPr userDrawn="1"/>
            </p:nvSpPr>
            <p:spPr>
              <a:xfrm>
                <a:off x="12315636" y="6403948"/>
                <a:ext cx="911019" cy="462672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221/221/221</a:t>
                </a:r>
                <a:endParaRPr kumimoji="1" lang="en-US" altLang="zh-CN" sz="700" b="1" dirty="0">
                  <a:solidFill>
                    <a:schemeClr val="bg1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36" name="矩形 12"/>
              <p:cNvSpPr/>
              <p:nvPr userDrawn="1"/>
            </p:nvSpPr>
            <p:spPr>
              <a:xfrm>
                <a:off x="13288175" y="3785971"/>
                <a:ext cx="885201" cy="462672"/>
              </a:xfrm>
              <a:prstGeom prst="rect">
                <a:avLst/>
              </a:prstGeom>
              <a:solidFill>
                <a:srgbClr val="E98C8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233/140/128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37" name="矩形 13"/>
              <p:cNvSpPr/>
              <p:nvPr userDrawn="1"/>
            </p:nvSpPr>
            <p:spPr>
              <a:xfrm>
                <a:off x="13288175" y="3259312"/>
                <a:ext cx="885201" cy="462672"/>
              </a:xfrm>
              <a:prstGeom prst="rect">
                <a:avLst/>
              </a:prstGeom>
              <a:solidFill>
                <a:srgbClr val="A72126"/>
              </a:solidFill>
              <a:ln>
                <a:solidFill>
                  <a:srgbClr val="9F000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159/0/1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38" name="矩形 16"/>
              <p:cNvSpPr/>
              <p:nvPr userDrawn="1"/>
            </p:nvSpPr>
            <p:spPr>
              <a:xfrm>
                <a:off x="13288175" y="4836793"/>
                <a:ext cx="885201" cy="462672"/>
              </a:xfrm>
              <a:prstGeom prst="rect">
                <a:avLst/>
              </a:prstGeom>
              <a:solidFill>
                <a:srgbClr val="F5DC5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245/220/87</a:t>
                </a:r>
                <a:endParaRPr kumimoji="1" lang="en-US" altLang="zh-CN" sz="700" b="1" dirty="0">
                  <a:solidFill>
                    <a:schemeClr val="bg1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39" name="矩形 17"/>
              <p:cNvSpPr/>
              <p:nvPr userDrawn="1"/>
            </p:nvSpPr>
            <p:spPr>
              <a:xfrm>
                <a:off x="13288175" y="4319278"/>
                <a:ext cx="885201" cy="462672"/>
              </a:xfrm>
              <a:prstGeom prst="rect">
                <a:avLst/>
              </a:prstGeom>
              <a:solidFill>
                <a:srgbClr val="F085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240/133/0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40" name="矩形 18"/>
              <p:cNvSpPr/>
              <p:nvPr userDrawn="1"/>
            </p:nvSpPr>
            <p:spPr>
              <a:xfrm>
                <a:off x="13288171" y="5880294"/>
                <a:ext cx="911019" cy="462672"/>
              </a:xfrm>
              <a:prstGeom prst="rect">
                <a:avLst/>
              </a:prstGeom>
              <a:solidFill>
                <a:srgbClr val="B5B5B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181/181/181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42" name="矩形 19"/>
              <p:cNvSpPr/>
              <p:nvPr userDrawn="1"/>
            </p:nvSpPr>
            <p:spPr>
              <a:xfrm>
                <a:off x="13288171" y="5362779"/>
                <a:ext cx="911019" cy="462672"/>
              </a:xfrm>
              <a:prstGeom prst="rect">
                <a:avLst/>
              </a:prstGeom>
              <a:solidFill>
                <a:srgbClr val="59575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89/87/87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43" name="矩形 22"/>
              <p:cNvSpPr/>
              <p:nvPr userDrawn="1"/>
            </p:nvSpPr>
            <p:spPr>
              <a:xfrm>
                <a:off x="13288171" y="6403948"/>
                <a:ext cx="911019" cy="462672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chemeClr val="bg1">
                    <a:lumMod val="10000"/>
                    <a:lumOff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255/255/255</a:t>
                </a:r>
                <a:endParaRPr kumimoji="1" lang="en-US" altLang="zh-CN" sz="700" b="1" dirty="0">
                  <a:solidFill>
                    <a:schemeClr val="bg1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</p:grp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</p:sldLayoutIdLst>
  <p:hf hdr="0" ftr="0" dt="0"/>
  <p:txStyles>
    <p:titleStyle>
      <a:lvl1pPr algn="l" defTabSz="1188085" rtl="0" eaLnBrk="1" latinLnBrk="0" hangingPunct="1">
        <a:lnSpc>
          <a:spcPct val="90000"/>
        </a:lnSpc>
        <a:spcBef>
          <a:spcPct val="0"/>
        </a:spcBef>
        <a:buNone/>
        <a:defRPr sz="571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7180" indent="-297180" algn="l" defTabSz="1188085" rtl="0" eaLnBrk="1" latinLnBrk="0" hangingPunct="1">
        <a:lnSpc>
          <a:spcPct val="90000"/>
        </a:lnSpc>
        <a:spcBef>
          <a:spcPts val="1300"/>
        </a:spcBef>
        <a:buFont typeface="Arial" panose="020B0604020202090204" pitchFamily="34" charset="0"/>
        <a:buChar char="•"/>
        <a:defRPr sz="3635" kern="1200">
          <a:solidFill>
            <a:schemeClr val="tx1"/>
          </a:solidFill>
          <a:latin typeface="+mn-lt"/>
          <a:ea typeface="+mn-ea"/>
          <a:cs typeface="+mn-cs"/>
        </a:defRPr>
      </a:lvl1pPr>
      <a:lvl2pPr marL="89090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3120" kern="1200">
          <a:solidFill>
            <a:schemeClr val="tx1"/>
          </a:solidFill>
          <a:latin typeface="+mn-lt"/>
          <a:ea typeface="+mn-ea"/>
          <a:cs typeface="+mn-cs"/>
        </a:defRPr>
      </a:lvl2pPr>
      <a:lvl3pPr marL="148463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207835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67271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86016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45452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504825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1pPr>
      <a:lvl2pPr marL="59372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2pPr>
      <a:lvl3pPr marL="118808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3pPr>
      <a:lvl4pPr marL="178181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37553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296926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56362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15734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475107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16573" y="1474269"/>
            <a:ext cx="3984232" cy="28160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5" name="Text Placeholder 1"/>
          <p:cNvSpPr txBox="1"/>
          <p:nvPr userDrawn="1"/>
        </p:nvSpPr>
        <p:spPr>
          <a:xfrm>
            <a:off x="7979357" y="2794960"/>
            <a:ext cx="3225168" cy="2029962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None/>
              <a:defRPr sz="1400" kern="12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065"/>
              </a:lnSpc>
            </a:pPr>
            <a: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  <a:t>Copyright©2021 Huawei Technologies Co., Ltd.</a:t>
            </a:r>
            <a:b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</a:br>
            <a: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  <a:t>All Rights Reserved.</a:t>
            </a:r>
            <a:br>
              <a:rPr kumimoji="1" lang="en-US" altLang="zh-CN" sz="780" dirty="0">
                <a:solidFill>
                  <a:srgbClr val="1D1D1B"/>
                </a:solidFill>
                <a:latin typeface="+mn-lt"/>
              </a:rPr>
            </a:br>
            <a:br>
              <a:rPr kumimoji="1" lang="en-US" altLang="zh-CN" sz="780" dirty="0">
                <a:solidFill>
                  <a:srgbClr val="1D1D1B"/>
                </a:solidFill>
                <a:latin typeface="+mn-lt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90204" pitchFamily="34" charset="0"/>
              </a:rPr>
              <a:t>The information in this document may contain predictive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9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90204" pitchFamily="34" charset="0"/>
              </a:rPr>
              <a:t>statements including, without limitation, statements regarding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9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90204" pitchFamily="34" charset="0"/>
              </a:rPr>
              <a:t>the future financial and operating results, future product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9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90204" pitchFamily="34" charset="0"/>
              </a:rPr>
              <a:t>portfolio, new technology, etc. There are a number of factors that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9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90204" pitchFamily="34" charset="0"/>
              </a:rPr>
              <a:t>could cause actual results and developments to differ materially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9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90204" pitchFamily="34" charset="0"/>
              </a:rPr>
              <a:t>from those expressed or implied in the predictive statements.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9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90204" pitchFamily="34" charset="0"/>
              </a:rPr>
              <a:t>Therefore, such information is provided for reference purpose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9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90204" pitchFamily="34" charset="0"/>
              </a:rPr>
              <a:t>only and constitutes neither an offer nor an acceptance. Huawei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9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90204" pitchFamily="34" charset="0"/>
              </a:rPr>
              <a:t>may change the information at any time without notice. </a:t>
            </a:r>
            <a:endParaRPr kumimoji="1" lang="en-US" altLang="zh-CN" sz="850" baseline="0" dirty="0">
              <a:solidFill>
                <a:srgbClr val="1D1D1B"/>
              </a:solidFill>
              <a:latin typeface="+mn-lt"/>
              <a:cs typeface="Arial" panose="020B0604020202090204" pitchFamily="34" charset="0"/>
            </a:endParaRPr>
          </a:p>
          <a:p>
            <a:pPr>
              <a:lnSpc>
                <a:spcPts val="1065"/>
              </a:lnSpc>
            </a:pPr>
            <a:endParaRPr kumimoji="1" lang="zh-CN" altLang="en-US" sz="780" dirty="0">
              <a:solidFill>
                <a:srgbClr val="1D1D1B"/>
              </a:solidFill>
              <a:latin typeface="+mn-lt"/>
            </a:endParaRPr>
          </a:p>
        </p:txBody>
      </p:sp>
      <p:sp>
        <p:nvSpPr>
          <p:cNvPr id="6" name="Subtitle 6"/>
          <p:cNvSpPr txBox="1"/>
          <p:nvPr userDrawn="1"/>
        </p:nvSpPr>
        <p:spPr>
          <a:xfrm>
            <a:off x="7987276" y="1631849"/>
            <a:ext cx="3477701" cy="49111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None/>
              <a:defRPr sz="1400" kern="12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680"/>
              </a:lnSpc>
              <a:spcBef>
                <a:spcPts val="0"/>
              </a:spcBef>
            </a:pPr>
            <a:r>
              <a:rPr kumimoji="1" lang="zh-CN" altLang="en-US" sz="1300" dirty="0">
                <a:solidFill>
                  <a:srgbClr val="1D1D1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把数字世界带入每个人、每个家庭、</a:t>
            </a:r>
            <a:br>
              <a:rPr kumimoji="1" lang="en-US" altLang="zh-CN" sz="1300" dirty="0">
                <a:solidFill>
                  <a:srgbClr val="1D1D1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</a:br>
            <a:r>
              <a:rPr kumimoji="1" lang="zh-CN" altLang="en-US" sz="1300" dirty="0">
                <a:solidFill>
                  <a:srgbClr val="1D1D1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每个组织，构建万物互联的智能世界。</a:t>
            </a:r>
            <a:endParaRPr kumimoji="1" lang="zh-CN" altLang="en-US" sz="1300" dirty="0">
              <a:solidFill>
                <a:srgbClr val="1D1D1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7" name="Subtitle 6"/>
          <p:cNvSpPr txBox="1"/>
          <p:nvPr userDrawn="1"/>
        </p:nvSpPr>
        <p:spPr>
          <a:xfrm>
            <a:off x="7977672" y="2106124"/>
            <a:ext cx="3481833" cy="58280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None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295"/>
              </a:lnSpc>
            </a:pP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90204" pitchFamily="34" charset="0"/>
              </a:rPr>
              <a:t>Bring digital to every person, home, and </a:t>
            </a:r>
            <a:b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90204" pitchFamily="34" charset="0"/>
              </a:rPr>
            </a:b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90204" pitchFamily="34" charset="0"/>
              </a:rPr>
              <a:t>organization for a fully connected, </a:t>
            </a:r>
            <a:b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90204" pitchFamily="34" charset="0"/>
              </a:rPr>
            </a:b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90204" pitchFamily="34" charset="0"/>
              </a:rPr>
              <a:t>intelligent world.</a:t>
            </a:r>
            <a:endParaRPr kumimoji="1" lang="zh-CN" altLang="en-US" sz="1200" dirty="0">
              <a:solidFill>
                <a:srgbClr val="1D1D1B"/>
              </a:solidFill>
              <a:latin typeface="+mn-lt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99" name="图片 9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5497" y="5251150"/>
            <a:ext cx="1869596" cy="39946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</p:sldLayoutIdLst>
  <p:hf hdr="0" ftr="0" dt="0"/>
  <p:txStyles>
    <p:titleStyle>
      <a:lvl1pPr algn="l" defTabSz="1188085" rtl="0" eaLnBrk="1" latinLnBrk="0" hangingPunct="1">
        <a:lnSpc>
          <a:spcPct val="90000"/>
        </a:lnSpc>
        <a:spcBef>
          <a:spcPct val="0"/>
        </a:spcBef>
        <a:buNone/>
        <a:defRPr sz="5000" b="0" kern="1200">
          <a:solidFill>
            <a:schemeClr val="tx1"/>
          </a:solidFill>
          <a:latin typeface="Arial" panose="020B0604020202090204" pitchFamily="34" charset="0"/>
          <a:ea typeface="微软雅黑" panose="020B0503020204020204" pitchFamily="34" charset="-122"/>
          <a:cs typeface="Arial" panose="020B0604020202090204" pitchFamily="34" charset="0"/>
        </a:defRPr>
      </a:lvl1pPr>
    </p:titleStyle>
    <p:bodyStyle>
      <a:lvl1pPr marL="0" indent="0" algn="l" defTabSz="1188085" rtl="0" eaLnBrk="1" latinLnBrk="0" hangingPunct="1">
        <a:lnSpc>
          <a:spcPct val="90000"/>
        </a:lnSpc>
        <a:spcBef>
          <a:spcPts val="1300"/>
        </a:spcBef>
        <a:buFont typeface="Arial" panose="020B0604020202090204" pitchFamily="34" charset="0"/>
        <a:buNone/>
        <a:defRPr sz="1820" kern="1200">
          <a:solidFill>
            <a:srgbClr val="FFFFFF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593725" indent="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None/>
        <a:defRPr sz="3120" kern="1200">
          <a:solidFill>
            <a:schemeClr val="tx1"/>
          </a:solidFill>
          <a:latin typeface="+mn-lt"/>
          <a:ea typeface="+mn-ea"/>
          <a:cs typeface="+mn-cs"/>
        </a:defRPr>
      </a:lvl2pPr>
      <a:lvl3pPr marL="1188085" indent="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None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781810" indent="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None/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375535" indent="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None/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86016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45452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504825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1pPr>
      <a:lvl2pPr marL="59372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2pPr>
      <a:lvl3pPr marL="118808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3pPr>
      <a:lvl4pPr marL="178181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37553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296926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56362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15734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475107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1095467" y="6356939"/>
            <a:ext cx="1463467" cy="242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75" b="0" baseline="0" dirty="0">
                <a:solidFill>
                  <a:srgbClr val="1D1D1B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Huawei Confidential</a:t>
            </a:r>
            <a:endParaRPr lang="en-US" sz="975" b="0" baseline="0" dirty="0">
              <a:solidFill>
                <a:srgbClr val="1D1D1B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4" name="TextBox 3"/>
          <p:cNvSpPr txBox="1"/>
          <p:nvPr userDrawn="1"/>
        </p:nvSpPr>
        <p:spPr>
          <a:xfrm>
            <a:off x="734131" y="6402806"/>
            <a:ext cx="499729" cy="1502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9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3837181-38C6-AD4F-B8BA-B444770388BB}" type="slidenum">
              <a:rPr lang="en-US" sz="975" smtClean="0">
                <a:solidFill>
                  <a:srgbClr val="1D1D1B"/>
                </a:solidFill>
                <a:latin typeface="Arial" panose="020B0604020202090204" pitchFamily="34" charset="0"/>
                <a:cs typeface="Arial" panose="020B0604020202090204" pitchFamily="34" charset="0"/>
              </a:rPr>
            </a:fld>
            <a:endParaRPr lang="en-US" sz="975" dirty="0">
              <a:solidFill>
                <a:srgbClr val="1D1D1B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pic>
        <p:nvPicPr>
          <p:cNvPr id="41" name="图片 4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5999" y="6319870"/>
            <a:ext cx="1269075" cy="271153"/>
          </a:xfrm>
          <a:prstGeom prst="rect">
            <a:avLst/>
          </a:prstGeom>
        </p:spPr>
      </p:pic>
      <p:grpSp>
        <p:nvGrpSpPr>
          <p:cNvPr id="25" name="组合 24"/>
          <p:cNvGrpSpPr/>
          <p:nvPr userDrawn="1"/>
        </p:nvGrpSpPr>
        <p:grpSpPr>
          <a:xfrm>
            <a:off x="12216278" y="2931937"/>
            <a:ext cx="1982916" cy="3934682"/>
            <a:chOff x="12216278" y="2262477"/>
            <a:chExt cx="1982916" cy="4604143"/>
          </a:xfrm>
        </p:grpSpPr>
        <p:grpSp>
          <p:nvGrpSpPr>
            <p:cNvPr id="26" name="组合 25"/>
            <p:cNvGrpSpPr/>
            <p:nvPr userDrawn="1"/>
          </p:nvGrpSpPr>
          <p:grpSpPr>
            <a:xfrm>
              <a:off x="12315635" y="2262477"/>
              <a:ext cx="1883559" cy="692624"/>
              <a:chOff x="12315635" y="2207613"/>
              <a:chExt cx="1883559" cy="692624"/>
            </a:xfrm>
          </p:grpSpPr>
          <p:sp>
            <p:nvSpPr>
              <p:cNvPr id="44" name="矩形 5"/>
              <p:cNvSpPr/>
              <p:nvPr userDrawn="1"/>
            </p:nvSpPr>
            <p:spPr>
              <a:xfrm>
                <a:off x="12315635" y="2401808"/>
                <a:ext cx="911019" cy="498429"/>
              </a:xfrm>
              <a:prstGeom prst="rect">
                <a:avLst/>
              </a:prstGeom>
              <a:solidFill>
                <a:srgbClr val="C8102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P</a:t>
                </a:r>
                <a:r>
                  <a:rPr kumimoji="1" lang="en-US" altLang="en-US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ANTONE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 186C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200/16/46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45" name="矩形 9"/>
              <p:cNvSpPr/>
              <p:nvPr userDrawn="1"/>
            </p:nvSpPr>
            <p:spPr>
              <a:xfrm>
                <a:off x="13288175" y="2401808"/>
                <a:ext cx="911019" cy="498429"/>
              </a:xfrm>
              <a:prstGeom prst="rect">
                <a:avLst/>
              </a:prstGeom>
              <a:solidFill>
                <a:srgbClr val="C7000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P</a:t>
                </a:r>
                <a:r>
                  <a:rPr kumimoji="1" lang="en-US" altLang="en-US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ANTONE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 185C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199/0/11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46" name="文本框 31"/>
              <p:cNvSpPr txBox="1"/>
              <p:nvPr userDrawn="1"/>
            </p:nvSpPr>
            <p:spPr>
              <a:xfrm>
                <a:off x="12326898" y="2207613"/>
                <a:ext cx="384721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kumimoji="1" lang="zh-CN" altLang="en-US" sz="10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品牌色</a:t>
                </a:r>
                <a:endParaRPr kumimoji="1" lang="zh-CN" altLang="en-US" sz="10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7" name="组合 26"/>
            <p:cNvGrpSpPr/>
            <p:nvPr userDrawn="1"/>
          </p:nvGrpSpPr>
          <p:grpSpPr>
            <a:xfrm>
              <a:off x="12216278" y="3080825"/>
              <a:ext cx="1982912" cy="3785795"/>
              <a:chOff x="12216278" y="3080825"/>
              <a:chExt cx="1982912" cy="3785795"/>
            </a:xfrm>
          </p:grpSpPr>
          <p:sp>
            <p:nvSpPr>
              <p:cNvPr id="28" name="矩形 12"/>
              <p:cNvSpPr/>
              <p:nvPr userDrawn="1"/>
            </p:nvSpPr>
            <p:spPr>
              <a:xfrm>
                <a:off x="12315640" y="3785971"/>
                <a:ext cx="885201" cy="462672"/>
              </a:xfrm>
              <a:prstGeom prst="rect">
                <a:avLst/>
              </a:prstGeom>
              <a:solidFill>
                <a:srgbClr val="EA5A4F"/>
              </a:solidFill>
              <a:ln>
                <a:solidFill>
                  <a:srgbClr val="EA5A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234/90/79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29" name="矩形 13"/>
              <p:cNvSpPr/>
              <p:nvPr userDrawn="1"/>
            </p:nvSpPr>
            <p:spPr>
              <a:xfrm>
                <a:off x="12315640" y="3259312"/>
                <a:ext cx="885201" cy="462672"/>
              </a:xfrm>
              <a:prstGeom prst="rect">
                <a:avLst/>
              </a:prstGeom>
              <a:solidFill>
                <a:srgbClr val="78000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120/0/15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30" name="文本框 15"/>
              <p:cNvSpPr txBox="1"/>
              <p:nvPr userDrawn="1"/>
            </p:nvSpPr>
            <p:spPr>
              <a:xfrm>
                <a:off x="12216278" y="3080825"/>
                <a:ext cx="569387" cy="153888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b" anchorCtr="0">
                <a:sp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kumimoji="1" lang="zh-CN" altLang="en-US" sz="10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辅助色</a:t>
                </a:r>
                <a:endParaRPr kumimoji="1" lang="zh-CN" altLang="en-US" sz="10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1" name="矩形 16"/>
              <p:cNvSpPr/>
              <p:nvPr userDrawn="1"/>
            </p:nvSpPr>
            <p:spPr>
              <a:xfrm>
                <a:off x="12315640" y="4836793"/>
                <a:ext cx="885201" cy="462672"/>
              </a:xfrm>
              <a:prstGeom prst="rect">
                <a:avLst/>
              </a:prstGeom>
              <a:solidFill>
                <a:srgbClr val="F8B53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248/181/60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32" name="矩形 17"/>
              <p:cNvSpPr/>
              <p:nvPr userDrawn="1"/>
            </p:nvSpPr>
            <p:spPr>
              <a:xfrm>
                <a:off x="12315640" y="4319278"/>
                <a:ext cx="885201" cy="462672"/>
              </a:xfrm>
              <a:prstGeom prst="rect">
                <a:avLst/>
              </a:prstGeom>
              <a:solidFill>
                <a:srgbClr val="EB5C0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235/92/1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33" name="矩形 18"/>
              <p:cNvSpPr/>
              <p:nvPr userDrawn="1"/>
            </p:nvSpPr>
            <p:spPr>
              <a:xfrm>
                <a:off x="12315636" y="5880294"/>
                <a:ext cx="911019" cy="462672"/>
              </a:xfrm>
              <a:prstGeom prst="rect">
                <a:avLst/>
              </a:prstGeom>
              <a:solidFill>
                <a:srgbClr val="89898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137/137/137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34" name="矩形 19"/>
              <p:cNvSpPr/>
              <p:nvPr userDrawn="1"/>
            </p:nvSpPr>
            <p:spPr>
              <a:xfrm>
                <a:off x="12315636" y="5362779"/>
                <a:ext cx="911019" cy="462672"/>
              </a:xfrm>
              <a:prstGeom prst="rect">
                <a:avLst/>
              </a:prstGeom>
              <a:solidFill>
                <a:srgbClr val="23181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35/24/21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35" name="矩形 22"/>
              <p:cNvSpPr/>
              <p:nvPr userDrawn="1"/>
            </p:nvSpPr>
            <p:spPr>
              <a:xfrm>
                <a:off x="12315636" y="6403948"/>
                <a:ext cx="911019" cy="462672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221/221/221</a:t>
                </a:r>
                <a:endParaRPr kumimoji="1" lang="en-US" altLang="zh-CN" sz="700" b="1" dirty="0">
                  <a:solidFill>
                    <a:schemeClr val="bg1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36" name="矩形 12"/>
              <p:cNvSpPr/>
              <p:nvPr userDrawn="1"/>
            </p:nvSpPr>
            <p:spPr>
              <a:xfrm>
                <a:off x="13288175" y="3785971"/>
                <a:ext cx="885201" cy="462672"/>
              </a:xfrm>
              <a:prstGeom prst="rect">
                <a:avLst/>
              </a:prstGeom>
              <a:solidFill>
                <a:srgbClr val="E98C8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233/140/128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37" name="矩形 13"/>
              <p:cNvSpPr/>
              <p:nvPr userDrawn="1"/>
            </p:nvSpPr>
            <p:spPr>
              <a:xfrm>
                <a:off x="13288175" y="3259312"/>
                <a:ext cx="885201" cy="462672"/>
              </a:xfrm>
              <a:prstGeom prst="rect">
                <a:avLst/>
              </a:prstGeom>
              <a:solidFill>
                <a:srgbClr val="A72126"/>
              </a:solidFill>
              <a:ln>
                <a:solidFill>
                  <a:srgbClr val="9F000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159/0/1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38" name="矩形 16"/>
              <p:cNvSpPr/>
              <p:nvPr userDrawn="1"/>
            </p:nvSpPr>
            <p:spPr>
              <a:xfrm>
                <a:off x="13288175" y="4836793"/>
                <a:ext cx="885201" cy="462672"/>
              </a:xfrm>
              <a:prstGeom prst="rect">
                <a:avLst/>
              </a:prstGeom>
              <a:solidFill>
                <a:srgbClr val="F5DC5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245/220/87</a:t>
                </a:r>
                <a:endParaRPr kumimoji="1" lang="en-US" altLang="zh-CN" sz="700" b="1" dirty="0">
                  <a:solidFill>
                    <a:schemeClr val="bg1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39" name="矩形 17"/>
              <p:cNvSpPr/>
              <p:nvPr userDrawn="1"/>
            </p:nvSpPr>
            <p:spPr>
              <a:xfrm>
                <a:off x="13288175" y="4319278"/>
                <a:ext cx="885201" cy="462672"/>
              </a:xfrm>
              <a:prstGeom prst="rect">
                <a:avLst/>
              </a:prstGeom>
              <a:solidFill>
                <a:srgbClr val="F085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240/133/0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40" name="矩形 18"/>
              <p:cNvSpPr/>
              <p:nvPr userDrawn="1"/>
            </p:nvSpPr>
            <p:spPr>
              <a:xfrm>
                <a:off x="13288171" y="5880294"/>
                <a:ext cx="911019" cy="462672"/>
              </a:xfrm>
              <a:prstGeom prst="rect">
                <a:avLst/>
              </a:prstGeom>
              <a:solidFill>
                <a:srgbClr val="B5B5B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181/181/181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42" name="矩形 19"/>
              <p:cNvSpPr/>
              <p:nvPr userDrawn="1"/>
            </p:nvSpPr>
            <p:spPr>
              <a:xfrm>
                <a:off x="13288171" y="5362779"/>
                <a:ext cx="911019" cy="462672"/>
              </a:xfrm>
              <a:prstGeom prst="rect">
                <a:avLst/>
              </a:prstGeom>
              <a:solidFill>
                <a:srgbClr val="59575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89/87/87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43" name="矩形 22"/>
              <p:cNvSpPr/>
              <p:nvPr userDrawn="1"/>
            </p:nvSpPr>
            <p:spPr>
              <a:xfrm>
                <a:off x="13288171" y="6403948"/>
                <a:ext cx="911019" cy="462672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chemeClr val="bg1">
                    <a:lumMod val="10000"/>
                    <a:lumOff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255/255/255</a:t>
                </a:r>
                <a:endParaRPr kumimoji="1" lang="en-US" altLang="zh-CN" sz="700" b="1" dirty="0">
                  <a:solidFill>
                    <a:schemeClr val="bg1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</p:grp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</p:sldLayoutIdLst>
  <p:hf hdr="0" ftr="0" dt="0"/>
  <p:txStyles>
    <p:titleStyle>
      <a:lvl1pPr algn="l" defTabSz="1188085" rtl="0" eaLnBrk="1" latinLnBrk="0" hangingPunct="1">
        <a:lnSpc>
          <a:spcPct val="90000"/>
        </a:lnSpc>
        <a:spcBef>
          <a:spcPct val="0"/>
        </a:spcBef>
        <a:buNone/>
        <a:defRPr sz="571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7180" indent="-297180" algn="l" defTabSz="1188085" rtl="0" eaLnBrk="1" latinLnBrk="0" hangingPunct="1">
        <a:lnSpc>
          <a:spcPct val="90000"/>
        </a:lnSpc>
        <a:spcBef>
          <a:spcPts val="1300"/>
        </a:spcBef>
        <a:buFont typeface="Arial" panose="020B0604020202090204" pitchFamily="34" charset="0"/>
        <a:buChar char="•"/>
        <a:defRPr sz="3635" kern="1200">
          <a:solidFill>
            <a:schemeClr val="tx1"/>
          </a:solidFill>
          <a:latin typeface="+mn-lt"/>
          <a:ea typeface="+mn-ea"/>
          <a:cs typeface="+mn-cs"/>
        </a:defRPr>
      </a:lvl1pPr>
      <a:lvl2pPr marL="89090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3120" kern="1200">
          <a:solidFill>
            <a:schemeClr val="tx1"/>
          </a:solidFill>
          <a:latin typeface="+mn-lt"/>
          <a:ea typeface="+mn-ea"/>
          <a:cs typeface="+mn-cs"/>
        </a:defRPr>
      </a:lvl2pPr>
      <a:lvl3pPr marL="148463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207835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67271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86016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45452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504825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1pPr>
      <a:lvl2pPr marL="59372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2pPr>
      <a:lvl3pPr marL="118808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3pPr>
      <a:lvl4pPr marL="178181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37553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296926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56362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15734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475107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6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3" Type="http://schemas.openxmlformats.org/officeDocument/2006/relationships/image" Target="../media/image9.jpeg"/><Relationship Id="rId2" Type="http://schemas.openxmlformats.org/officeDocument/2006/relationships/image" Target="../media/image8.png"/><Relationship Id="rId1" Type="http://schemas.openxmlformats.org/officeDocument/2006/relationships/image" Target="../media/image7.jpeg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6.xml"/><Relationship Id="rId5" Type="http://schemas.openxmlformats.org/officeDocument/2006/relationships/image" Target="../media/image16.jpeg"/><Relationship Id="rId4" Type="http://schemas.openxmlformats.org/officeDocument/2006/relationships/image" Target="../media/image15.jpeg"/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image" Target="../media/image1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1.vml"/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23.png"/><Relationship Id="rId2" Type="http://schemas.openxmlformats.org/officeDocument/2006/relationships/package" Target="../embeddings/Workbook1.xlsx"/><Relationship Id="rId1" Type="http://schemas.openxmlformats.org/officeDocument/2006/relationships/image" Target="../media/image22.jpe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.xml"/><Relationship Id="rId7" Type="http://schemas.openxmlformats.org/officeDocument/2006/relationships/image" Target="../media/image30.jpeg"/><Relationship Id="rId6" Type="http://schemas.openxmlformats.org/officeDocument/2006/relationships/image" Target="../media/image29.jpeg"/><Relationship Id="rId5" Type="http://schemas.openxmlformats.org/officeDocument/2006/relationships/image" Target="../media/image28.jpeg"/><Relationship Id="rId4" Type="http://schemas.openxmlformats.org/officeDocument/2006/relationships/image" Target="../media/image27.jpeg"/><Relationship Id="rId3" Type="http://schemas.openxmlformats.org/officeDocument/2006/relationships/image" Target="../media/image26.jpeg"/><Relationship Id="rId2" Type="http://schemas.openxmlformats.org/officeDocument/2006/relationships/image" Target="../media/image25.jpeg"/><Relationship Id="rId1" Type="http://schemas.openxmlformats.org/officeDocument/2006/relationships/image" Target="../media/image24.jpe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tags" Target="../tags/tag3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文本框 6"/>
          <p:cNvSpPr txBox="1"/>
          <p:nvPr/>
        </p:nvSpPr>
        <p:spPr>
          <a:xfrm>
            <a:off x="0" y="0"/>
            <a:ext cx="6231890" cy="532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ts val="3440"/>
              </a:lnSpc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数据分析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内存压缩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三方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应用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0" y="532130"/>
            <a:ext cx="12204065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 t="56597"/>
          <a:stretch>
            <a:fillRect/>
          </a:stretch>
        </p:blipFill>
        <p:spPr>
          <a:xfrm>
            <a:off x="15240" y="1513205"/>
            <a:ext cx="8260080" cy="118491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" y="2761615"/>
            <a:ext cx="12196445" cy="154686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" y="4227195"/>
            <a:ext cx="12196445" cy="105727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40" y="5284470"/>
            <a:ext cx="12196445" cy="104203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89610"/>
            <a:ext cx="12196445" cy="768985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8463915" y="2113915"/>
            <a:ext cx="3178810" cy="5321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ts val="3440"/>
              </a:lnSpc>
            </a:pPr>
            <a:r>
              <a:rPr lang="en-US" altLang="zh-CN" sz="3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261-262-264:</a:t>
            </a:r>
            <a:endParaRPr lang="en-US" altLang="zh-CN" sz="32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文本框 6"/>
          <p:cNvSpPr txBox="1"/>
          <p:nvPr/>
        </p:nvSpPr>
        <p:spPr>
          <a:xfrm>
            <a:off x="0" y="0"/>
            <a:ext cx="6231890" cy="532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ts val="3440"/>
              </a:lnSpc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数据分析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内存压缩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系统应用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0" y="532130"/>
            <a:ext cx="12204065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630" y="628015"/>
            <a:ext cx="6454140" cy="189357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" y="2684145"/>
            <a:ext cx="12196445" cy="97028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6715125" y="1955165"/>
            <a:ext cx="5247640" cy="5321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ts val="3440"/>
              </a:lnSpc>
            </a:pPr>
            <a:r>
              <a:rPr lang="en-US" altLang="zh-CN" sz="3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288-289-305-306:</a:t>
            </a:r>
            <a:endParaRPr lang="en-US" altLang="zh-CN" sz="32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54425"/>
            <a:ext cx="12196445" cy="95377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" y="4632960"/>
            <a:ext cx="12196445" cy="92202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5559425"/>
            <a:ext cx="12196445" cy="88963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文本框 6"/>
          <p:cNvSpPr txBox="1"/>
          <p:nvPr/>
        </p:nvSpPr>
        <p:spPr>
          <a:xfrm>
            <a:off x="0" y="0"/>
            <a:ext cx="6231890" cy="532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ts val="3440"/>
              </a:lnSpc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数据分析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总体对比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0" y="532130"/>
            <a:ext cx="12204065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aphicFrame>
        <p:nvGraphicFramePr>
          <p:cNvPr id="9" name="表格 8"/>
          <p:cNvGraphicFramePr/>
          <p:nvPr>
            <p:custDataLst>
              <p:tags r:id="rId1"/>
            </p:custDataLst>
          </p:nvPr>
        </p:nvGraphicFramePr>
        <p:xfrm>
          <a:off x="381000" y="565785"/>
          <a:ext cx="5252085" cy="3762375"/>
        </p:xfrm>
        <a:graphic>
          <a:graphicData uri="http://schemas.openxmlformats.org/drawingml/2006/table">
            <a:tbl>
              <a:tblPr/>
              <a:tblGrid>
                <a:gridCol w="988060"/>
                <a:gridCol w="3110865"/>
                <a:gridCol w="1153160"/>
              </a:tblGrid>
              <a:tr h="250825">
                <a:tc gridSpan="3"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iPhone 14 Pro Max(6G + 128) iOS16.1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50825">
                <a:tc rowSpan="7">
                  <a:txBody>
                    <a:bodyPr/>
                    <a:p>
                      <a:pPr algn="ctr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内核占用</a:t>
                      </a:r>
                      <a:b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</a:b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（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MB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）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200" b="0" i="0">
                          <a:solidFill>
                            <a:srgbClr val="0F1115"/>
                          </a:solidFill>
                          <a:latin typeface="微软雅黑" charset="0"/>
                          <a:ea typeface="微软雅黑" charset="0"/>
                        </a:rPr>
                        <a:t>内核占用子项</a:t>
                      </a:r>
                      <a:endParaRPr lang="zh-CN" altLang="en-US" sz="1200" b="0" i="0">
                        <a:solidFill>
                          <a:srgbClr val="0F1115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动态模型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082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200" b="0" i="0">
                          <a:solidFill>
                            <a:srgbClr val="0F1115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VM_KERN_COUNT_WIRED_</a:t>
                      </a:r>
                      <a:r>
                        <a:rPr lang="zh-CN" altLang="en-US" sz="1200" b="0" i="0">
                          <a:solidFill>
                            <a:srgbClr val="0F1115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残余</a:t>
                      </a:r>
                      <a:endParaRPr lang="zh-CN" altLang="en-US" sz="1200" b="0" i="0">
                        <a:solidFill>
                          <a:srgbClr val="0F1115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117 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082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200" b="0" i="0">
                          <a:solidFill>
                            <a:srgbClr val="0F1115"/>
                          </a:solidFill>
                          <a:latin typeface="微软雅黑" charset="0"/>
                          <a:ea typeface="微软雅黑" charset="0"/>
                        </a:rPr>
                        <a:t>zones</a:t>
                      </a:r>
                      <a:endParaRPr lang="en-US" altLang="zh-CN" sz="1200" b="0" i="0">
                        <a:solidFill>
                          <a:srgbClr val="0F1115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242 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082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200" b="0" i="0">
                          <a:solidFill>
                            <a:srgbClr val="0F1115"/>
                          </a:solidFill>
                          <a:latin typeface="微软雅黑" charset="0"/>
                          <a:ea typeface="微软雅黑" charset="0"/>
                        </a:rPr>
                        <a:t>Others (wired initial)</a:t>
                      </a:r>
                      <a:endParaRPr lang="en-US" altLang="zh-CN" sz="1200" b="0" i="0">
                        <a:solidFill>
                          <a:srgbClr val="0F1115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218 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082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200" b="0" i="0">
                          <a:solidFill>
                            <a:srgbClr val="0F1115"/>
                          </a:solidFill>
                          <a:latin typeface="微软雅黑" charset="0"/>
                          <a:ea typeface="微软雅黑" charset="0"/>
                        </a:rPr>
                        <a:t>VM_KERN_MEMORY_STACK</a:t>
                      </a:r>
                      <a:endParaRPr lang="en-US" altLang="zh-CN" sz="1200" b="0" i="0">
                        <a:solidFill>
                          <a:srgbClr val="0F1115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2 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082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200" b="0" i="0">
                          <a:solidFill>
                            <a:srgbClr val="0F1115"/>
                          </a:solidFill>
                          <a:latin typeface="微软雅黑" charset="0"/>
                          <a:ea typeface="微软雅黑" charset="0"/>
                        </a:rPr>
                        <a:t>VM_KERN_MEMORY_PTE</a:t>
                      </a:r>
                      <a:endParaRPr lang="en-US" altLang="zh-CN" sz="1200" b="0" i="0">
                        <a:solidFill>
                          <a:srgbClr val="0F1115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111 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082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200" b="0" i="0">
                          <a:solidFill>
                            <a:srgbClr val="0F1115"/>
                          </a:solidFill>
                          <a:latin typeface="微软雅黑" charset="0"/>
                          <a:ea typeface="微软雅黑" charset="0"/>
                        </a:rPr>
                        <a:t>内核总和</a:t>
                      </a:r>
                      <a:endParaRPr lang="zh-CN" altLang="en-US" sz="1200" b="0" i="0">
                        <a:solidFill>
                          <a:srgbClr val="0F1115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2F4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689 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2F4F2"/>
                    </a:solidFill>
                  </a:tcPr>
                </a:tc>
              </a:tr>
              <a:tr h="250825">
                <a:tc rowSpan="6">
                  <a:txBody>
                    <a:bodyPr/>
                    <a:p>
                      <a:pPr algn="ctr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驱动占用</a:t>
                      </a:r>
                      <a:b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</a:b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（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MB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）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200" b="0" i="0">
                          <a:solidFill>
                            <a:srgbClr val="0F1115"/>
                          </a:solidFill>
                          <a:latin typeface="微软雅黑" charset="0"/>
                          <a:ea typeface="微软雅黑" charset="0"/>
                        </a:rPr>
                        <a:t>驱动占用子项</a:t>
                      </a:r>
                      <a:endParaRPr lang="zh-CN" altLang="en-US" sz="1200" b="0" i="0">
                        <a:solidFill>
                          <a:srgbClr val="0F1115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动态模型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082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other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33 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082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200" b="0" i="0">
                          <a:solidFill>
                            <a:srgbClr val="0F1115"/>
                          </a:solidFill>
                          <a:latin typeface="微软雅黑" charset="0"/>
                          <a:ea typeface="微软雅黑" charset="0"/>
                        </a:rPr>
                        <a:t>com.apple.AGXG15P_A0</a:t>
                      </a:r>
                      <a:endParaRPr lang="en-US" altLang="zh-CN" sz="1200" b="0" i="0">
                        <a:solidFill>
                          <a:srgbClr val="0F1115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34 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082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200" b="0" i="0">
                          <a:solidFill>
                            <a:srgbClr val="0F1115"/>
                          </a:solidFill>
                          <a:latin typeface="微软雅黑" charset="0"/>
                          <a:ea typeface="微软雅黑" charset="0"/>
                        </a:rPr>
                        <a:t>com.apple.driver.xxx</a:t>
                      </a:r>
                      <a:endParaRPr lang="en-US" altLang="zh-CN" sz="1200" b="0" i="0">
                        <a:solidFill>
                          <a:srgbClr val="0F1115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353 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082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200" b="0" i="0">
                          <a:solidFill>
                            <a:srgbClr val="0F1115"/>
                          </a:solidFill>
                          <a:latin typeface="微软雅黑" charset="0"/>
                          <a:ea typeface="微软雅黑" charset="0"/>
                        </a:rPr>
                        <a:t>com.apple.iokit.xxx</a:t>
                      </a:r>
                      <a:endParaRPr lang="en-US" altLang="zh-CN" sz="1200" b="0" i="0">
                        <a:solidFill>
                          <a:srgbClr val="0F1115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75 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082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200" b="0" i="0">
                          <a:solidFill>
                            <a:srgbClr val="0F1115"/>
                          </a:solidFill>
                          <a:latin typeface="微软雅黑" charset="0"/>
                          <a:ea typeface="微软雅黑" charset="0"/>
                        </a:rPr>
                        <a:t>驱动总和</a:t>
                      </a:r>
                      <a:endParaRPr lang="zh-CN" altLang="en-US" sz="1200" b="0" i="0">
                        <a:solidFill>
                          <a:srgbClr val="0F1115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2F4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495 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2F4F2"/>
                    </a:solidFill>
                  </a:tcPr>
                </a:tc>
              </a:tr>
              <a:tr h="250825">
                <a:tc>
                  <a:txBody>
                    <a:bodyPr/>
                    <a:p>
                      <a:pPr algn="ctr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总和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3CA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内核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+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驱动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3CA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1184 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3C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表格 9"/>
          <p:cNvGraphicFramePr/>
          <p:nvPr/>
        </p:nvGraphicFramePr>
        <p:xfrm>
          <a:off x="6617970" y="564515"/>
          <a:ext cx="5161915" cy="5387340"/>
        </p:xfrm>
        <a:graphic>
          <a:graphicData uri="http://schemas.openxmlformats.org/drawingml/2006/table">
            <a:tbl>
              <a:tblPr/>
              <a:tblGrid>
                <a:gridCol w="937895"/>
                <a:gridCol w="3215640"/>
                <a:gridCol w="1008380"/>
              </a:tblGrid>
              <a:tr h="252000">
                <a:tc gridSpan="3"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CHZ(8G + 256) B138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SP18_6.0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52000">
                <a:tc rowSpan="12">
                  <a:txBody>
                    <a:bodyPr/>
                    <a:p>
                      <a:pPr algn="ctr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内核占用</a:t>
                      </a:r>
                      <a:b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</a:b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（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MB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）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200" b="0" i="0">
                          <a:solidFill>
                            <a:srgbClr val="0F1115"/>
                          </a:solidFill>
                          <a:latin typeface="微软雅黑" charset="0"/>
                          <a:ea typeface="微软雅黑" charset="0"/>
                        </a:rPr>
                        <a:t>内核占用子项</a:t>
                      </a:r>
                      <a:endParaRPr lang="zh-CN" altLang="en-US" sz="1200" b="0" i="0">
                        <a:solidFill>
                          <a:srgbClr val="0F1115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动态模型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200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200" b="0" i="0">
                          <a:solidFill>
                            <a:srgbClr val="0F1115"/>
                          </a:solidFill>
                          <a:latin typeface="微软雅黑" charset="0"/>
                          <a:ea typeface="微软雅黑" charset="0"/>
                        </a:rPr>
                        <a:t>内核服务</a:t>
                      </a:r>
                      <a:endParaRPr lang="zh-CN" altLang="en-US" sz="1200" b="0" i="0">
                        <a:solidFill>
                          <a:srgbClr val="0F1115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235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200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200" b="0" i="0">
                          <a:solidFill>
                            <a:srgbClr val="0F1115"/>
                          </a:solidFill>
                          <a:latin typeface="微软雅黑" charset="0"/>
                          <a:ea typeface="微软雅黑" charset="0"/>
                        </a:rPr>
                        <a:t>SUnreclaim</a:t>
                      </a:r>
                      <a:endParaRPr lang="en-US" altLang="zh-CN" sz="1200" b="0" i="0">
                        <a:solidFill>
                          <a:srgbClr val="0F1115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274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200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200" b="0" i="0">
                          <a:solidFill>
                            <a:srgbClr val="0F1115"/>
                          </a:solidFill>
                          <a:latin typeface="微软雅黑" charset="0"/>
                          <a:ea typeface="微软雅黑" charset="0"/>
                        </a:rPr>
                        <a:t>KObject</a:t>
                      </a:r>
                      <a:endParaRPr lang="en-US" altLang="zh-CN" sz="1200" b="0" i="0">
                        <a:solidFill>
                          <a:srgbClr val="0F1115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65 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200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200" b="0" i="0">
                          <a:solidFill>
                            <a:srgbClr val="0F1115"/>
                          </a:solidFill>
                          <a:latin typeface="微软雅黑" charset="0"/>
                          <a:ea typeface="微软雅黑" charset="0"/>
                        </a:rPr>
                        <a:t>DireAllocate</a:t>
                      </a:r>
                      <a:endParaRPr lang="en-US" altLang="zh-CN" sz="1200" b="0" i="0">
                        <a:solidFill>
                          <a:srgbClr val="0F1115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26 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200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200" b="0" i="0">
                          <a:solidFill>
                            <a:srgbClr val="0F1115"/>
                          </a:solidFill>
                          <a:latin typeface="微软雅黑" charset="0"/>
                          <a:ea typeface="微软雅黑" charset="0"/>
                        </a:rPr>
                        <a:t>anon_swap_meta</a:t>
                      </a:r>
                      <a:endParaRPr lang="en-US" altLang="zh-CN" sz="1200" b="0" i="0">
                        <a:solidFill>
                          <a:srgbClr val="0F1115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34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200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200" b="0" i="0">
                          <a:solidFill>
                            <a:srgbClr val="0F1115"/>
                          </a:solidFill>
                          <a:latin typeface="微软雅黑" charset="0"/>
                          <a:ea typeface="微软雅黑" charset="0"/>
                        </a:rPr>
                        <a:t>VmemmapRsvTotal</a:t>
                      </a:r>
                      <a:endParaRPr lang="en-US" altLang="zh-CN" sz="1200" b="0" i="0">
                        <a:solidFill>
                          <a:srgbClr val="0F1115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122 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200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200" b="0" i="0">
                          <a:solidFill>
                            <a:srgbClr val="0F1115"/>
                          </a:solidFill>
                          <a:latin typeface="微软雅黑" charset="0"/>
                          <a:ea typeface="微软雅黑" charset="0"/>
                        </a:rPr>
                        <a:t>ActvStack</a:t>
                      </a:r>
                      <a:endParaRPr lang="en-US" altLang="zh-CN" sz="1200" b="0" i="0">
                        <a:solidFill>
                          <a:srgbClr val="0F1115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60 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200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200" b="0" i="0">
                          <a:solidFill>
                            <a:srgbClr val="0F1115"/>
                          </a:solidFill>
                          <a:latin typeface="微软雅黑" charset="0"/>
                          <a:ea typeface="微软雅黑" charset="0"/>
                        </a:rPr>
                        <a:t>PageTables</a:t>
                      </a:r>
                      <a:endParaRPr lang="en-US" altLang="zh-CN" sz="1200" b="0" i="0">
                        <a:solidFill>
                          <a:srgbClr val="0F1115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197 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200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200" b="0" i="0">
                          <a:solidFill>
                            <a:srgbClr val="0F1115"/>
                          </a:solidFill>
                          <a:latin typeface="微软雅黑" charset="0"/>
                          <a:ea typeface="微软雅黑" charset="0"/>
                        </a:rPr>
                        <a:t>内核总和</a:t>
                      </a:r>
                      <a:endParaRPr lang="zh-CN" altLang="en-US" sz="1200" b="0" i="0">
                        <a:solidFill>
                          <a:srgbClr val="0F1115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979 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200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200" b="0" i="0">
                          <a:solidFill>
                            <a:srgbClr val="0F1115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CHZ 6G + 128G </a:t>
                      </a:r>
                      <a:r>
                        <a:rPr lang="zh-CN" altLang="en-US" sz="1200" b="0" i="0">
                          <a:solidFill>
                            <a:srgbClr val="0F1115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占用测算</a:t>
                      </a:r>
                      <a:endParaRPr lang="zh-CN" altLang="en-US" sz="1200" b="0" i="0">
                        <a:solidFill>
                          <a:srgbClr val="0F1115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2F4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51.5 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2F4F2"/>
                    </a:solidFill>
                  </a:tcPr>
                </a:tc>
              </a:tr>
              <a:tr h="25200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200" b="0" i="0">
                          <a:solidFill>
                            <a:srgbClr val="0F1115"/>
                          </a:solidFill>
                          <a:latin typeface="微软雅黑" charset="0"/>
                          <a:ea typeface="微软雅黑" charset="0"/>
                        </a:rPr>
                        <a:t>GAP</a:t>
                      </a:r>
                      <a:endParaRPr lang="en-US" altLang="zh-CN" sz="1200" b="0" i="0">
                        <a:solidFill>
                          <a:srgbClr val="0F1115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2F4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238.5 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2F4F2"/>
                    </a:solidFill>
                  </a:tcPr>
                </a:tc>
              </a:tr>
              <a:tr h="252000">
                <a:tc rowSpan="7">
                  <a:txBody>
                    <a:bodyPr/>
                    <a:p>
                      <a:pPr algn="ctr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驱动占用</a:t>
                      </a:r>
                      <a:b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</a:b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（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MB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）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200" b="0" i="0">
                          <a:solidFill>
                            <a:srgbClr val="0F1115"/>
                          </a:solidFill>
                          <a:latin typeface="微软雅黑" charset="0"/>
                          <a:ea typeface="微软雅黑" charset="0"/>
                        </a:rPr>
                        <a:t>驱动占用子项</a:t>
                      </a:r>
                      <a:endParaRPr lang="zh-CN" altLang="en-US" sz="1200" b="0" i="0">
                        <a:solidFill>
                          <a:srgbClr val="0F1115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动态模型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200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200" b="0" i="0">
                          <a:solidFill>
                            <a:srgbClr val="0F1115"/>
                          </a:solidFill>
                          <a:latin typeface="微软雅黑" charset="0"/>
                          <a:ea typeface="微软雅黑" charset="0"/>
                        </a:rPr>
                        <a:t>CmaUsed</a:t>
                      </a:r>
                      <a:endParaRPr lang="en-US" altLang="zh-CN" sz="1200" b="0" i="0">
                        <a:solidFill>
                          <a:srgbClr val="0F1115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49 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200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200" b="0" i="0">
                          <a:solidFill>
                            <a:srgbClr val="0F1115"/>
                          </a:solidFill>
                          <a:latin typeface="微软雅黑" charset="0"/>
                          <a:ea typeface="微软雅黑" charset="0"/>
                        </a:rPr>
                        <a:t>LDKSlabUnreclaim</a:t>
                      </a:r>
                      <a:endParaRPr lang="en-US" altLang="zh-CN" sz="1200" b="0" i="0">
                        <a:solidFill>
                          <a:srgbClr val="0F1115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101 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200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200" b="0" i="0">
                          <a:solidFill>
                            <a:srgbClr val="0F1115"/>
                          </a:solidFill>
                          <a:latin typeface="微软雅黑" charset="0"/>
                          <a:ea typeface="微软雅黑" charset="0"/>
                        </a:rPr>
                        <a:t>UDrvUsed - VmemmapRsvTotal</a:t>
                      </a:r>
                      <a:endParaRPr lang="en-US" altLang="zh-CN" sz="1200" b="0" i="0">
                        <a:solidFill>
                          <a:srgbClr val="0F1115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64 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200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200" b="0" i="0">
                          <a:solidFill>
                            <a:srgbClr val="0F1115"/>
                          </a:solidFill>
                          <a:latin typeface="微软雅黑" charset="0"/>
                          <a:ea typeface="微软雅黑" charset="0"/>
                        </a:rPr>
                        <a:t>IonTotalUsed</a:t>
                      </a:r>
                      <a:endParaRPr lang="en-US" altLang="zh-CN" sz="1200" b="0" i="0">
                        <a:solidFill>
                          <a:srgbClr val="0F1115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722 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200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200" b="0" i="0">
                          <a:solidFill>
                            <a:srgbClr val="0F1115"/>
                          </a:solidFill>
                          <a:latin typeface="微软雅黑" charset="0"/>
                          <a:ea typeface="微软雅黑" charset="0"/>
                        </a:rPr>
                        <a:t>GpuTotalUsed</a:t>
                      </a:r>
                      <a:endParaRPr lang="en-US" altLang="zh-CN" sz="1200" b="0" i="0">
                        <a:solidFill>
                          <a:srgbClr val="0F1115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715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200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200" b="0" i="0">
                          <a:solidFill>
                            <a:srgbClr val="0F1115"/>
                          </a:solidFill>
                          <a:latin typeface="微软雅黑" charset="0"/>
                          <a:ea typeface="微软雅黑" charset="0"/>
                        </a:rPr>
                        <a:t>驱动总和</a:t>
                      </a:r>
                      <a:endParaRPr lang="zh-CN" altLang="en-US" sz="1200" b="0" i="0">
                        <a:solidFill>
                          <a:srgbClr val="0F1115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2F4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1651 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2F4F2"/>
                    </a:solidFill>
                  </a:tcPr>
                </a:tc>
              </a:tr>
              <a:tr h="252000">
                <a:tc>
                  <a:txBody>
                    <a:bodyPr/>
                    <a:p>
                      <a:pPr algn="ctr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总和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3CA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内核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+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驱动（含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ION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，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GPU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）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3CA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2630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3CA"/>
                    </a:solidFill>
                  </a:tcPr>
                </a:tc>
              </a:tr>
            </a:tbl>
          </a:graphicData>
        </a:graphic>
      </p:graphicFrame>
      <p:sp>
        <p:nvSpPr>
          <p:cNvPr id="11" name="文本框 10"/>
          <p:cNvSpPr txBox="1"/>
          <p:nvPr/>
        </p:nvSpPr>
        <p:spPr>
          <a:xfrm>
            <a:off x="381000" y="4460240"/>
            <a:ext cx="5311140" cy="24511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/>
            <a:r>
              <a:rPr lang="en-US" altLang="zh-CN" sz="1000" b="0" i="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IOS </a:t>
            </a:r>
            <a:r>
              <a:rPr lang="zh-CN" altLang="en-US" sz="1000" b="0" i="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仅具备 </a:t>
            </a:r>
            <a:r>
              <a:rPr lang="en-US" altLang="zh-CN" sz="1000" b="0" i="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iPhone 14 </a:t>
            </a:r>
            <a:r>
              <a:rPr lang="en-US" altLang="zh-CN" sz="1000">
                <a:solidFill>
                  <a:srgbClr val="000000"/>
                </a:solidFill>
                <a:latin typeface="微软雅黑" charset="0"/>
                <a:ea typeface="微软雅黑" charset="0"/>
                <a:sym typeface="+mn-ea"/>
              </a:rPr>
              <a:t>Pro Max </a:t>
            </a:r>
            <a:r>
              <a:rPr lang="en-US" altLang="zh-CN" sz="1000" b="0" i="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6G+</a:t>
            </a:r>
            <a:r>
              <a:rPr lang="en-US" altLang="zh-CN" sz="1000">
                <a:solidFill>
                  <a:srgbClr val="000000"/>
                </a:solidFill>
                <a:latin typeface="微软雅黑" charset="0"/>
                <a:ea typeface="微软雅黑" charset="0"/>
                <a:sym typeface="+mn-ea"/>
              </a:rPr>
              <a:t>128</a:t>
            </a:r>
            <a:r>
              <a:rPr lang="en-US" altLang="zh-CN" sz="1000" b="0" i="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G </a:t>
            </a:r>
            <a:r>
              <a:rPr lang="zh-CN" altLang="en-US" sz="1000" b="0" i="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可越狱，</a:t>
            </a:r>
            <a:r>
              <a:rPr lang="en-US" altLang="zh-CN" sz="1000" b="0" i="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iOS </a:t>
            </a:r>
            <a:r>
              <a:rPr lang="zh-CN" altLang="en-US" sz="1000" b="0" i="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版本为 </a:t>
            </a:r>
            <a:r>
              <a:rPr lang="en-US" altLang="zh-CN" sz="1000" b="0" i="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iOS 16.1。</a:t>
            </a:r>
            <a:endParaRPr lang="en-US" sz="1000" b="0" i="0">
              <a:solidFill>
                <a:srgbClr val="0F1115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553200" y="5864225"/>
            <a:ext cx="5004435" cy="860425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txBody>
          <a:bodyPr wrap="square" rtlCol="0" anchor="t">
            <a:spAutoFit/>
          </a:bodyPr>
          <a:p>
            <a:pPr algn="l">
              <a:lnSpc>
                <a:spcPct val="100000"/>
              </a:lnSpc>
            </a:pPr>
            <a:r>
              <a:rPr lang="zh-CN" altLang="en-US" sz="100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驱动统计包含</a:t>
            </a:r>
            <a:r>
              <a:rPr lang="en-US" altLang="zh-CN" sz="100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Ion</a:t>
            </a:r>
            <a:r>
              <a:rPr lang="zh-CN" altLang="en-US" sz="100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、</a:t>
            </a:r>
            <a:r>
              <a:rPr lang="en-US" altLang="zh-CN" sz="100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GPU</a:t>
            </a:r>
            <a:r>
              <a:rPr lang="zh-CN" altLang="en-US" sz="100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；</a:t>
            </a:r>
            <a:endParaRPr lang="en-US" altLang="zh-CN" sz="1000">
              <a:solidFill>
                <a:srgbClr val="0F1115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algn="l">
              <a:lnSpc>
                <a:spcPct val="100000"/>
              </a:lnSpc>
            </a:pPr>
            <a:r>
              <a:rPr lang="en-US" altLang="zh-CN" sz="100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CHZ </a:t>
            </a:r>
            <a:r>
              <a:rPr lang="zh-CN" altLang="en-US" sz="100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存储</a:t>
            </a:r>
            <a:r>
              <a:rPr lang="en-US" altLang="zh-CN" sz="100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256G</a:t>
            </a:r>
            <a:r>
              <a:rPr lang="zh-CN" altLang="en-US" sz="100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相比</a:t>
            </a:r>
            <a:r>
              <a:rPr lang="en-US" altLang="zh-CN" sz="100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128G</a:t>
            </a:r>
            <a:r>
              <a:rPr lang="zh-CN" altLang="en-US" sz="100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，元数据增加</a:t>
            </a:r>
            <a:r>
              <a:rPr lang="en-US" altLang="zh-CN" sz="100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156K / 1G</a:t>
            </a:r>
            <a:r>
              <a:rPr lang="zh-CN" altLang="en-US" sz="100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存储</a:t>
            </a:r>
            <a:r>
              <a:rPr lang="en-US" altLang="en-US" sz="100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×</a:t>
            </a:r>
            <a:r>
              <a:rPr lang="en-US" altLang="zh-CN" sz="100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 </a:t>
            </a:r>
            <a:r>
              <a:rPr lang="en-US" altLang="en-US" sz="100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️</a:t>
            </a:r>
            <a:r>
              <a:rPr lang="en-US" altLang="zh-CN" sz="100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(256-128) G = 19.5M</a:t>
            </a:r>
            <a:r>
              <a:rPr lang="zh-CN" altLang="en-US" sz="100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；</a:t>
            </a:r>
            <a:r>
              <a:rPr lang="en-US" altLang="zh-CN" sz="100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 </a:t>
            </a:r>
            <a:r>
              <a:rPr lang="zh-CN" altLang="en-US" sz="100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存储管理开销跟随纪要。</a:t>
            </a:r>
            <a:endParaRPr lang="en-US" altLang="zh-CN" sz="1000">
              <a:solidFill>
                <a:srgbClr val="0F1115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algn="l">
              <a:lnSpc>
                <a:spcPct val="100000"/>
              </a:lnSpc>
            </a:pPr>
            <a:r>
              <a:rPr lang="en-US" altLang="zh-CN" sz="100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iPhone 14 Pro Max </a:t>
            </a:r>
            <a:r>
              <a:rPr lang="zh-CN" altLang="en-US" sz="100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内存</a:t>
            </a:r>
            <a:r>
              <a:rPr lang="en-US" altLang="zh-CN" sz="100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 6G </a:t>
            </a:r>
            <a:r>
              <a:rPr lang="zh-CN" altLang="en-US" sz="100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相比</a:t>
            </a:r>
            <a:r>
              <a:rPr lang="en-US" altLang="zh-CN" sz="100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 CHZ 8G</a:t>
            </a:r>
            <a:r>
              <a:rPr lang="zh-CN" altLang="en-US" sz="100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，</a:t>
            </a:r>
            <a:r>
              <a:rPr lang="en-US" altLang="zh-CN" sz="100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VMEMMAP</a:t>
            </a:r>
            <a:r>
              <a:rPr lang="zh-CN" altLang="en-US" sz="100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管理开销更小：按每</a:t>
            </a:r>
            <a:r>
              <a:rPr lang="en-US" altLang="zh-CN" sz="100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 4K </a:t>
            </a:r>
            <a:r>
              <a:rPr lang="zh-CN" altLang="en-US" sz="100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内存页对应</a:t>
            </a:r>
            <a:r>
              <a:rPr lang="en-US" altLang="zh-CN" sz="100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64 Byte</a:t>
            </a:r>
            <a:r>
              <a:rPr lang="zh-CN" altLang="en-US" sz="100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结构体折算，管理开销减少</a:t>
            </a:r>
            <a:r>
              <a:rPr lang="en-US" altLang="zh-CN" sz="100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64B/4KB </a:t>
            </a:r>
            <a:r>
              <a:rPr lang="zh-CN" altLang="en-US" sz="100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内存</a:t>
            </a:r>
            <a:r>
              <a:rPr lang="en-US" altLang="en-US" sz="100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×</a:t>
            </a:r>
            <a:r>
              <a:rPr lang="en-US" altLang="zh-CN" sz="100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(8-6)G=32M</a:t>
            </a:r>
            <a:r>
              <a:rPr lang="zh-CN" altLang="en-US" sz="100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。</a:t>
            </a:r>
            <a:endParaRPr lang="zh-CN" altLang="en-US" sz="1000">
              <a:solidFill>
                <a:srgbClr val="0F1115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cxnSp>
        <p:nvCxnSpPr>
          <p:cNvPr id="2" name="直接连接符 1"/>
          <p:cNvCxnSpPr/>
          <p:nvPr/>
        </p:nvCxnSpPr>
        <p:spPr>
          <a:xfrm>
            <a:off x="346075" y="4829810"/>
            <a:ext cx="5346065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文本框 6"/>
          <p:cNvSpPr txBox="1"/>
          <p:nvPr/>
        </p:nvSpPr>
        <p:spPr>
          <a:xfrm>
            <a:off x="0" y="0"/>
            <a:ext cx="6231890" cy="532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ts val="3440"/>
              </a:lnSpc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数据分析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总体对比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0" y="532130"/>
            <a:ext cx="12204065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aphicFrame>
        <p:nvGraphicFramePr>
          <p:cNvPr id="9" name="表格 8"/>
          <p:cNvGraphicFramePr/>
          <p:nvPr>
            <p:custDataLst>
              <p:tags r:id="rId1"/>
            </p:custDataLst>
          </p:nvPr>
        </p:nvGraphicFramePr>
        <p:xfrm>
          <a:off x="381000" y="565785"/>
          <a:ext cx="5252085" cy="3762375"/>
        </p:xfrm>
        <a:graphic>
          <a:graphicData uri="http://schemas.openxmlformats.org/drawingml/2006/table">
            <a:tbl>
              <a:tblPr/>
              <a:tblGrid>
                <a:gridCol w="988060"/>
                <a:gridCol w="3110865"/>
                <a:gridCol w="1153160"/>
              </a:tblGrid>
              <a:tr h="250825">
                <a:tc gridSpan="3"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iPhone 14 Pro Max(6G + 128) iOS16.1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50825">
                <a:tc rowSpan="7">
                  <a:txBody>
                    <a:bodyPr/>
                    <a:p>
                      <a:pPr algn="ctr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内核占用</a:t>
                      </a:r>
                      <a:b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</a:b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（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MB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）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200" b="0" i="0">
                          <a:solidFill>
                            <a:srgbClr val="0F1115"/>
                          </a:solidFill>
                          <a:latin typeface="微软雅黑" charset="0"/>
                          <a:ea typeface="微软雅黑" charset="0"/>
                        </a:rPr>
                        <a:t>内核占用子项</a:t>
                      </a:r>
                      <a:endParaRPr lang="zh-CN" altLang="en-US" sz="1200" b="0" i="0">
                        <a:solidFill>
                          <a:srgbClr val="0F1115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动态模型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082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200" b="0" i="0">
                          <a:solidFill>
                            <a:srgbClr val="0F1115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VM_KERN_COUNT_WIRED_</a:t>
                      </a:r>
                      <a:r>
                        <a:rPr lang="zh-CN" altLang="en-US" sz="1200" b="0" i="0">
                          <a:solidFill>
                            <a:srgbClr val="0F1115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残余</a:t>
                      </a:r>
                      <a:endParaRPr lang="zh-CN" altLang="en-US" sz="1200" b="0" i="0">
                        <a:solidFill>
                          <a:srgbClr val="0F1115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117 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082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200" b="0" i="0">
                          <a:solidFill>
                            <a:srgbClr val="0F1115"/>
                          </a:solidFill>
                          <a:latin typeface="微软雅黑" charset="0"/>
                          <a:ea typeface="微软雅黑" charset="0"/>
                        </a:rPr>
                        <a:t>zones</a:t>
                      </a:r>
                      <a:endParaRPr lang="en-US" altLang="zh-CN" sz="1200" b="0" i="0">
                        <a:solidFill>
                          <a:srgbClr val="0F1115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242 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082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200" b="0" i="0">
                          <a:solidFill>
                            <a:srgbClr val="0F1115"/>
                          </a:solidFill>
                          <a:latin typeface="微软雅黑" charset="0"/>
                          <a:ea typeface="微软雅黑" charset="0"/>
                        </a:rPr>
                        <a:t>Others (wired initial)</a:t>
                      </a:r>
                      <a:endParaRPr lang="en-US" altLang="zh-CN" sz="1200" b="0" i="0">
                        <a:solidFill>
                          <a:srgbClr val="0F1115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218 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082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200" b="0" i="0">
                          <a:solidFill>
                            <a:srgbClr val="0F1115"/>
                          </a:solidFill>
                          <a:latin typeface="微软雅黑" charset="0"/>
                          <a:ea typeface="微软雅黑" charset="0"/>
                        </a:rPr>
                        <a:t>VM_KERN_MEMORY_STACK</a:t>
                      </a:r>
                      <a:endParaRPr lang="en-US" altLang="zh-CN" sz="1200" b="0" i="0">
                        <a:solidFill>
                          <a:srgbClr val="0F1115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2 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082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200" b="0" i="0">
                          <a:solidFill>
                            <a:srgbClr val="0F1115"/>
                          </a:solidFill>
                          <a:latin typeface="微软雅黑" charset="0"/>
                          <a:ea typeface="微软雅黑" charset="0"/>
                        </a:rPr>
                        <a:t>VM_KERN_MEMORY_PTE</a:t>
                      </a:r>
                      <a:endParaRPr lang="en-US" altLang="zh-CN" sz="1200" b="0" i="0">
                        <a:solidFill>
                          <a:srgbClr val="0F1115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111 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082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200" b="0" i="0">
                          <a:solidFill>
                            <a:srgbClr val="0F1115"/>
                          </a:solidFill>
                          <a:latin typeface="微软雅黑" charset="0"/>
                          <a:ea typeface="微软雅黑" charset="0"/>
                        </a:rPr>
                        <a:t>内核总和</a:t>
                      </a:r>
                      <a:endParaRPr lang="zh-CN" altLang="en-US" sz="1200" b="0" i="0">
                        <a:solidFill>
                          <a:srgbClr val="0F1115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2F4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689 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2F4F2"/>
                    </a:solidFill>
                  </a:tcPr>
                </a:tc>
              </a:tr>
              <a:tr h="250825">
                <a:tc rowSpan="6">
                  <a:txBody>
                    <a:bodyPr/>
                    <a:p>
                      <a:pPr algn="ctr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驱动占用</a:t>
                      </a:r>
                      <a:b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</a:b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（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MB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）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200" b="0" i="0">
                          <a:solidFill>
                            <a:srgbClr val="0F1115"/>
                          </a:solidFill>
                          <a:latin typeface="微软雅黑" charset="0"/>
                          <a:ea typeface="微软雅黑" charset="0"/>
                        </a:rPr>
                        <a:t>驱动占用子项</a:t>
                      </a:r>
                      <a:endParaRPr lang="zh-CN" altLang="en-US" sz="1200" b="0" i="0">
                        <a:solidFill>
                          <a:srgbClr val="0F1115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动态模型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082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other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33 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082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200" b="0" i="0">
                          <a:solidFill>
                            <a:srgbClr val="0F1115"/>
                          </a:solidFill>
                          <a:latin typeface="微软雅黑" charset="0"/>
                          <a:ea typeface="微软雅黑" charset="0"/>
                        </a:rPr>
                        <a:t>com.apple.AGXG15P_A0</a:t>
                      </a:r>
                      <a:endParaRPr lang="en-US" altLang="zh-CN" sz="1200" b="0" i="0">
                        <a:solidFill>
                          <a:srgbClr val="0F1115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34 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082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200" b="0" i="0">
                          <a:solidFill>
                            <a:srgbClr val="0F1115"/>
                          </a:solidFill>
                          <a:latin typeface="微软雅黑" charset="0"/>
                          <a:ea typeface="微软雅黑" charset="0"/>
                        </a:rPr>
                        <a:t>com.apple.driver.xxx</a:t>
                      </a:r>
                      <a:endParaRPr lang="en-US" altLang="zh-CN" sz="1200" b="0" i="0">
                        <a:solidFill>
                          <a:srgbClr val="0F1115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353 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082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200" b="0" i="0">
                          <a:solidFill>
                            <a:srgbClr val="0F1115"/>
                          </a:solidFill>
                          <a:latin typeface="微软雅黑" charset="0"/>
                          <a:ea typeface="微软雅黑" charset="0"/>
                        </a:rPr>
                        <a:t>com.apple.iokit.xxx</a:t>
                      </a:r>
                      <a:endParaRPr lang="en-US" altLang="zh-CN" sz="1200" b="0" i="0">
                        <a:solidFill>
                          <a:srgbClr val="0F1115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75 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082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200" b="0" i="0">
                          <a:solidFill>
                            <a:srgbClr val="0F1115"/>
                          </a:solidFill>
                          <a:latin typeface="微软雅黑" charset="0"/>
                          <a:ea typeface="微软雅黑" charset="0"/>
                        </a:rPr>
                        <a:t>驱动总和</a:t>
                      </a:r>
                      <a:endParaRPr lang="zh-CN" altLang="en-US" sz="1200" b="0" i="0">
                        <a:solidFill>
                          <a:srgbClr val="0F1115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2F4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495 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2F4F2"/>
                    </a:solidFill>
                  </a:tcPr>
                </a:tc>
              </a:tr>
              <a:tr h="250825">
                <a:tc>
                  <a:txBody>
                    <a:bodyPr/>
                    <a:p>
                      <a:pPr algn="ctr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总和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3CA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内核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+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驱动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3CA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1184 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3C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表格 9"/>
          <p:cNvGraphicFramePr/>
          <p:nvPr/>
        </p:nvGraphicFramePr>
        <p:xfrm>
          <a:off x="6617970" y="564515"/>
          <a:ext cx="5161915" cy="5387340"/>
        </p:xfrm>
        <a:graphic>
          <a:graphicData uri="http://schemas.openxmlformats.org/drawingml/2006/table">
            <a:tbl>
              <a:tblPr/>
              <a:tblGrid>
                <a:gridCol w="937895"/>
                <a:gridCol w="3215640"/>
                <a:gridCol w="1008380"/>
              </a:tblGrid>
              <a:tr h="252000">
                <a:tc gridSpan="3"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CHZ(8G + 256) B138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SP18_6.0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52000">
                <a:tc rowSpan="12">
                  <a:txBody>
                    <a:bodyPr/>
                    <a:p>
                      <a:pPr algn="ctr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内核占用</a:t>
                      </a:r>
                      <a:b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</a:b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（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MB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）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200" b="0" i="0">
                          <a:solidFill>
                            <a:srgbClr val="0F1115"/>
                          </a:solidFill>
                          <a:latin typeface="微软雅黑" charset="0"/>
                          <a:ea typeface="微软雅黑" charset="0"/>
                        </a:rPr>
                        <a:t>内核占用子项</a:t>
                      </a:r>
                      <a:endParaRPr lang="zh-CN" altLang="en-US" sz="1200" b="0" i="0">
                        <a:solidFill>
                          <a:srgbClr val="0F1115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动态模型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200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200" b="0" i="0">
                          <a:solidFill>
                            <a:srgbClr val="0F1115"/>
                          </a:solidFill>
                          <a:latin typeface="微软雅黑" charset="0"/>
                          <a:ea typeface="微软雅黑" charset="0"/>
                        </a:rPr>
                        <a:t>内核服务</a:t>
                      </a:r>
                      <a:endParaRPr lang="zh-CN" altLang="en-US" sz="1200" b="0" i="0">
                        <a:solidFill>
                          <a:srgbClr val="0F1115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235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200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200" b="0" i="0">
                          <a:solidFill>
                            <a:srgbClr val="0F1115"/>
                          </a:solidFill>
                          <a:latin typeface="微软雅黑" charset="0"/>
                          <a:ea typeface="微软雅黑" charset="0"/>
                        </a:rPr>
                        <a:t>SUnreclaim</a:t>
                      </a:r>
                      <a:endParaRPr lang="en-US" altLang="zh-CN" sz="1200" b="0" i="0">
                        <a:solidFill>
                          <a:srgbClr val="0F1115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274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200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200" b="0" i="0">
                          <a:solidFill>
                            <a:srgbClr val="0F1115"/>
                          </a:solidFill>
                          <a:latin typeface="微软雅黑" charset="0"/>
                          <a:ea typeface="微软雅黑" charset="0"/>
                        </a:rPr>
                        <a:t>KObject</a:t>
                      </a:r>
                      <a:endParaRPr lang="en-US" altLang="zh-CN" sz="1200" b="0" i="0">
                        <a:solidFill>
                          <a:srgbClr val="0F1115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65 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200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200" b="0" i="0">
                          <a:solidFill>
                            <a:srgbClr val="0F1115"/>
                          </a:solidFill>
                          <a:latin typeface="微软雅黑" charset="0"/>
                          <a:ea typeface="微软雅黑" charset="0"/>
                        </a:rPr>
                        <a:t>DireAllocate</a:t>
                      </a:r>
                      <a:endParaRPr lang="en-US" altLang="zh-CN" sz="1200" b="0" i="0">
                        <a:solidFill>
                          <a:srgbClr val="0F1115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26 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200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200" b="0" i="0">
                          <a:solidFill>
                            <a:srgbClr val="0F1115"/>
                          </a:solidFill>
                          <a:latin typeface="微软雅黑" charset="0"/>
                          <a:ea typeface="微软雅黑" charset="0"/>
                        </a:rPr>
                        <a:t>anon_swap_meta</a:t>
                      </a:r>
                      <a:endParaRPr lang="en-US" altLang="zh-CN" sz="1200" b="0" i="0">
                        <a:solidFill>
                          <a:srgbClr val="0F1115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34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200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200" b="0" i="0">
                          <a:solidFill>
                            <a:srgbClr val="0F1115"/>
                          </a:solidFill>
                          <a:latin typeface="微软雅黑" charset="0"/>
                          <a:ea typeface="微软雅黑" charset="0"/>
                        </a:rPr>
                        <a:t>VmemmapRsvTotal</a:t>
                      </a:r>
                      <a:endParaRPr lang="en-US" altLang="zh-CN" sz="1200" b="0" i="0">
                        <a:solidFill>
                          <a:srgbClr val="0F1115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122 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200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200" b="0" i="0">
                          <a:solidFill>
                            <a:srgbClr val="0F1115"/>
                          </a:solidFill>
                          <a:latin typeface="微软雅黑" charset="0"/>
                          <a:ea typeface="微软雅黑" charset="0"/>
                        </a:rPr>
                        <a:t>ActvStack</a:t>
                      </a:r>
                      <a:endParaRPr lang="en-US" altLang="zh-CN" sz="1200" b="0" i="0">
                        <a:solidFill>
                          <a:srgbClr val="0F1115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60 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200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200" b="0" i="0">
                          <a:solidFill>
                            <a:srgbClr val="0F1115"/>
                          </a:solidFill>
                          <a:latin typeface="微软雅黑" charset="0"/>
                          <a:ea typeface="微软雅黑" charset="0"/>
                        </a:rPr>
                        <a:t>PageTables</a:t>
                      </a:r>
                      <a:endParaRPr lang="en-US" altLang="zh-CN" sz="1200" b="0" i="0">
                        <a:solidFill>
                          <a:srgbClr val="0F1115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197 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200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200" b="0" i="0">
                          <a:solidFill>
                            <a:srgbClr val="0F1115"/>
                          </a:solidFill>
                          <a:latin typeface="微软雅黑" charset="0"/>
                          <a:ea typeface="微软雅黑" charset="0"/>
                        </a:rPr>
                        <a:t>内核总和</a:t>
                      </a:r>
                      <a:endParaRPr lang="zh-CN" altLang="en-US" sz="1200" b="0" i="0">
                        <a:solidFill>
                          <a:srgbClr val="0F1115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979 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200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200" b="0" i="0">
                          <a:solidFill>
                            <a:srgbClr val="0F1115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CHZ 6G + 128G </a:t>
                      </a:r>
                      <a:r>
                        <a:rPr lang="zh-CN" altLang="en-US" sz="1200" b="0" i="0">
                          <a:solidFill>
                            <a:srgbClr val="0F1115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占用测算</a:t>
                      </a:r>
                      <a:endParaRPr lang="zh-CN" altLang="en-US" sz="1200" b="0" i="0">
                        <a:solidFill>
                          <a:srgbClr val="0F1115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2F4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51.5 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2F4F2"/>
                    </a:solidFill>
                  </a:tcPr>
                </a:tc>
              </a:tr>
              <a:tr h="25200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200" b="0" i="0">
                          <a:solidFill>
                            <a:srgbClr val="0F1115"/>
                          </a:solidFill>
                          <a:latin typeface="微软雅黑" charset="0"/>
                          <a:ea typeface="微软雅黑" charset="0"/>
                        </a:rPr>
                        <a:t>GAP</a:t>
                      </a:r>
                      <a:endParaRPr lang="en-US" altLang="zh-CN" sz="1200" b="0" i="0">
                        <a:solidFill>
                          <a:srgbClr val="0F1115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2F4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238.5 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2F4F2"/>
                    </a:solidFill>
                  </a:tcPr>
                </a:tc>
              </a:tr>
              <a:tr h="252000">
                <a:tc rowSpan="6">
                  <a:txBody>
                    <a:bodyPr/>
                    <a:p>
                      <a:pPr algn="ctr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驱动占用</a:t>
                      </a:r>
                      <a:b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</a:b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（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MB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）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200" b="0" i="0">
                          <a:solidFill>
                            <a:srgbClr val="0F1115"/>
                          </a:solidFill>
                          <a:latin typeface="微软雅黑" charset="0"/>
                          <a:ea typeface="微软雅黑" charset="0"/>
                        </a:rPr>
                        <a:t>驱动占用子项</a:t>
                      </a:r>
                      <a:endParaRPr lang="zh-CN" altLang="en-US" sz="1200" b="0" i="0">
                        <a:solidFill>
                          <a:srgbClr val="0F1115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动态模型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200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200" b="0" i="0">
                          <a:solidFill>
                            <a:srgbClr val="0F1115"/>
                          </a:solidFill>
                          <a:latin typeface="微软雅黑" charset="0"/>
                          <a:ea typeface="微软雅黑" charset="0"/>
                        </a:rPr>
                        <a:t>CmaUsed</a:t>
                      </a:r>
                      <a:endParaRPr lang="en-US" altLang="zh-CN" sz="1200" b="0" i="0">
                        <a:solidFill>
                          <a:srgbClr val="0F1115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49 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200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200">
                          <a:solidFill>
                            <a:srgbClr val="0F1115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  <a:sym typeface="+mn-ea"/>
                        </a:rPr>
                        <a:t>KDrvUsed</a:t>
                      </a:r>
                      <a:endParaRPr lang="en-US" altLang="zh-CN" sz="1200" b="0" i="0">
                        <a:solidFill>
                          <a:srgbClr val="0F1115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0  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200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200">
                          <a:solidFill>
                            <a:srgbClr val="0F1115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  <a:sym typeface="+mn-ea"/>
                        </a:rPr>
                        <a:t>UdrvUsed - IonTotalUsed - GpuTotalUsed</a:t>
                      </a:r>
                      <a:endParaRPr lang="en-US" altLang="zh-CN" sz="1200" b="0" i="0">
                        <a:solidFill>
                          <a:srgbClr val="0F1115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330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200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200" b="0" i="0">
                          <a:solidFill>
                            <a:srgbClr val="0F1115"/>
                          </a:solidFill>
                          <a:latin typeface="微软雅黑" charset="0"/>
                          <a:ea typeface="微软雅黑" charset="0"/>
                        </a:rPr>
                        <a:t>驱动总和</a:t>
                      </a:r>
                      <a:endParaRPr lang="zh-CN" altLang="en-US" sz="1200" b="0" i="0">
                        <a:solidFill>
                          <a:srgbClr val="0F1115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379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200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200">
                          <a:solidFill>
                            <a:srgbClr val="0F1115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GAP</a:t>
                      </a:r>
                      <a:endParaRPr lang="zh-CN" altLang="en-US" sz="1200" b="0" i="0">
                        <a:solidFill>
                          <a:srgbClr val="0F1115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2F4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-116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2F4F2"/>
                    </a:solidFill>
                  </a:tcPr>
                </a:tc>
              </a:tr>
              <a:tr h="252000">
                <a:tc>
                  <a:txBody>
                    <a:bodyPr/>
                    <a:p>
                      <a:pPr algn="ctr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总和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3CA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内核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+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驱动（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不含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ION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，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GPU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）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3CA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1358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3CA"/>
                    </a:solidFill>
                  </a:tcPr>
                </a:tc>
              </a:tr>
            </a:tbl>
          </a:graphicData>
        </a:graphic>
      </p:graphicFrame>
      <p:sp>
        <p:nvSpPr>
          <p:cNvPr id="11" name="文本框 10"/>
          <p:cNvSpPr txBox="1"/>
          <p:nvPr/>
        </p:nvSpPr>
        <p:spPr>
          <a:xfrm>
            <a:off x="381000" y="4460240"/>
            <a:ext cx="5311140" cy="24511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/>
            <a:r>
              <a:rPr lang="en-US" altLang="zh-CN" sz="1000" b="0" i="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IOS </a:t>
            </a:r>
            <a:r>
              <a:rPr lang="zh-CN" altLang="en-US" sz="1000" b="0" i="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仅具备 </a:t>
            </a:r>
            <a:r>
              <a:rPr lang="en-US" altLang="zh-CN" sz="1000" b="0" i="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iPhone 14 </a:t>
            </a:r>
            <a:r>
              <a:rPr lang="en-US" altLang="zh-CN" sz="1000">
                <a:solidFill>
                  <a:srgbClr val="000000"/>
                </a:solidFill>
                <a:latin typeface="微软雅黑" charset="0"/>
                <a:ea typeface="微软雅黑" charset="0"/>
                <a:sym typeface="+mn-ea"/>
              </a:rPr>
              <a:t>Pro Max </a:t>
            </a:r>
            <a:r>
              <a:rPr lang="en-US" altLang="zh-CN" sz="1000" b="0" i="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6G+</a:t>
            </a:r>
            <a:r>
              <a:rPr lang="en-US" altLang="zh-CN" sz="1000">
                <a:solidFill>
                  <a:srgbClr val="000000"/>
                </a:solidFill>
                <a:latin typeface="微软雅黑" charset="0"/>
                <a:ea typeface="微软雅黑" charset="0"/>
                <a:sym typeface="+mn-ea"/>
              </a:rPr>
              <a:t>128</a:t>
            </a:r>
            <a:r>
              <a:rPr lang="en-US" altLang="zh-CN" sz="1000" b="0" i="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G </a:t>
            </a:r>
            <a:r>
              <a:rPr lang="zh-CN" altLang="en-US" sz="1000" b="0" i="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可越狱，</a:t>
            </a:r>
            <a:r>
              <a:rPr lang="en-US" altLang="zh-CN" sz="1000" b="0" i="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iOS </a:t>
            </a:r>
            <a:r>
              <a:rPr lang="zh-CN" altLang="en-US" sz="1000" b="0" i="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版本为 </a:t>
            </a:r>
            <a:r>
              <a:rPr lang="en-US" altLang="zh-CN" sz="1000" b="0" i="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iOS 16.1。</a:t>
            </a:r>
            <a:endParaRPr lang="en-US" sz="1000" b="0" i="0">
              <a:solidFill>
                <a:srgbClr val="0F1115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553200" y="5864225"/>
            <a:ext cx="5004435" cy="860425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txBody>
          <a:bodyPr wrap="square" rtlCol="0" anchor="t">
            <a:spAutoFit/>
          </a:bodyPr>
          <a:p>
            <a:pPr algn="l">
              <a:lnSpc>
                <a:spcPct val="100000"/>
              </a:lnSpc>
            </a:pPr>
            <a:r>
              <a:rPr lang="zh-CN" altLang="en-US" sz="100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驱动统计</a:t>
            </a:r>
            <a:r>
              <a:rPr lang="zh-CN" altLang="en-US" sz="100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不包含</a:t>
            </a:r>
            <a:r>
              <a:rPr lang="en-US" altLang="zh-CN" sz="100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Ion</a:t>
            </a:r>
            <a:r>
              <a:rPr lang="zh-CN" altLang="en-US" sz="100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、</a:t>
            </a:r>
            <a:r>
              <a:rPr lang="en-US" altLang="zh-CN" sz="100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GPU</a:t>
            </a:r>
            <a:r>
              <a:rPr lang="zh-CN" altLang="en-US" sz="100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；</a:t>
            </a:r>
            <a:endParaRPr lang="en-US" altLang="zh-CN" sz="1000">
              <a:solidFill>
                <a:srgbClr val="0F1115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algn="l">
              <a:lnSpc>
                <a:spcPct val="100000"/>
              </a:lnSpc>
            </a:pPr>
            <a:r>
              <a:rPr lang="en-US" altLang="zh-CN" sz="100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CHZ </a:t>
            </a:r>
            <a:r>
              <a:rPr lang="zh-CN" altLang="en-US" sz="100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存储</a:t>
            </a:r>
            <a:r>
              <a:rPr lang="en-US" altLang="zh-CN" sz="100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256G</a:t>
            </a:r>
            <a:r>
              <a:rPr lang="zh-CN" altLang="en-US" sz="100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相比</a:t>
            </a:r>
            <a:r>
              <a:rPr lang="en-US" altLang="zh-CN" sz="100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128G</a:t>
            </a:r>
            <a:r>
              <a:rPr lang="zh-CN" altLang="en-US" sz="100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，元数据增加</a:t>
            </a:r>
            <a:r>
              <a:rPr lang="en-US" altLang="zh-CN" sz="100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156K / 1G</a:t>
            </a:r>
            <a:r>
              <a:rPr lang="zh-CN" altLang="en-US" sz="100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存储</a:t>
            </a:r>
            <a:r>
              <a:rPr lang="en-US" altLang="en-US" sz="100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×</a:t>
            </a:r>
            <a:r>
              <a:rPr lang="en-US" altLang="zh-CN" sz="100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 </a:t>
            </a:r>
            <a:r>
              <a:rPr lang="en-US" altLang="en-US" sz="100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️</a:t>
            </a:r>
            <a:r>
              <a:rPr lang="en-US" altLang="zh-CN" sz="100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(256-128) G = 19.5M</a:t>
            </a:r>
            <a:r>
              <a:rPr lang="zh-CN" altLang="en-US" sz="100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；</a:t>
            </a:r>
            <a:r>
              <a:rPr lang="en-US" altLang="zh-CN" sz="100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 </a:t>
            </a:r>
            <a:r>
              <a:rPr lang="zh-CN" altLang="en-US" sz="100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存储管理开销跟随纪要。</a:t>
            </a:r>
            <a:endParaRPr lang="en-US" altLang="zh-CN" sz="1000">
              <a:solidFill>
                <a:srgbClr val="0F1115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algn="l">
              <a:lnSpc>
                <a:spcPct val="100000"/>
              </a:lnSpc>
            </a:pPr>
            <a:r>
              <a:rPr lang="en-US" altLang="zh-CN" sz="100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iPhone 14 Pro Max </a:t>
            </a:r>
            <a:r>
              <a:rPr lang="zh-CN" altLang="en-US" sz="100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内存</a:t>
            </a:r>
            <a:r>
              <a:rPr lang="en-US" altLang="zh-CN" sz="100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 6G </a:t>
            </a:r>
            <a:r>
              <a:rPr lang="zh-CN" altLang="en-US" sz="100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相比</a:t>
            </a:r>
            <a:r>
              <a:rPr lang="en-US" altLang="zh-CN" sz="100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 CHZ 8G</a:t>
            </a:r>
            <a:r>
              <a:rPr lang="zh-CN" altLang="en-US" sz="100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，</a:t>
            </a:r>
            <a:r>
              <a:rPr lang="en-US" altLang="zh-CN" sz="100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VMEMMAP</a:t>
            </a:r>
            <a:r>
              <a:rPr lang="zh-CN" altLang="en-US" sz="100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管理开销更小：按每</a:t>
            </a:r>
            <a:r>
              <a:rPr lang="en-US" altLang="zh-CN" sz="100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 4K </a:t>
            </a:r>
            <a:r>
              <a:rPr lang="zh-CN" altLang="en-US" sz="100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内存页对应</a:t>
            </a:r>
            <a:r>
              <a:rPr lang="en-US" altLang="zh-CN" sz="100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64 Byte</a:t>
            </a:r>
            <a:r>
              <a:rPr lang="zh-CN" altLang="en-US" sz="100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结构体折算，管理开销减少</a:t>
            </a:r>
            <a:r>
              <a:rPr lang="en-US" altLang="zh-CN" sz="100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64B/4KB </a:t>
            </a:r>
            <a:r>
              <a:rPr lang="zh-CN" altLang="en-US" sz="100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内存</a:t>
            </a:r>
            <a:r>
              <a:rPr lang="en-US" altLang="en-US" sz="100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×</a:t>
            </a:r>
            <a:r>
              <a:rPr lang="en-US" altLang="zh-CN" sz="100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(8-6)G=32M</a:t>
            </a:r>
            <a:r>
              <a:rPr lang="zh-CN" altLang="en-US" sz="100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。</a:t>
            </a:r>
            <a:endParaRPr lang="zh-CN" altLang="en-US" sz="1000">
              <a:solidFill>
                <a:srgbClr val="0F1115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cxnSp>
        <p:nvCxnSpPr>
          <p:cNvPr id="2" name="直接连接符 1"/>
          <p:cNvCxnSpPr/>
          <p:nvPr/>
        </p:nvCxnSpPr>
        <p:spPr>
          <a:xfrm>
            <a:off x="346075" y="4829810"/>
            <a:ext cx="5346065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346392" y="5155882"/>
            <a:ext cx="5080000" cy="553085"/>
          </a:xfrm>
          <a:prstGeom prst="rect">
            <a:avLst/>
          </a:prstGeom>
        </p:spPr>
        <p:txBody>
          <a:bodyPr>
            <a:spAutoFit/>
          </a:bodyPr>
          <a:p>
            <a:pPr marL="0" indent="0"/>
            <a:r>
              <a:rPr lang="zh-CN" altLang="en-US" sz="1000" b="0" i="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单框架</a:t>
            </a:r>
            <a:r>
              <a:rPr lang="en-US" altLang="zh-CN" sz="1000" b="0" i="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驱动内存</a:t>
            </a:r>
            <a:endParaRPr lang="en-US" altLang="zh-CN" sz="1000" b="0" i="0">
              <a:solidFill>
                <a:srgbClr val="0F1115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marL="0" indent="0"/>
            <a:r>
              <a:rPr lang="en-US" altLang="zh-CN" sz="1000" b="0" i="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= CMA内存 + UDK驱动内存占用 + LDK驱动内存占用 </a:t>
            </a:r>
            <a:endParaRPr lang="en-US" altLang="zh-CN" sz="1000" b="0" i="0">
              <a:solidFill>
                <a:srgbClr val="0F1115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marL="0" indent="0"/>
            <a:r>
              <a:rPr lang="en-US" altLang="zh-CN" sz="1000" b="0" i="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= CmaUsed + KDrvUsed + (UdrvUsed - IonTotalUsed - GpuTotalUsed)</a:t>
            </a:r>
            <a:endParaRPr lang="en-US" altLang="zh-CN" sz="1000" b="0" i="0">
              <a:solidFill>
                <a:srgbClr val="0F1115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文本框 6"/>
          <p:cNvSpPr txBox="1"/>
          <p:nvPr/>
        </p:nvSpPr>
        <p:spPr>
          <a:xfrm>
            <a:off x="0" y="0"/>
            <a:ext cx="6231890" cy="532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ts val="3440"/>
              </a:lnSpc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数据分析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内存压缩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0" y="532130"/>
            <a:ext cx="12204065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aphicFrame>
        <p:nvGraphicFramePr>
          <p:cNvPr id="2" name="表格 1"/>
          <p:cNvGraphicFramePr/>
          <p:nvPr/>
        </p:nvGraphicFramePr>
        <p:xfrm>
          <a:off x="726440" y="4993005"/>
          <a:ext cx="4682675" cy="828675"/>
        </p:xfrm>
        <a:graphic>
          <a:graphicData uri="http://schemas.openxmlformats.org/drawingml/2006/table">
            <a:tbl>
              <a:tblPr/>
              <a:tblGrid>
                <a:gridCol w="1082675"/>
                <a:gridCol w="720000"/>
                <a:gridCol w="720000"/>
                <a:gridCol w="720000"/>
                <a:gridCol w="720000"/>
                <a:gridCol w="720000"/>
              </a:tblGrid>
              <a:tr h="186690"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Times New Roman Regular" panose="02020503050405090304" charset="0"/>
                          <a:ea typeface="宋体"/>
                          <a:cs typeface="Times New Roman Regular" panose="02020503050405090304" charset="0"/>
                        </a:rPr>
                        <a:t>(MB)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Times New Roman Regular" panose="02020503050405090304" charset="0"/>
                        <a:ea typeface="宋体"/>
                        <a:cs typeface="Times New Roman Regular" panose="02020503050405090304" charset="0"/>
                      </a:endParaRPr>
                    </a:p>
                  </a:txBody>
                  <a:tcPr marL="13017" marR="13017" marT="13017" marB="0" anchor="ctr" anchorCtr="0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Times New Roman Regular" panose="02020503050405090304" charset="0"/>
                          <a:ea typeface="宋体"/>
                          <a:cs typeface="Times New Roman Regular" panose="02020503050405090304" charset="0"/>
                        </a:rPr>
                        <a:t>Basic1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Times New Roman Regular" panose="02020503050405090304" charset="0"/>
                        <a:ea typeface="宋体"/>
                        <a:cs typeface="Times New Roman Regular" panose="02020503050405090304" charset="0"/>
                      </a:endParaRPr>
                    </a:p>
                  </a:txBody>
                  <a:tcPr marL="13017" marR="13017" marT="13017" marB="0" anchor="ctr" anchorCtr="0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Times New Roman Regular" panose="02020503050405090304" charset="0"/>
                          <a:ea typeface="宋体"/>
                          <a:cs typeface="Times New Roman Regular" panose="02020503050405090304" charset="0"/>
                        </a:rPr>
                        <a:t>Basic2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Times New Roman Regular" panose="02020503050405090304" charset="0"/>
                        <a:ea typeface="宋体"/>
                        <a:cs typeface="Times New Roman Regular" panose="02020503050405090304" charset="0"/>
                      </a:endParaRPr>
                    </a:p>
                  </a:txBody>
                  <a:tcPr marL="13017" marR="13017" marT="13017" marB="0" anchor="ctr" anchorCtr="0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Times New Roman Regular" panose="02020503050405090304" charset="0"/>
                          <a:ea typeface="宋体"/>
                          <a:cs typeface="Times New Roman Regular" panose="02020503050405090304" charset="0"/>
                        </a:rPr>
                        <a:t>Basic3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Times New Roman Regular" panose="02020503050405090304" charset="0"/>
                        <a:ea typeface="宋体"/>
                        <a:cs typeface="Times New Roman Regular" panose="02020503050405090304" charset="0"/>
                      </a:endParaRPr>
                    </a:p>
                  </a:txBody>
                  <a:tcPr marL="13017" marR="13017" marT="13017" marB="0" anchor="ctr" anchorCtr="0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Times New Roman Regular" panose="02020503050405090304" charset="0"/>
                          <a:ea typeface="宋体"/>
                          <a:cs typeface="Times New Roman Regular" panose="02020503050405090304" charset="0"/>
                        </a:rPr>
                        <a:t>Basic4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Times New Roman Regular" panose="02020503050405090304" charset="0"/>
                        <a:ea typeface="宋体"/>
                        <a:cs typeface="Times New Roman Regular" panose="02020503050405090304" charset="0"/>
                      </a:endParaRPr>
                    </a:p>
                  </a:txBody>
                  <a:tcPr marL="13017" marR="13017" marT="13017" marB="0" anchor="ctr" anchorCtr="0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Times New Roman Regular" panose="02020503050405090304" charset="0"/>
                          <a:ea typeface="宋体"/>
                          <a:cs typeface="Times New Roman Regular" panose="02020503050405090304" charset="0"/>
                        </a:rPr>
                        <a:t>Basic5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Times New Roman Regular" panose="02020503050405090304" charset="0"/>
                        <a:ea typeface="宋体"/>
                        <a:cs typeface="Times New Roman Regular" panose="02020503050405090304" charset="0"/>
                      </a:endParaRPr>
                    </a:p>
                  </a:txBody>
                  <a:tcPr marL="13017" marR="13017" marT="13017" marB="0" anchor="ctr" anchorCtr="0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213995"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Times New Roman Regular" panose="02020503050405090304" charset="0"/>
                          <a:ea typeface="宋体"/>
                        </a:rPr>
                        <a:t>压缩前总量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Times New Roman Regular" panose="02020503050405090304" charset="0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Times New Roman Regular" panose="02020503050405090304" charset="0"/>
                          <a:ea typeface="宋体"/>
                          <a:cs typeface="Times New Roman Regular" panose="02020503050405090304" charset="0"/>
                        </a:rPr>
                        <a:t>165152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Times New Roman Regular" panose="02020503050405090304" charset="0"/>
                          <a:ea typeface="宋体"/>
                          <a:cs typeface="Times New Roman Regular" panose="02020503050405090304" charset="0"/>
                        </a:rPr>
                        <a:t>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Times New Roman Regular" panose="02020503050405090304" charset="0"/>
                        <a:ea typeface="宋体"/>
                        <a:cs typeface="Times New Roman Regular" panose="02020503050405090304" charset="0"/>
                      </a:endParaRPr>
                    </a:p>
                  </a:txBody>
                  <a:tcPr marL="13017" marR="13017" marT="13017" marB="0" anchor="ctr" anchorCtr="0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Times New Roman Regular" panose="02020503050405090304" charset="0"/>
                          <a:ea typeface="宋体"/>
                          <a:cs typeface="Times New Roman Regular" panose="02020503050405090304" charset="0"/>
                        </a:rPr>
                        <a:t>144267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Times New Roman Regular" panose="02020503050405090304" charset="0"/>
                          <a:ea typeface="宋体"/>
                          <a:cs typeface="Times New Roman Regular" panose="02020503050405090304" charset="0"/>
                        </a:rPr>
                        <a:t>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Times New Roman Regular" panose="02020503050405090304" charset="0"/>
                        <a:ea typeface="宋体"/>
                        <a:cs typeface="Times New Roman Regular" panose="02020503050405090304" charset="0"/>
                      </a:endParaRPr>
                    </a:p>
                  </a:txBody>
                  <a:tcPr marL="13017" marR="13017" marT="13017" marB="0" anchor="ctr" anchorCtr="0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Times New Roman Regular" panose="02020503050405090304" charset="0"/>
                          <a:ea typeface="宋体"/>
                          <a:cs typeface="Times New Roman Regular" panose="02020503050405090304" charset="0"/>
                        </a:rPr>
                        <a:t>155774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Times New Roman Regular" panose="02020503050405090304" charset="0"/>
                          <a:ea typeface="宋体"/>
                          <a:cs typeface="Times New Roman Regular" panose="02020503050405090304" charset="0"/>
                        </a:rPr>
                        <a:t>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Times New Roman Regular" panose="02020503050405090304" charset="0"/>
                        <a:ea typeface="宋体"/>
                        <a:cs typeface="Times New Roman Regular" panose="02020503050405090304" charset="0"/>
                      </a:endParaRPr>
                    </a:p>
                  </a:txBody>
                  <a:tcPr marL="13017" marR="13017" marT="13017" marB="0" anchor="ctr" anchorCtr="0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Times New Roman Regular" panose="02020503050405090304" charset="0"/>
                          <a:ea typeface="宋体"/>
                          <a:cs typeface="Times New Roman Regular" panose="02020503050405090304" charset="0"/>
                        </a:rPr>
                        <a:t>153891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Times New Roman Regular" panose="02020503050405090304" charset="0"/>
                          <a:ea typeface="宋体"/>
                          <a:cs typeface="Times New Roman Regular" panose="02020503050405090304" charset="0"/>
                        </a:rPr>
                        <a:t>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Times New Roman Regular" panose="02020503050405090304" charset="0"/>
                        <a:ea typeface="宋体"/>
                        <a:cs typeface="Times New Roman Regular" panose="02020503050405090304" charset="0"/>
                      </a:endParaRPr>
                    </a:p>
                  </a:txBody>
                  <a:tcPr marL="13017" marR="13017" marT="13017" marB="0" anchor="ctr" anchorCtr="0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Times New Roman Regular" panose="02020503050405090304" charset="0"/>
                          <a:ea typeface="宋体"/>
                          <a:cs typeface="Times New Roman Regular" panose="02020503050405090304" charset="0"/>
                        </a:rPr>
                        <a:t>177770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Times New Roman Regular" panose="02020503050405090304" charset="0"/>
                          <a:ea typeface="宋体"/>
                          <a:cs typeface="Times New Roman Regular" panose="02020503050405090304" charset="0"/>
                        </a:rPr>
                        <a:t>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Times New Roman Regular" panose="02020503050405090304" charset="0"/>
                        <a:ea typeface="宋体"/>
                        <a:cs typeface="Times New Roman Regular" panose="02020503050405090304" charset="0"/>
                      </a:endParaRPr>
                    </a:p>
                  </a:txBody>
                  <a:tcPr marL="13017" marR="13017" marT="13017" marB="0" anchor="ctr" anchorCtr="0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213995"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Times New Roman Regular" panose="02020503050405090304" charset="0"/>
                          <a:ea typeface="宋体"/>
                        </a:rPr>
                        <a:t>压缩后总量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Times New Roman Regular" panose="02020503050405090304" charset="0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Times New Roman Regular" panose="02020503050405090304" charset="0"/>
                          <a:ea typeface="宋体"/>
                          <a:cs typeface="Times New Roman Regular" panose="02020503050405090304" charset="0"/>
                        </a:rPr>
                        <a:t>66255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Times New Roman Regular" panose="02020503050405090304" charset="0"/>
                          <a:ea typeface="宋体"/>
                          <a:cs typeface="Times New Roman Regular" panose="02020503050405090304" charset="0"/>
                        </a:rPr>
                        <a:t>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Times New Roman Regular" panose="02020503050405090304" charset="0"/>
                        <a:ea typeface="宋体"/>
                        <a:cs typeface="Times New Roman Regular" panose="02020503050405090304" charset="0"/>
                      </a:endParaRPr>
                    </a:p>
                  </a:txBody>
                  <a:tcPr marL="13017" marR="13017" marT="13017" marB="0" anchor="ctr" anchorCtr="0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Times New Roman Regular" panose="02020503050405090304" charset="0"/>
                          <a:ea typeface="宋体"/>
                          <a:cs typeface="Times New Roman Regular" panose="02020503050405090304" charset="0"/>
                        </a:rPr>
                        <a:t>49599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Times New Roman Regular" panose="02020503050405090304" charset="0"/>
                          <a:ea typeface="宋体"/>
                          <a:cs typeface="Times New Roman Regular" panose="02020503050405090304" charset="0"/>
                        </a:rPr>
                        <a:t>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Times New Roman Regular" panose="02020503050405090304" charset="0"/>
                        <a:ea typeface="宋体"/>
                        <a:cs typeface="Times New Roman Regular" panose="02020503050405090304" charset="0"/>
                      </a:endParaRPr>
                    </a:p>
                  </a:txBody>
                  <a:tcPr marL="13017" marR="13017" marT="13017" marB="0" anchor="ctr" anchorCtr="0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Times New Roman Regular" panose="02020503050405090304" charset="0"/>
                          <a:ea typeface="宋体"/>
                          <a:cs typeface="Times New Roman Regular" panose="02020503050405090304" charset="0"/>
                        </a:rPr>
                        <a:t>53667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Times New Roman Regular" panose="02020503050405090304" charset="0"/>
                          <a:ea typeface="宋体"/>
                          <a:cs typeface="Times New Roman Regular" panose="02020503050405090304" charset="0"/>
                        </a:rPr>
                        <a:t>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Times New Roman Regular" panose="02020503050405090304" charset="0"/>
                        <a:ea typeface="宋体"/>
                        <a:cs typeface="Times New Roman Regular" panose="02020503050405090304" charset="0"/>
                      </a:endParaRPr>
                    </a:p>
                  </a:txBody>
                  <a:tcPr marL="13017" marR="13017" marT="13017" marB="0" anchor="ctr" anchorCtr="0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Times New Roman Regular" panose="02020503050405090304" charset="0"/>
                          <a:ea typeface="宋体"/>
                          <a:cs typeface="Times New Roman Regular" panose="02020503050405090304" charset="0"/>
                        </a:rPr>
                        <a:t>52311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Times New Roman Regular" panose="02020503050405090304" charset="0"/>
                          <a:ea typeface="宋体"/>
                          <a:cs typeface="Times New Roman Regular" panose="02020503050405090304" charset="0"/>
                        </a:rPr>
                        <a:t>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Times New Roman Regular" panose="02020503050405090304" charset="0"/>
                        <a:ea typeface="宋体"/>
                        <a:cs typeface="Times New Roman Regular" panose="02020503050405090304" charset="0"/>
                      </a:endParaRPr>
                    </a:p>
                  </a:txBody>
                  <a:tcPr marL="13017" marR="13017" marT="13017" marB="0" anchor="ctr" anchorCtr="0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Times New Roman Regular" panose="02020503050405090304" charset="0"/>
                          <a:ea typeface="宋体"/>
                          <a:cs typeface="Times New Roman Regular" panose="02020503050405090304" charset="0"/>
                        </a:rPr>
                        <a:t>70430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Times New Roman Regular" panose="02020503050405090304" charset="0"/>
                          <a:ea typeface="宋体"/>
                          <a:cs typeface="Times New Roman Regular" panose="02020503050405090304" charset="0"/>
                        </a:rPr>
                        <a:t>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Times New Roman Regular" panose="02020503050405090304" charset="0"/>
                        <a:ea typeface="宋体"/>
                        <a:cs typeface="Times New Roman Regular" panose="02020503050405090304" charset="0"/>
                      </a:endParaRPr>
                    </a:p>
                  </a:txBody>
                  <a:tcPr marL="13017" marR="13017" marT="13017" marB="0" anchor="ctr" anchorCtr="0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213995"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Times New Roman Regular" panose="02020503050405090304" charset="0"/>
                          <a:ea typeface="宋体"/>
                        </a:rPr>
                        <a:t>压缩比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Times New Roman Regular" panose="02020503050405090304" charset="0"/>
                        <a:ea typeface="宋体"/>
                      </a:endParaRPr>
                    </a:p>
                  </a:txBody>
                  <a:tcPr marL="13017" marR="13017" marT="13017" marB="0" anchor="ctr" anchorCtr="0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Times New Roman Regular" panose="02020503050405090304" charset="0"/>
                          <a:ea typeface="宋体"/>
                          <a:cs typeface="Times New Roman Regular" panose="02020503050405090304" charset="0"/>
                        </a:rPr>
                        <a:t>2.50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Times New Roman Regular" panose="02020503050405090304" charset="0"/>
                          <a:ea typeface="宋体"/>
                          <a:cs typeface="Times New Roman Regular" panose="02020503050405090304" charset="0"/>
                        </a:rPr>
                        <a:t>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Times New Roman Regular" panose="02020503050405090304" charset="0"/>
                        <a:ea typeface="宋体"/>
                        <a:cs typeface="Times New Roman Regular" panose="02020503050405090304" charset="0"/>
                      </a:endParaRPr>
                    </a:p>
                  </a:txBody>
                  <a:tcPr marL="13017" marR="13017" marT="13017" marB="0" anchor="b" anchorCtr="0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Times New Roman Regular" panose="02020503050405090304" charset="0"/>
                          <a:ea typeface="宋体"/>
                          <a:cs typeface="Times New Roman Regular" panose="02020503050405090304" charset="0"/>
                        </a:rPr>
                        <a:t>2.94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Times New Roman Regular" panose="02020503050405090304" charset="0"/>
                          <a:ea typeface="宋体"/>
                          <a:cs typeface="Times New Roman Regular" panose="02020503050405090304" charset="0"/>
                        </a:rPr>
                        <a:t>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Times New Roman Regular" panose="02020503050405090304" charset="0"/>
                        <a:ea typeface="宋体"/>
                        <a:cs typeface="Times New Roman Regular" panose="02020503050405090304" charset="0"/>
                      </a:endParaRPr>
                    </a:p>
                  </a:txBody>
                  <a:tcPr marL="13017" marR="13017" marT="13017" marB="0" anchor="b" anchorCtr="0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Times New Roman Regular" panose="02020503050405090304" charset="0"/>
                          <a:ea typeface="宋体"/>
                          <a:cs typeface="Times New Roman Regular" panose="02020503050405090304" charset="0"/>
                        </a:rPr>
                        <a:t>2.92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Times New Roman Regular" panose="02020503050405090304" charset="0"/>
                          <a:ea typeface="宋体"/>
                          <a:cs typeface="Times New Roman Regular" panose="02020503050405090304" charset="0"/>
                        </a:rPr>
                        <a:t>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Times New Roman Regular" panose="02020503050405090304" charset="0"/>
                        <a:ea typeface="宋体"/>
                        <a:cs typeface="Times New Roman Regular" panose="02020503050405090304" charset="0"/>
                      </a:endParaRPr>
                    </a:p>
                  </a:txBody>
                  <a:tcPr marL="13017" marR="13017" marT="13017" marB="0" anchor="b" anchorCtr="0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Times New Roman Regular" panose="02020503050405090304" charset="0"/>
                          <a:ea typeface="宋体"/>
                          <a:cs typeface="Times New Roman Regular" panose="02020503050405090304" charset="0"/>
                        </a:rPr>
                        <a:t>2.95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Times New Roman Regular" panose="02020503050405090304" charset="0"/>
                          <a:ea typeface="宋体"/>
                          <a:cs typeface="Times New Roman Regular" panose="02020503050405090304" charset="0"/>
                        </a:rPr>
                        <a:t>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Times New Roman Regular" panose="02020503050405090304" charset="0"/>
                        <a:ea typeface="宋体"/>
                        <a:cs typeface="Times New Roman Regular" panose="02020503050405090304" charset="0"/>
                      </a:endParaRPr>
                    </a:p>
                  </a:txBody>
                  <a:tcPr marL="13017" marR="13017" marT="13017" marB="0" anchor="b" anchorCtr="0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Times New Roman Regular" panose="02020503050405090304" charset="0"/>
                          <a:ea typeface="宋体"/>
                          <a:cs typeface="Times New Roman Regular" panose="02020503050405090304" charset="0"/>
                        </a:rPr>
                        <a:t>2.54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Times New Roman Regular" panose="02020503050405090304" charset="0"/>
                          <a:ea typeface="宋体"/>
                          <a:cs typeface="Times New Roman Regular" panose="02020503050405090304" charset="0"/>
                        </a:rPr>
                        <a:t>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Times New Roman Regular" panose="02020503050405090304" charset="0"/>
                        <a:ea typeface="宋体"/>
                        <a:cs typeface="Times New Roman Regular" panose="02020503050405090304" charset="0"/>
                      </a:endParaRPr>
                    </a:p>
                  </a:txBody>
                  <a:tcPr marL="13017" marR="13017" marT="13017" marB="0" anchor="b" anchorCtr="0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5" name="文本框 14"/>
          <p:cNvSpPr txBox="1"/>
          <p:nvPr/>
        </p:nvSpPr>
        <p:spPr>
          <a:xfrm>
            <a:off x="1938020" y="4731385"/>
            <a:ext cx="1966595" cy="2616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>
              <a:lnSpc>
                <a:spcPct val="100000"/>
              </a:lnSpc>
            </a:pPr>
            <a:r>
              <a:rPr lang="en-US" altLang="zh-CN" sz="1000" b="1">
                <a:latin typeface="微软雅黑" charset="0"/>
                <a:ea typeface="微软雅黑" charset="0"/>
                <a:cs typeface="微软雅黑" charset="0"/>
              </a:rPr>
              <a:t>iOS</a:t>
            </a:r>
            <a:r>
              <a:rPr lang="zh-CN" altLang="en-US" sz="1000" b="1">
                <a:latin typeface="微软雅黑" charset="0"/>
                <a:ea typeface="微软雅黑" charset="0"/>
                <a:cs typeface="微软雅黑" charset="0"/>
              </a:rPr>
              <a:t>内存压缩比</a:t>
            </a:r>
            <a:r>
              <a:rPr lang="en-US" altLang="zh-CN" sz="1000" b="1">
                <a:latin typeface="微软雅黑" charset="0"/>
                <a:ea typeface="微软雅黑" charset="0"/>
                <a:cs typeface="微软雅黑" charset="0"/>
              </a:rPr>
              <a:t>（</a:t>
            </a:r>
            <a:r>
              <a:rPr lang="zh-CN" altLang="en-US" sz="1000" b="1">
                <a:latin typeface="微软雅黑" charset="0"/>
                <a:ea typeface="微软雅黑" charset="0"/>
                <a:cs typeface="微软雅黑" charset="0"/>
              </a:rPr>
              <a:t>均值为</a:t>
            </a:r>
            <a:r>
              <a:rPr lang="en-US" altLang="zh-CN" sz="1000" b="1">
                <a:latin typeface="微软雅黑" charset="0"/>
                <a:ea typeface="微软雅黑" charset="0"/>
                <a:cs typeface="微软雅黑" charset="0"/>
              </a:rPr>
              <a:t>2.77）</a:t>
            </a:r>
            <a:endParaRPr lang="en-US" altLang="zh-CN" sz="1000" b="1">
              <a:latin typeface="微软雅黑" charset="0"/>
              <a:ea typeface="微软雅黑" charset="0"/>
              <a:cs typeface="微软雅黑" charset="0"/>
            </a:endParaRPr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8820" y="746760"/>
            <a:ext cx="4677410" cy="3353435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6165" y="746760"/>
            <a:ext cx="4695825" cy="3352800"/>
          </a:xfrm>
          <a:prstGeom prst="rect">
            <a:avLst/>
          </a:prstGeom>
        </p:spPr>
      </p:pic>
      <p:sp>
        <p:nvSpPr>
          <p:cNvPr id="25" name="文本框 24"/>
          <p:cNvSpPr txBox="1"/>
          <p:nvPr/>
        </p:nvSpPr>
        <p:spPr>
          <a:xfrm>
            <a:off x="848995" y="4197985"/>
            <a:ext cx="4559935" cy="245110"/>
          </a:xfrm>
          <a:prstGeom prst="rect">
            <a:avLst/>
          </a:prstGeom>
        </p:spPr>
        <p:txBody>
          <a:bodyPr wrap="square">
            <a:spAutoFit/>
          </a:bodyPr>
          <a:p>
            <a:pPr indent="0">
              <a:buFont typeface="Wingdings" panose="05000000000000000000" charset="0"/>
              <a:buNone/>
            </a:pPr>
            <a:r>
              <a:rPr lang="zh-CN" altLang="en-US" sz="1000">
                <a:latin typeface="Times New Roman Regular" panose="02020503050405090304" charset="0"/>
                <a:cs typeface="Times New Roman Regular" panose="02020503050405090304" charset="0"/>
              </a:rPr>
              <a:t>三方应用推入后台</a:t>
            </a:r>
            <a:r>
              <a:rPr lang="en-US" altLang="zh-CN" sz="1000">
                <a:latin typeface="Times New Roman Regular" panose="02020503050405090304" charset="0"/>
                <a:cs typeface="Times New Roman Regular" panose="02020503050405090304" charset="0"/>
              </a:rPr>
              <a:t>，</a:t>
            </a:r>
            <a:r>
              <a:rPr lang="zh-CN" altLang="en-US" sz="1000">
                <a:latin typeface="Times New Roman Regular" panose="02020503050405090304" charset="0"/>
                <a:cs typeface="Times New Roman Regular" panose="02020503050405090304" charset="0"/>
              </a:rPr>
              <a:t>基本上全部压缩</a:t>
            </a:r>
            <a:r>
              <a:rPr lang="en-US" altLang="zh-CN" sz="1000">
                <a:latin typeface="Times New Roman Regular" panose="02020503050405090304" charset="0"/>
                <a:cs typeface="Times New Roman Regular" panose="02020503050405090304" charset="0"/>
              </a:rPr>
              <a:t>；</a:t>
            </a:r>
            <a:r>
              <a:rPr lang="zh-CN" altLang="en-US" sz="1000">
                <a:latin typeface="Times New Roman Regular" panose="02020503050405090304" charset="0"/>
                <a:cs typeface="Times New Roman Regular" panose="02020503050405090304" charset="0"/>
              </a:rPr>
              <a:t>前台三方应用压缩率较后台三方应用低</a:t>
            </a:r>
            <a:r>
              <a:rPr lang="en-US" altLang="zh-CN" sz="1000">
                <a:latin typeface="Times New Roman Regular" panose="02020503050405090304" charset="0"/>
                <a:cs typeface="Times New Roman Regular" panose="02020503050405090304" charset="0"/>
              </a:rPr>
              <a:t>。</a:t>
            </a:r>
            <a:endParaRPr lang="en-US" altLang="zh-CN" sz="1000"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6146165" y="4197985"/>
            <a:ext cx="4559935" cy="245110"/>
          </a:xfrm>
          <a:prstGeom prst="rect">
            <a:avLst/>
          </a:prstGeom>
        </p:spPr>
        <p:txBody>
          <a:bodyPr wrap="square">
            <a:spAutoFit/>
          </a:bodyPr>
          <a:p>
            <a:pPr indent="0">
              <a:buFont typeface="Wingdings" panose="05000000000000000000" charset="0"/>
              <a:buNone/>
            </a:pPr>
            <a:r>
              <a:rPr lang="zh-CN" altLang="en-US" sz="1000">
                <a:latin typeface="Times New Roman Regular" panose="02020503050405090304" charset="0"/>
                <a:cs typeface="Times New Roman Regular" panose="02020503050405090304" charset="0"/>
              </a:rPr>
              <a:t>系统服务压缩率较低</a:t>
            </a:r>
            <a:r>
              <a:rPr lang="en-US" altLang="zh-CN" sz="1000">
                <a:latin typeface="Times New Roman Regular" panose="02020503050405090304" charset="0"/>
                <a:cs typeface="Times New Roman Regular" panose="02020503050405090304" charset="0"/>
              </a:rPr>
              <a:t>，</a:t>
            </a:r>
            <a:r>
              <a:rPr lang="zh-CN" altLang="en-US" sz="1000">
                <a:latin typeface="Times New Roman Regular" panose="02020503050405090304" charset="0"/>
                <a:cs typeface="Times New Roman Regular" panose="02020503050405090304" charset="0"/>
              </a:rPr>
              <a:t>但不同系统服务压缩率各不相同</a:t>
            </a:r>
            <a:r>
              <a:rPr lang="en-US" altLang="zh-CN" sz="1000">
                <a:latin typeface="Times New Roman Regular" panose="02020503050405090304" charset="0"/>
                <a:cs typeface="Times New Roman Regular" panose="02020503050405090304" charset="0"/>
              </a:rPr>
              <a:t>。</a:t>
            </a:r>
            <a:endParaRPr lang="en-US" altLang="zh-CN" sz="1000"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726440" y="5885180"/>
            <a:ext cx="4881245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00000"/>
              </a:lnSpc>
            </a:pPr>
            <a:r>
              <a:rPr lang="zh-CN" altLang="en-US" sz="1000" b="1">
                <a:latin typeface="微软雅黑" charset="0"/>
                <a:ea typeface="微软雅黑" charset="0"/>
                <a:cs typeface="微软雅黑" charset="0"/>
                <a:sym typeface="+mn-ea"/>
              </a:rPr>
              <a:t>内存压缩比</a:t>
            </a:r>
            <a:r>
              <a:rPr lang="en-US" altLang="zh-CN" sz="1000" b="1">
                <a:latin typeface="微软雅黑" charset="0"/>
                <a:ea typeface="微软雅黑" charset="0"/>
                <a:cs typeface="微软雅黑" charset="0"/>
                <a:sym typeface="+mn-ea"/>
              </a:rPr>
              <a:t> = </a:t>
            </a:r>
            <a:r>
              <a:rPr lang="en-US" altLang="zh-CN" sz="1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Pages stored in compressor / Pages occupied by compressor</a:t>
            </a:r>
            <a:endParaRPr lang="en-US" altLang="zh-CN" sz="10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文本框 6"/>
          <p:cNvSpPr txBox="1"/>
          <p:nvPr/>
        </p:nvSpPr>
        <p:spPr>
          <a:xfrm>
            <a:off x="0" y="0"/>
            <a:ext cx="6231890" cy="532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ts val="3440"/>
              </a:lnSpc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数据分析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内存压缩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三方应用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0" y="532130"/>
            <a:ext cx="12204065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5" name="文本框 24"/>
          <p:cNvSpPr txBox="1"/>
          <p:nvPr/>
        </p:nvSpPr>
        <p:spPr>
          <a:xfrm>
            <a:off x="86360" y="5538470"/>
            <a:ext cx="3588385" cy="245110"/>
          </a:xfrm>
          <a:prstGeom prst="rect">
            <a:avLst/>
          </a:prstGeom>
        </p:spPr>
        <p:txBody>
          <a:bodyPr wrap="square">
            <a:spAutoFit/>
          </a:bodyPr>
          <a:p>
            <a:pPr indent="0">
              <a:buFont typeface="Wingdings" panose="05000000000000000000" charset="0"/>
              <a:buNone/>
            </a:pPr>
            <a:r>
              <a:rPr lang="en-US" altLang="zh-CN" sz="800" i="1">
                <a:latin typeface="Times New Roman Regular" panose="02020503050405090304" charset="0"/>
                <a:cs typeface="Times New Roman Regular" panose="02020503050405090304" charset="0"/>
              </a:rPr>
              <a:t>* </a:t>
            </a:r>
            <a:r>
              <a:rPr lang="zh-CN" altLang="en-US" sz="800" i="1">
                <a:latin typeface="Times New Roman Regular" panose="02020503050405090304" charset="0"/>
                <a:cs typeface="Times New Roman Regular" panose="02020503050405090304" charset="0"/>
              </a:rPr>
              <a:t>此为根据</a:t>
            </a:r>
            <a:r>
              <a:rPr lang="en-US" altLang="zh-CN" sz="800" i="1">
                <a:latin typeface="Times New Roman Regular" panose="02020503050405090304" charset="0"/>
                <a:cs typeface="Times New Roman Regular" panose="02020503050405090304" charset="0"/>
              </a:rPr>
              <a:t>log</a:t>
            </a:r>
            <a:r>
              <a:rPr lang="zh-CN" altLang="en-US" sz="800" i="1">
                <a:latin typeface="Times New Roman Regular" panose="02020503050405090304" charset="0"/>
                <a:cs typeface="Times New Roman Regular" panose="02020503050405090304" charset="0"/>
              </a:rPr>
              <a:t>确定前台的应用</a:t>
            </a:r>
            <a:r>
              <a:rPr lang="en-US" altLang="zh-CN" sz="800" i="1">
                <a:latin typeface="Times New Roman Regular" panose="02020503050405090304" charset="0"/>
                <a:cs typeface="Times New Roman Regular" panose="02020503050405090304" charset="0"/>
              </a:rPr>
              <a:t>，</a:t>
            </a:r>
            <a:r>
              <a:rPr lang="zh-CN" altLang="en-US" sz="800" i="1">
                <a:latin typeface="Times New Roman Regular" panose="02020503050405090304" charset="0"/>
                <a:cs typeface="Times New Roman Regular" panose="02020503050405090304" charset="0"/>
              </a:rPr>
              <a:t>并按照其在</a:t>
            </a:r>
            <a:r>
              <a:rPr lang="zh-CN" altLang="en-US" sz="800" i="1">
                <a:latin typeface="Times New Roman Regular" panose="02020503050405090304" charset="0"/>
                <a:cs typeface="Times New Roman Regular" panose="02020503050405090304" charset="0"/>
              </a:rPr>
              <a:t>前台的采样点筛选出来取</a:t>
            </a:r>
            <a:r>
              <a:rPr lang="zh-CN" altLang="en-US" sz="800" b="1" i="1">
                <a:latin typeface="Times New Roman Regular" panose="02020503050405090304" charset="0"/>
                <a:cs typeface="Times New Roman Regular" panose="02020503050405090304" charset="0"/>
              </a:rPr>
              <a:t>平均值</a:t>
            </a:r>
            <a:r>
              <a:rPr lang="en-US" altLang="zh-CN" sz="800" i="1">
                <a:latin typeface="Times New Roman Regular" panose="02020503050405090304" charset="0"/>
                <a:cs typeface="Times New Roman Regular" panose="02020503050405090304" charset="0"/>
              </a:rPr>
              <a:t>。</a:t>
            </a:r>
            <a:r>
              <a:rPr lang="en-US" altLang="zh-CN" sz="1000">
                <a:latin typeface="Times New Roman Regular" panose="02020503050405090304" charset="0"/>
                <a:cs typeface="Times New Roman Regular" panose="02020503050405090304" charset="0"/>
              </a:rPr>
              <a:t> </a:t>
            </a:r>
            <a:endParaRPr lang="en-US" altLang="zh-CN" sz="1000"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523355" y="5569585"/>
            <a:ext cx="3924300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buFont typeface="Wingdings" panose="05000000000000000000" charset="0"/>
              <a:buNone/>
            </a:pPr>
            <a:r>
              <a:rPr lang="en-US" altLang="zh-CN" sz="800" i="1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* </a:t>
            </a:r>
            <a:r>
              <a:rPr lang="zh-CN" altLang="en-US" sz="800" i="1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三方应用中由于有长尾数据</a:t>
            </a:r>
            <a:r>
              <a:rPr lang="en-US" altLang="zh-CN" sz="800" i="1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，</a:t>
            </a:r>
            <a:r>
              <a:rPr lang="zh-CN" altLang="en-US" sz="800" i="1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所以把低于</a:t>
            </a:r>
            <a:r>
              <a:rPr lang="en-US" altLang="zh-CN" sz="800" i="1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40M</a:t>
            </a:r>
            <a:r>
              <a:rPr lang="zh-CN" altLang="en-US" sz="800" i="1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的数据去掉后进行</a:t>
            </a:r>
            <a:r>
              <a:rPr lang="zh-CN" altLang="en-US" sz="800" i="1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取平均值排序</a:t>
            </a:r>
            <a:endParaRPr lang="zh-CN" altLang="en-US" sz="800" i="1">
              <a:latin typeface="Times New Roman Regular" panose="02020503050405090304" charset="0"/>
              <a:cs typeface="Times New Roman Regular" panose="02020503050405090304" charset="0"/>
              <a:sym typeface="+mn-ea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82615" y="736600"/>
            <a:ext cx="6513732" cy="288000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36600"/>
            <a:ext cx="5668220" cy="2880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文本框 6"/>
          <p:cNvSpPr txBox="1"/>
          <p:nvPr/>
        </p:nvSpPr>
        <p:spPr>
          <a:xfrm>
            <a:off x="0" y="0"/>
            <a:ext cx="6231890" cy="532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ts val="3440"/>
              </a:lnSpc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数据分析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内存压缩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系统应用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0" y="532130"/>
            <a:ext cx="12204065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7180" y="1051560"/>
            <a:ext cx="5637232" cy="3240000"/>
          </a:xfrm>
          <a:prstGeom prst="rect">
            <a:avLst/>
          </a:prstGeom>
          <a:ln>
            <a:solidFill>
              <a:schemeClr val="bg2"/>
            </a:solidFill>
          </a:ln>
        </p:spPr>
      </p:pic>
      <p:sp>
        <p:nvSpPr>
          <p:cNvPr id="14" name="文本框 13"/>
          <p:cNvSpPr txBox="1"/>
          <p:nvPr/>
        </p:nvSpPr>
        <p:spPr>
          <a:xfrm>
            <a:off x="297815" y="4354830"/>
            <a:ext cx="5636895" cy="1198880"/>
          </a:xfrm>
          <a:prstGeom prst="rect">
            <a:avLst/>
          </a:prstGeom>
        </p:spPr>
        <p:txBody>
          <a:bodyPr wrap="square">
            <a:spAutoFit/>
          </a:bodyPr>
          <a:p>
            <a:pPr marL="171450" indent="-171450" algn="l">
              <a:lnSpc>
                <a:spcPct val="150000"/>
              </a:lnSpc>
              <a:buClrTx/>
              <a:buSzTx/>
              <a:buFont typeface="Arial" panose="020B0604020202090204" pitchFamily="34" charset="0"/>
              <a:buChar char="•"/>
            </a:pPr>
            <a:r>
              <a:rPr lang="zh-CN" altLang="en-US" sz="1200">
                <a:latin typeface="Times New Roman Regular" panose="02020503050405090304" charset="0"/>
                <a:cs typeface="Times New Roman Regular" panose="02020503050405090304" charset="0"/>
              </a:rPr>
              <a:t>优先级高、高频交互的系统服务（如</a:t>
            </a:r>
            <a:r>
              <a:rPr lang="en-US" altLang="zh-CN" sz="1200">
                <a:latin typeface="Times New Roman Regular" panose="02020503050405090304" charset="0"/>
                <a:cs typeface="Times New Roman Regular" panose="02020503050405090304" charset="0"/>
              </a:rPr>
              <a:t> SpringBoard</a:t>
            </a:r>
            <a:r>
              <a:rPr lang="zh-CN" altLang="en-US" sz="1200">
                <a:latin typeface="Times New Roman Regular" panose="02020503050405090304" charset="0"/>
                <a:cs typeface="Times New Roman Regular" panose="02020503050405090304" charset="0"/>
              </a:rPr>
              <a:t>、</a:t>
            </a:r>
            <a:r>
              <a:rPr lang="en-US" altLang="zh-CN" sz="1200">
                <a:latin typeface="Times New Roman Regular" panose="02020503050405090304" charset="0"/>
                <a:cs typeface="Times New Roman Regular" panose="02020503050405090304" charset="0"/>
              </a:rPr>
              <a:t>mediaserve</a:t>
            </a:r>
            <a:r>
              <a:rPr lang="en-US" altLang="zh-CN" sz="1200">
                <a:latin typeface="Times New Roman Regular" panose="02020503050405090304" charset="0"/>
                <a:cs typeface="Times New Roman Regular" panose="02020503050405090304" charset="0"/>
              </a:rPr>
              <a:t>rd、backboardd</a:t>
            </a:r>
            <a:r>
              <a:rPr lang="zh-CN" altLang="en-US" sz="1200">
                <a:latin typeface="Times New Roman Regular" panose="02020503050405090304" charset="0"/>
                <a:cs typeface="Times New Roman Regular" panose="02020503050405090304" charset="0"/>
              </a:rPr>
              <a:t>），享受低压缩率，确保系统丝滑。</a:t>
            </a:r>
            <a:endParaRPr lang="en-US" altLang="zh-CN" sz="120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marL="171450" indent="-171450" algn="l">
              <a:lnSpc>
                <a:spcPct val="150000"/>
              </a:lnSpc>
              <a:buClrTx/>
              <a:buSzTx/>
              <a:buFont typeface="Arial" panose="020B0604020202090204" pitchFamily="34" charset="0"/>
              <a:buChar char="•"/>
            </a:pPr>
            <a:r>
              <a:rPr lang="zh-CN" altLang="en-US" sz="1200">
                <a:latin typeface="Times New Roman Regular" panose="02020503050405090304" charset="0"/>
                <a:cs typeface="Times New Roman Regular" panose="02020503050405090304" charset="0"/>
              </a:rPr>
              <a:t>低频后台、处于休眠的服务，面临极高压缩率，被释放空间。</a:t>
            </a:r>
            <a:r>
              <a:rPr lang="zh-CN" altLang="en-US" sz="1200">
                <a:latin typeface="Times New Roman Regular" panose="02020503050405090304" charset="0"/>
                <a:cs typeface="Times New Roman Regular" panose="02020503050405090304" charset="0"/>
              </a:rPr>
              <a:t>动态模型中系统服务的内存大小为时长的加权平均值。</a:t>
            </a:r>
            <a:endParaRPr lang="zh-CN" altLang="en-US" sz="1200"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6" name="直接连接符 5"/>
          <p:cNvCxnSpPr/>
          <p:nvPr/>
        </p:nvCxnSpPr>
        <p:spPr>
          <a:xfrm>
            <a:off x="0" y="532130"/>
            <a:ext cx="12204065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4630" y="962025"/>
            <a:ext cx="3509645" cy="206692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文本框 3"/>
          <p:cNvSpPr txBox="1"/>
          <p:nvPr/>
        </p:nvSpPr>
        <p:spPr>
          <a:xfrm>
            <a:off x="214630" y="3582035"/>
            <a:ext cx="3252470" cy="2861310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000" b="1">
                <a:latin typeface="Times New Roman Regular" panose="02020503050405090304" charset="0"/>
                <a:cs typeface="Times New Roman Regular" panose="02020503050405090304" charset="0"/>
              </a:rPr>
              <a:t>优先级范围</a:t>
            </a:r>
            <a:endParaRPr lang="zh-CN" altLang="en-US" sz="1000" b="1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000">
                <a:latin typeface="Times New Roman Regular" panose="02020503050405090304" charset="0"/>
                <a:cs typeface="Times New Roman Regular" panose="02020503050405090304" charset="0"/>
              </a:rPr>
              <a:t>最高 </a:t>
            </a:r>
            <a:r>
              <a:rPr lang="en-US" altLang="zh-CN" sz="1000">
                <a:latin typeface="Times New Roman Regular" panose="02020503050405090304" charset="0"/>
                <a:cs typeface="Times New Roman Regular" panose="02020503050405090304" charset="0"/>
              </a:rPr>
              <a:t>210 — ReportCrash / sharktrace</a:t>
            </a:r>
            <a:endParaRPr lang="en-US" altLang="zh-CN" sz="100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000">
                <a:latin typeface="Times New Roman Regular" panose="02020503050405090304" charset="0"/>
                <a:cs typeface="Times New Roman Regular" panose="02020503050405090304" charset="0"/>
              </a:rPr>
              <a:t>200 — notifyd</a:t>
            </a:r>
            <a:r>
              <a:rPr lang="zh-CN" altLang="en-US" sz="1000">
                <a:latin typeface="Times New Roman Regular" panose="02020503050405090304" charset="0"/>
                <a:cs typeface="Times New Roman Regular" panose="02020503050405090304" charset="0"/>
              </a:rPr>
              <a:t>（通知系统）</a:t>
            </a:r>
            <a:endParaRPr lang="zh-CN" altLang="en-US" sz="100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000">
                <a:latin typeface="Times New Roman Regular" panose="02020503050405090304" charset="0"/>
                <a:cs typeface="Times New Roman Regular" panose="02020503050405090304" charset="0"/>
              </a:rPr>
              <a:t>190 — CommCenter</a:t>
            </a:r>
            <a:r>
              <a:rPr lang="zh-CN" altLang="en-US" sz="1000">
                <a:latin typeface="Times New Roman Regular" panose="02020503050405090304" charset="0"/>
                <a:cs typeface="Times New Roman Regular" panose="02020503050405090304" charset="0"/>
              </a:rPr>
              <a:t>（蜂窝通信）</a:t>
            </a:r>
            <a:endParaRPr lang="zh-CN" altLang="en-US" sz="100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000">
                <a:latin typeface="Times New Roman Regular" panose="02020503050405090304" charset="0"/>
                <a:cs typeface="Times New Roman Regular" panose="02020503050405090304" charset="0"/>
              </a:rPr>
              <a:t>180 — </a:t>
            </a:r>
            <a:r>
              <a:rPr lang="zh-CN" altLang="en-US" sz="1000">
                <a:latin typeface="Times New Roman Regular" panose="02020503050405090304" charset="0"/>
                <a:cs typeface="Times New Roman Regular" panose="02020503050405090304" charset="0"/>
              </a:rPr>
              <a:t>系统核心（大多数守护进程）</a:t>
            </a:r>
            <a:endParaRPr lang="zh-CN" altLang="en-US" sz="100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000">
                <a:latin typeface="Times New Roman Regular" panose="02020503050405090304" charset="0"/>
                <a:cs typeface="Times New Roman Regular" panose="02020503050405090304" charset="0"/>
              </a:rPr>
              <a:t>160 — SpringBoard / backboardd</a:t>
            </a:r>
            <a:endParaRPr lang="en-US" altLang="zh-CN" sz="100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000">
                <a:latin typeface="Times New Roman Regular" panose="02020503050405090304" charset="0"/>
                <a:cs typeface="Times New Roman Regular" panose="02020503050405090304" charset="0"/>
              </a:rPr>
              <a:t>140 — </a:t>
            </a:r>
            <a:r>
              <a:rPr lang="zh-CN" altLang="en-US" sz="1000">
                <a:latin typeface="Times New Roman Regular" panose="02020503050405090304" charset="0"/>
                <a:cs typeface="Times New Roman Regular" panose="02020503050405090304" charset="0"/>
              </a:rPr>
              <a:t>大多数系统服务</a:t>
            </a:r>
            <a:endParaRPr lang="zh-CN" altLang="en-US" sz="100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000">
                <a:latin typeface="Times New Roman Regular" panose="02020503050405090304" charset="0"/>
                <a:cs typeface="Times New Roman Regular" panose="02020503050405090304" charset="0"/>
              </a:rPr>
              <a:t>40 — </a:t>
            </a:r>
            <a:r>
              <a:rPr lang="zh-CN" altLang="en-US" sz="1000">
                <a:latin typeface="Times New Roman Regular" panose="02020503050405090304" charset="0"/>
                <a:cs typeface="Times New Roman Regular" panose="02020503050405090304" charset="0"/>
              </a:rPr>
              <a:t>普通进程默认值最低 </a:t>
            </a:r>
            <a:endParaRPr lang="zh-CN" altLang="en-US" sz="100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000">
                <a:latin typeface="Times New Roman Regular" panose="02020503050405090304" charset="0"/>
                <a:cs typeface="Times New Roman Regular" panose="02020503050405090304" charset="0"/>
              </a:rPr>
              <a:t>20 — IOAccelMemoryInfoCollector</a:t>
            </a:r>
            <a:endParaRPr lang="en-US" altLang="zh-CN" sz="100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00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000" b="1">
                <a:latin typeface="Times New Roman Regular" panose="02020503050405090304" charset="0"/>
                <a:cs typeface="Times New Roman Regular" panose="02020503050405090304" charset="0"/>
              </a:rPr>
              <a:t>内存限制前几名</a:t>
            </a:r>
            <a:r>
              <a:rPr lang="en-US" sz="1000">
                <a:latin typeface="Times New Roman Regular" panose="02020503050405090304" charset="0"/>
                <a:cs typeface="Times New Roman Regular" panose="02020503050405090304" charset="0"/>
              </a:rPr>
              <a:t>:</a:t>
            </a:r>
            <a:endParaRPr lang="en-US" sz="100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000">
                <a:latin typeface="Times New Roman Regular" panose="02020503050405090304" charset="0"/>
                <a:cs typeface="Times New Roman Regular" panose="02020503050405090304" charset="0"/>
              </a:rPr>
              <a:t>mediaserverd 2960 MB </a:t>
            </a:r>
            <a:endParaRPr lang="en-US" altLang="zh-CN" sz="100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000">
                <a:latin typeface="Times New Roman Regular" panose="02020503050405090304" charset="0"/>
                <a:cs typeface="Times New Roman Regular" panose="02020503050405090304" charset="0"/>
              </a:rPr>
              <a:t>mediaplaybackd 1600 MB</a:t>
            </a:r>
            <a:endParaRPr lang="en-US" altLang="zh-CN" sz="100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000">
                <a:latin typeface="Times New Roman Regular" panose="02020503050405090304" charset="0"/>
                <a:cs typeface="Times New Roman Regular" panose="02020503050405090304" charset="0"/>
              </a:rPr>
              <a:t>WebKit WebContent 1536 MB</a:t>
            </a:r>
            <a:endParaRPr lang="en-US" altLang="zh-CN" sz="100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000">
                <a:latin typeface="Times New Roman Regular" panose="02020503050405090304" charset="0"/>
                <a:cs typeface="Times New Roman Regular" panose="02020503050405090304" charset="0"/>
              </a:rPr>
              <a:t>avconferenced 1024 MB</a:t>
            </a:r>
            <a:endParaRPr lang="en-US" altLang="zh-CN" sz="1000"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148705" y="793750"/>
            <a:ext cx="5854700" cy="5492750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lnSpc>
                <a:spcPct val="150000"/>
              </a:lnSpc>
            </a:pPr>
            <a:r>
              <a:rPr lang="zh-CN" altLang="en-US" sz="900"/>
              <a:t>内存相关</a:t>
            </a:r>
            <a:r>
              <a:rPr lang="en-US" altLang="zh-CN" sz="900"/>
              <a:t>：</a:t>
            </a:r>
            <a:endParaRPr lang="en-US" altLang="zh-CN" sz="900"/>
          </a:p>
          <a:p>
            <a:pPr>
              <a:lnSpc>
                <a:spcPct val="150000"/>
              </a:lnSpc>
            </a:pPr>
            <a:r>
              <a:rPr lang="en-US" altLang="zh-CN" sz="900"/>
              <a:t>ActiveSoftMemoryLimit — </a:t>
            </a:r>
            <a:r>
              <a:rPr lang="zh-CN" altLang="en-US" sz="900"/>
              <a:t>进程前台运行时的</a:t>
            </a:r>
            <a:r>
              <a:rPr lang="zh-CN" altLang="en-US" sz="900" b="1"/>
              <a:t>软内存</a:t>
            </a:r>
            <a:r>
              <a:rPr lang="zh-CN" altLang="en-US" sz="900"/>
              <a:t>上限（</a:t>
            </a:r>
            <a:r>
              <a:rPr lang="en-US" altLang="zh-CN" sz="900"/>
              <a:t>MB</a:t>
            </a:r>
            <a:r>
              <a:rPr lang="zh-CN" altLang="en-US" sz="900"/>
              <a:t>），超过会触发 </a:t>
            </a:r>
            <a:r>
              <a:rPr lang="en-US" altLang="zh-CN" sz="900"/>
              <a:t>pressured-exit </a:t>
            </a:r>
            <a:r>
              <a:rPr lang="zh-CN" altLang="en-US" sz="900"/>
              <a:t>警告</a:t>
            </a:r>
            <a:endParaRPr lang="zh-CN" altLang="en-US" sz="900"/>
          </a:p>
          <a:p>
            <a:pPr>
              <a:lnSpc>
                <a:spcPct val="150000"/>
              </a:lnSpc>
              <a:buFont typeface="Arial" panose="020B0604020202090204"/>
              <a:buChar char="•"/>
            </a:pPr>
            <a:r>
              <a:rPr lang="en-US" altLang="zh-CN" sz="900"/>
              <a:t>ActiveHardMemoryLimit — </a:t>
            </a:r>
            <a:r>
              <a:rPr lang="zh-CN" altLang="en-US" sz="900"/>
              <a:t>前台运行时的</a:t>
            </a:r>
            <a:r>
              <a:rPr lang="zh-CN" altLang="en-US" sz="900" b="1"/>
              <a:t>硬内存</a:t>
            </a:r>
            <a:r>
              <a:rPr lang="zh-CN" altLang="en-US" sz="900"/>
              <a:t>上限，超过直接被 </a:t>
            </a:r>
            <a:r>
              <a:rPr lang="en-US" altLang="zh-CN" sz="900"/>
              <a:t>jetsam </a:t>
            </a:r>
            <a:r>
              <a:rPr lang="zh-CN" altLang="en-US" sz="900"/>
              <a:t>杀死</a:t>
            </a:r>
            <a:endParaRPr lang="zh-CN" altLang="en-US" sz="900"/>
          </a:p>
          <a:p>
            <a:pPr>
              <a:lnSpc>
                <a:spcPct val="150000"/>
              </a:lnSpc>
              <a:buFont typeface="Arial" panose="020B0604020202090204"/>
              <a:buChar char="•"/>
            </a:pPr>
            <a:r>
              <a:rPr lang="en-US" altLang="zh-CN" sz="900"/>
              <a:t>InactiveSoftMemoryLimit — </a:t>
            </a:r>
            <a:r>
              <a:rPr lang="zh-CN" altLang="en-US" sz="900"/>
              <a:t>后台时的</a:t>
            </a:r>
            <a:r>
              <a:rPr lang="zh-CN" altLang="en-US" sz="900" b="1"/>
              <a:t>软内存</a:t>
            </a:r>
            <a:r>
              <a:rPr lang="zh-CN" altLang="en-US" sz="900"/>
              <a:t>上限</a:t>
            </a:r>
            <a:endParaRPr lang="zh-CN" altLang="en-US" sz="900"/>
          </a:p>
          <a:p>
            <a:pPr>
              <a:lnSpc>
                <a:spcPct val="150000"/>
              </a:lnSpc>
              <a:buFont typeface="Arial" panose="020B0604020202090204"/>
              <a:buChar char="•"/>
            </a:pPr>
            <a:r>
              <a:rPr lang="en-US" altLang="zh-CN" sz="900"/>
              <a:t>InactiveHardMemoryLimit — </a:t>
            </a:r>
            <a:r>
              <a:rPr lang="zh-CN" altLang="en-US" sz="900"/>
              <a:t>后台时的</a:t>
            </a:r>
            <a:r>
              <a:rPr lang="zh-CN" altLang="en-US" sz="900" b="1"/>
              <a:t>硬内存</a:t>
            </a:r>
            <a:r>
              <a:rPr lang="zh-CN" altLang="en-US" sz="900"/>
              <a:t>上限，超过直接杀死</a:t>
            </a:r>
            <a:endParaRPr lang="zh-CN" altLang="en-US" sz="900"/>
          </a:p>
          <a:p>
            <a:pPr>
              <a:lnSpc>
                <a:spcPct val="150000"/>
              </a:lnSpc>
              <a:buFont typeface="Arial" panose="020B0604020202090204"/>
              <a:buChar char="•"/>
            </a:pPr>
            <a:r>
              <a:rPr lang="en-US" altLang="zh-CN" sz="900"/>
              <a:t>-1 </a:t>
            </a:r>
            <a:r>
              <a:rPr lang="zh-CN" altLang="en-US" sz="900"/>
              <a:t>代表</a:t>
            </a:r>
            <a:r>
              <a:rPr lang="en-US" altLang="zh-CN" sz="900"/>
              <a:t>"</a:t>
            </a:r>
            <a:r>
              <a:rPr lang="zh-CN" altLang="en-US" sz="900"/>
              <a:t>无限制</a:t>
            </a:r>
            <a:r>
              <a:rPr lang="en-US" altLang="zh-CN" sz="900"/>
              <a:t>"</a:t>
            </a:r>
            <a:r>
              <a:rPr lang="zh-CN" altLang="en-US" sz="900"/>
              <a:t>，通常赋给不可被杀死的关键进程</a:t>
            </a:r>
            <a:endParaRPr lang="zh-CN" altLang="en-US" sz="900"/>
          </a:p>
          <a:p>
            <a:pPr>
              <a:lnSpc>
                <a:spcPct val="150000"/>
              </a:lnSpc>
              <a:buFont typeface="Arial" panose="020B0604020202090204"/>
              <a:buChar char="•"/>
            </a:pPr>
            <a:endParaRPr lang="zh-CN" altLang="en-US" sz="900"/>
          </a:p>
          <a:p>
            <a:pPr>
              <a:lnSpc>
                <a:spcPct val="150000"/>
              </a:lnSpc>
            </a:pPr>
            <a:r>
              <a:rPr lang="en-US" altLang="zh-CN" sz="900"/>
              <a:t>Jetsam</a:t>
            </a:r>
            <a:r>
              <a:rPr lang="zh-CN" altLang="en-US" sz="900"/>
              <a:t>查杀优先级</a:t>
            </a:r>
            <a:r>
              <a:rPr lang="en-US" altLang="zh-CN" sz="900"/>
              <a:t>：</a:t>
            </a:r>
            <a:endParaRPr lang="zh-CN" altLang="en-US" sz="900"/>
          </a:p>
          <a:p>
            <a:pPr>
              <a:lnSpc>
                <a:spcPct val="150000"/>
              </a:lnSpc>
              <a:buFont typeface="Arial" panose="020B0604020202090204"/>
              <a:buChar char="•"/>
            </a:pPr>
            <a:r>
              <a:rPr lang="en-US" altLang="zh-CN" sz="900"/>
              <a:t>JetsamPriority — </a:t>
            </a:r>
            <a:r>
              <a:rPr lang="zh-CN" altLang="en-US" sz="900"/>
              <a:t>数字越大越不易被杀死，范围 </a:t>
            </a:r>
            <a:r>
              <a:rPr lang="en-US" altLang="zh-CN" sz="900"/>
              <a:t>20</a:t>
            </a:r>
            <a:r>
              <a:rPr lang="zh-CN" altLang="en-US" sz="900"/>
              <a:t>～</a:t>
            </a:r>
            <a:r>
              <a:rPr lang="en-US" altLang="zh-CN" sz="900"/>
              <a:t>210</a:t>
            </a:r>
            <a:endParaRPr lang="en-US" altLang="zh-CN" sz="900"/>
          </a:p>
          <a:p>
            <a:pPr>
              <a:lnSpc>
                <a:spcPct val="150000"/>
              </a:lnSpc>
              <a:buFont typeface="Arial" panose="020B0604020202090204"/>
              <a:buChar char="•"/>
            </a:pPr>
            <a:endParaRPr lang="en-US" altLang="zh-CN" sz="900"/>
          </a:p>
          <a:p>
            <a:pPr>
              <a:lnSpc>
                <a:spcPct val="150000"/>
              </a:lnSpc>
            </a:pPr>
            <a:r>
              <a:rPr lang="zh-CN" altLang="en-US" sz="900"/>
              <a:t>资源限制</a:t>
            </a:r>
            <a:endParaRPr lang="zh-CN" altLang="en-US" sz="900"/>
          </a:p>
          <a:p>
            <a:pPr>
              <a:lnSpc>
                <a:spcPct val="150000"/>
              </a:lnSpc>
              <a:buFont typeface="Arial" panose="020B0604020202090204"/>
              <a:buChar char="•"/>
            </a:pPr>
            <a:r>
              <a:rPr lang="en-US" altLang="zh-CN" sz="900"/>
              <a:t>ThreadLimit — </a:t>
            </a:r>
            <a:r>
              <a:rPr lang="zh-CN" altLang="en-US" sz="900"/>
              <a:t>最大线程数</a:t>
            </a:r>
            <a:endParaRPr lang="zh-CN" altLang="en-US" sz="900"/>
          </a:p>
          <a:p>
            <a:pPr>
              <a:lnSpc>
                <a:spcPct val="150000"/>
              </a:lnSpc>
              <a:buFont typeface="Arial" panose="020B0604020202090204"/>
              <a:buChar char="•"/>
            </a:pPr>
            <a:r>
              <a:rPr lang="en-US" altLang="zh-CN" sz="900"/>
              <a:t>SoftPortLimit / HardPortLimit — Mach port </a:t>
            </a:r>
            <a:r>
              <a:rPr lang="zh-CN" altLang="en-US" sz="900"/>
              <a:t>数量限制</a:t>
            </a:r>
            <a:endParaRPr lang="zh-CN" altLang="en-US" sz="900"/>
          </a:p>
          <a:p>
            <a:pPr>
              <a:lnSpc>
                <a:spcPct val="150000"/>
              </a:lnSpc>
              <a:buFont typeface="Arial" panose="020B0604020202090204"/>
              <a:buChar char="•"/>
            </a:pPr>
            <a:r>
              <a:rPr lang="en-US" altLang="zh-CN" sz="900"/>
              <a:t>LogicalWritesLimit — </a:t>
            </a:r>
            <a:r>
              <a:rPr lang="zh-CN" altLang="en-US" sz="900"/>
              <a:t>写入磁盘的逻辑字节上限（</a:t>
            </a:r>
            <a:r>
              <a:rPr lang="en-US" altLang="zh-CN" sz="900"/>
              <a:t>KB/s</a:t>
            </a:r>
            <a:r>
              <a:rPr lang="zh-CN" altLang="en-US" sz="900"/>
              <a:t>）</a:t>
            </a:r>
            <a:endParaRPr lang="zh-CN" altLang="en-US" sz="900"/>
          </a:p>
          <a:p>
            <a:pPr>
              <a:lnSpc>
                <a:spcPct val="150000"/>
              </a:lnSpc>
              <a:buFont typeface="Arial" panose="020B0604020202090204"/>
              <a:buChar char="•"/>
            </a:pPr>
            <a:r>
              <a:rPr lang="en-US" altLang="zh-CN" sz="900"/>
              <a:t>EnablePressuredExit — </a:t>
            </a:r>
            <a:r>
              <a:rPr lang="zh-CN" altLang="en-US" sz="900"/>
              <a:t>是否允许在内存压力下主动退出</a:t>
            </a:r>
            <a:endParaRPr lang="zh-CN" altLang="en-US" sz="900"/>
          </a:p>
          <a:p>
            <a:pPr>
              <a:lnSpc>
                <a:spcPct val="150000"/>
              </a:lnSpc>
              <a:buFont typeface="Arial" panose="020B0604020202090204"/>
              <a:buChar char="•"/>
            </a:pPr>
            <a:r>
              <a:rPr lang="en-US" altLang="zh-CN" sz="900"/>
              <a:t>EnergyEfficiencyMode — </a:t>
            </a:r>
            <a:r>
              <a:rPr lang="zh-CN" altLang="en-US" sz="900"/>
              <a:t>能效模式，</a:t>
            </a:r>
            <a:r>
              <a:rPr lang="en-US" altLang="zh-CN" sz="900"/>
              <a:t>Efficient</a:t>
            </a:r>
            <a:r>
              <a:rPr lang="zh-CN" altLang="en-US" sz="900"/>
              <a:t>（节能）或 </a:t>
            </a:r>
            <a:r>
              <a:rPr lang="en-US" altLang="zh-CN" sz="900"/>
              <a:t>UserInterface</a:t>
            </a:r>
            <a:r>
              <a:rPr lang="zh-CN" altLang="en-US" sz="900"/>
              <a:t>（交互优先）</a:t>
            </a:r>
            <a:endParaRPr lang="zh-CN" altLang="en-US" sz="900"/>
          </a:p>
          <a:p>
            <a:pPr>
              <a:lnSpc>
                <a:spcPct val="150000"/>
              </a:lnSpc>
              <a:buFont typeface="Arial" panose="020B0604020202090204"/>
              <a:buChar char="•"/>
            </a:pPr>
            <a:r>
              <a:rPr lang="en-US" altLang="zh-CN" sz="900"/>
              <a:t>AlwaysSIGTERMOnShutdown — </a:t>
            </a:r>
            <a:r>
              <a:rPr lang="zh-CN" altLang="en-US" sz="900"/>
              <a:t>关机时总是发 </a:t>
            </a:r>
            <a:r>
              <a:rPr lang="en-US" altLang="zh-CN" sz="900"/>
              <a:t>SIGTERM </a:t>
            </a:r>
            <a:r>
              <a:rPr lang="zh-CN" altLang="en-US" sz="900"/>
              <a:t>而非 </a:t>
            </a:r>
            <a:r>
              <a:rPr lang="en-US" altLang="zh-CN" sz="900"/>
              <a:t>SIGKILL</a:t>
            </a:r>
            <a:endParaRPr lang="en-US" altLang="zh-CN" sz="900"/>
          </a:p>
          <a:p>
            <a:pPr>
              <a:lnSpc>
                <a:spcPct val="150000"/>
              </a:lnSpc>
              <a:buFont typeface="Arial" panose="020B0604020202090204"/>
              <a:buChar char="•"/>
            </a:pPr>
            <a:r>
              <a:rPr lang="en-US" altLang="zh-CN" sz="900"/>
              <a:t>MallocNanoZone / MallocSpaceEfficient — </a:t>
            </a:r>
            <a:r>
              <a:rPr lang="zh-CN" altLang="en-US" sz="900"/>
              <a:t>内存分配器行为</a:t>
            </a:r>
            <a:endParaRPr lang="zh-CN" altLang="en-US" sz="900"/>
          </a:p>
          <a:p>
            <a:pPr>
              <a:lnSpc>
                <a:spcPct val="150000"/>
              </a:lnSpc>
              <a:buFont typeface="Arial" panose="020B0604020202090204"/>
              <a:buChar char="•"/>
            </a:pPr>
            <a:endParaRPr lang="zh-CN" altLang="en-US" sz="900"/>
          </a:p>
          <a:p>
            <a:pPr>
              <a:lnSpc>
                <a:spcPct val="150000"/>
              </a:lnSpc>
            </a:pPr>
            <a:r>
              <a:rPr lang="zh-CN" altLang="en-US" sz="900"/>
              <a:t>仅 </a:t>
            </a:r>
            <a:r>
              <a:rPr lang="en-US" altLang="zh-CN" sz="900"/>
              <a:t>Extension </a:t>
            </a:r>
            <a:r>
              <a:rPr lang="zh-CN" altLang="en-US" sz="900"/>
              <a:t>扩展类有的</a:t>
            </a:r>
            <a:endParaRPr lang="zh-CN" altLang="en-US" sz="900"/>
          </a:p>
          <a:p>
            <a:pPr>
              <a:lnSpc>
                <a:spcPct val="150000"/>
              </a:lnSpc>
              <a:buFont typeface="Arial" panose="020B0604020202090204"/>
              <a:buChar char="•"/>
            </a:pPr>
            <a:r>
              <a:rPr lang="en-US" altLang="zh-CN" sz="900"/>
              <a:t>PosterProvider_* — </a:t>
            </a:r>
            <a:r>
              <a:rPr lang="zh-CN" altLang="en-US" sz="900"/>
              <a:t>锁屏小部件（海报组件）的渲染</a:t>
            </a:r>
            <a:r>
              <a:rPr lang="en-US" altLang="zh-CN" sz="900"/>
              <a:t>/</a:t>
            </a:r>
            <a:r>
              <a:rPr lang="zh-CN" altLang="en-US" sz="900"/>
              <a:t>编辑</a:t>
            </a:r>
            <a:r>
              <a:rPr lang="en-US" altLang="zh-CN" sz="900"/>
              <a:t>/</a:t>
            </a:r>
            <a:r>
              <a:rPr lang="zh-CN" altLang="en-US" sz="900"/>
              <a:t>更新内存配额，针对 </a:t>
            </a:r>
            <a:r>
              <a:rPr lang="en-US" altLang="zh-CN" sz="900"/>
              <a:t>iOS 17 </a:t>
            </a:r>
            <a:r>
              <a:rPr lang="zh-CN" altLang="en-US" sz="900"/>
              <a:t>新的 </a:t>
            </a:r>
            <a:r>
              <a:rPr lang="en-US" altLang="zh-CN" sz="900"/>
              <a:t>poster </a:t>
            </a:r>
            <a:r>
              <a:rPr lang="zh-CN" altLang="en-US" sz="900"/>
              <a:t>壁纸功能</a:t>
            </a:r>
            <a:endParaRPr lang="zh-CN" altLang="en-US" sz="900"/>
          </a:p>
          <a:p>
            <a:pPr>
              <a:lnSpc>
                <a:spcPct val="150000"/>
              </a:lnSpc>
            </a:pPr>
            <a:endParaRPr lang="zh-CN" altLang="en-US" sz="900"/>
          </a:p>
          <a:p>
            <a:pPr>
              <a:lnSpc>
                <a:spcPct val="150000"/>
              </a:lnSpc>
            </a:pPr>
            <a:r>
              <a:rPr lang="zh-CN" altLang="en-US" sz="900"/>
              <a:t>仅 </a:t>
            </a:r>
            <a:r>
              <a:rPr lang="en-US" altLang="zh-CN" sz="900"/>
              <a:t>System </a:t>
            </a:r>
            <a:r>
              <a:rPr lang="zh-CN" altLang="en-US" sz="900"/>
              <a:t>类有的</a:t>
            </a:r>
            <a:endParaRPr lang="zh-CN" altLang="en-US" sz="900"/>
          </a:p>
          <a:p>
            <a:pPr>
              <a:lnSpc>
                <a:spcPct val="150000"/>
              </a:lnSpc>
              <a:buFont typeface="Arial" panose="020B0604020202090204"/>
              <a:buChar char="•"/>
            </a:pPr>
            <a:r>
              <a:rPr lang="en-US" altLang="zh-CN" sz="900"/>
              <a:t>KernelHighWaterMark — </a:t>
            </a:r>
            <a:r>
              <a:rPr lang="zh-CN" altLang="en-US" sz="900"/>
              <a:t>内核内存水位线（</a:t>
            </a:r>
            <a:r>
              <a:rPr lang="en-US" altLang="zh-CN" sz="900"/>
              <a:t>80 MB</a:t>
            </a:r>
            <a:r>
              <a:rPr lang="zh-CN" altLang="en-US" sz="900"/>
              <a:t>）</a:t>
            </a:r>
            <a:endParaRPr lang="zh-CN" altLang="en-US" sz="900"/>
          </a:p>
          <a:p>
            <a:pPr>
              <a:lnSpc>
                <a:spcPct val="150000"/>
              </a:lnSpc>
              <a:buFont typeface="Arial" panose="020B0604020202090204"/>
              <a:buChar char="•"/>
            </a:pPr>
            <a:r>
              <a:rPr lang="en-US" altLang="zh-CN" sz="900"/>
              <a:t>DarkBootSystemUIHardLimit — </a:t>
            </a:r>
            <a:r>
              <a:rPr lang="zh-CN" altLang="en-US" sz="900"/>
              <a:t>暗启动时 </a:t>
            </a:r>
            <a:r>
              <a:rPr lang="en-US" altLang="zh-CN" sz="900"/>
              <a:t>SystemUI </a:t>
            </a:r>
            <a:r>
              <a:rPr lang="zh-CN" altLang="en-US" sz="900"/>
              <a:t>的内存硬限（</a:t>
            </a:r>
            <a:r>
              <a:rPr lang="en-US" altLang="zh-CN" sz="900"/>
              <a:t>140 MB</a:t>
            </a:r>
            <a:r>
              <a:rPr lang="zh-CN" altLang="en-US" sz="900"/>
              <a:t>）</a:t>
            </a:r>
            <a:endParaRPr lang="zh-CN" altLang="en-US" sz="900"/>
          </a:p>
          <a:p>
            <a:pPr>
              <a:lnSpc>
                <a:spcPct val="150000"/>
              </a:lnSpc>
              <a:buFont typeface="Arial" panose="020B0604020202090204"/>
              <a:buChar char="•"/>
            </a:pPr>
            <a:r>
              <a:rPr lang="en-US" altLang="zh-CN" sz="900"/>
              <a:t>UserReclaimableLimit — </a:t>
            </a:r>
            <a:r>
              <a:rPr lang="zh-CN" altLang="en-US" sz="900"/>
              <a:t>用户可回收内存阈值（</a:t>
            </a:r>
            <a:r>
              <a:rPr lang="en-US" altLang="zh-CN" sz="900"/>
              <a:t>70 MB</a:t>
            </a:r>
            <a:r>
              <a:rPr lang="zh-CN" altLang="en-US" sz="900"/>
              <a:t>）</a:t>
            </a:r>
            <a:endParaRPr lang="zh-CN" altLang="en-US" sz="900"/>
          </a:p>
        </p:txBody>
      </p:sp>
      <p:sp>
        <p:nvSpPr>
          <p:cNvPr id="11" name="文本框 10"/>
          <p:cNvSpPr txBox="1"/>
          <p:nvPr/>
        </p:nvSpPr>
        <p:spPr>
          <a:xfrm>
            <a:off x="0" y="0"/>
            <a:ext cx="6231890" cy="532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ts val="3440"/>
              </a:lnSpc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com.apple.jetsamproperties.D74.plist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214630" y="605790"/>
            <a:ext cx="5191125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00000"/>
              </a:lnSpc>
            </a:pPr>
            <a:r>
              <a:rPr lang="en-US" altLang="zh-CN" sz="1000">
                <a:latin typeface="Times New Roman Regular" panose="02020503050405090304" charset="0"/>
                <a:cs typeface="Times New Roman Regular" panose="02020503050405090304" charset="0"/>
              </a:rPr>
              <a:t>越狱iphone14 promax上 /System/Library/LaunchDaemons/com.apple.jetsamproperties.D74.plist</a:t>
            </a:r>
            <a:endParaRPr lang="en-US" altLang="zh-CN" sz="1000"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213995" y="3028950"/>
            <a:ext cx="5934710" cy="5530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50000"/>
              </a:lnSpc>
            </a:pPr>
            <a:r>
              <a:rPr lang="en-US" altLang="zh-CN" sz="1000">
                <a:latin typeface="Times New Roman Regular" panose="02020503050405090304" charset="0"/>
                <a:cs typeface="Times New Roman Regular" panose="02020503050405090304" charset="0"/>
              </a:rPr>
              <a:t>内核 &gt; 系统守护进程（Daemon） &gt; 系统 App(SystemApp) &gt; XPC 服务(SystemXPCService  XPCService) &gt; 扩展(Extension) &gt; 普通 App(App)</a:t>
            </a:r>
            <a:endParaRPr lang="en-US" altLang="zh-CN" sz="1000"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graphicFrame>
        <p:nvGraphicFramePr>
          <p:cNvPr id="16" name="对象 15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4060190" y="4556760"/>
          <a:ext cx="1345565" cy="13455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" showAsIcon="1" r:id="rId2" imgW="1524000" imgH="1524000" progId="Excel.Sheet.12">
                  <p:embed/>
                </p:oleObj>
              </mc:Choice>
              <mc:Fallback>
                <p:oleObj name="" showAsIcon="1" r:id="rId2" imgW="1524000" imgH="1524000" progId="Excel.Sheet.12">
                  <p:embed/>
                  <p:pic>
                    <p:nvPicPr>
                      <p:cNvPr id="0" name="图片 1025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060190" y="4556760"/>
                        <a:ext cx="1345565" cy="13455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6" name="直接连接符 5"/>
          <p:cNvCxnSpPr/>
          <p:nvPr/>
        </p:nvCxnSpPr>
        <p:spPr>
          <a:xfrm>
            <a:off x="0" y="532130"/>
            <a:ext cx="12204065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/>
        </p:nvSpPr>
        <p:spPr>
          <a:xfrm>
            <a:off x="0" y="0"/>
            <a:ext cx="6231890" cy="532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ts val="3440"/>
              </a:lnSpc>
            </a:pP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Instruments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里面的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real-mem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含义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aphicFrame>
        <p:nvGraphicFramePr>
          <p:cNvPr id="2" name="表格 1"/>
          <p:cNvGraphicFramePr/>
          <p:nvPr/>
        </p:nvGraphicFramePr>
        <p:xfrm>
          <a:off x="206375" y="795655"/>
          <a:ext cx="6491605" cy="1152000"/>
        </p:xfrm>
        <a:graphic>
          <a:graphicData uri="http://schemas.openxmlformats.org/drawingml/2006/table">
            <a:tbl>
              <a:tblPr/>
              <a:tblGrid>
                <a:gridCol w="2228850"/>
                <a:gridCol w="2625725"/>
                <a:gridCol w="846455"/>
                <a:gridCol w="790575"/>
              </a:tblGrid>
              <a:tr h="288000">
                <a:tc>
                  <a:txBody>
                    <a:bodyPr/>
                    <a:p>
                      <a:pPr algn="ctr"/>
                      <a:r>
                        <a:rPr lang="zh-CN" altLang="en-US" sz="1100"/>
                        <a:t>文件</a:t>
                      </a:r>
                      <a:endParaRPr lang="zh-CN" altLang="en-US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 w="381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zh-CN" altLang="en-US" sz="1100"/>
                        <a:t>采集工具</a:t>
                      </a:r>
                      <a:endParaRPr lang="zh-CN" altLang="en-US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 w="381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zh-CN" altLang="en-US" sz="1100"/>
                        <a:t>单位</a:t>
                      </a:r>
                      <a:endParaRPr lang="zh-CN" altLang="en-US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 w="381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zh-CN" altLang="en-US" sz="1100"/>
                        <a:t>记录数</a:t>
                      </a:r>
                      <a:endParaRPr lang="zh-CN" altLang="en-US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 w="381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288000">
                <a:tc>
                  <a:txBody>
                    <a:bodyPr/>
                    <a:p>
                      <a:pPr algn="ctr"/>
                      <a:r>
                        <a:rPr lang="en-US" altLang="zh-CN" sz="1100"/>
                        <a:t>PerformanceDynamic_..._res.xlsx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100"/>
                        <a:t>xctrace</a:t>
                      </a:r>
                      <a:r>
                        <a:rPr lang="zh-CN" altLang="en-US" sz="1100"/>
                        <a:t>（</a:t>
                      </a:r>
                      <a:r>
                        <a:rPr lang="en-US" altLang="zh-CN" sz="1100"/>
                        <a:t>Activity Monitor </a:t>
                      </a:r>
                      <a:r>
                        <a:rPr lang="zh-CN" altLang="en-US" sz="1100"/>
                        <a:t>方式）</a:t>
                      </a:r>
                      <a:endParaRPr lang="zh-CN" altLang="en-US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100"/>
                        <a:t>bytes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100"/>
                        <a:t>7,307</a:t>
                      </a:r>
                      <a:r>
                        <a:rPr lang="zh-CN" altLang="en-US" sz="1100"/>
                        <a:t>行</a:t>
                      </a:r>
                      <a:endParaRPr lang="zh-CN" altLang="en-US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</a:tr>
              <a:tr h="288000">
                <a:tc>
                  <a:txBody>
                    <a:bodyPr/>
                    <a:p>
                      <a:pPr algn="ctr"/>
                      <a:r>
                        <a:rPr lang="en-US" altLang="zh-CN" sz="1100"/>
                        <a:t>footprint_all.xlsx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100"/>
                        <a:t>footprint </a:t>
                      </a:r>
                      <a:r>
                        <a:rPr lang="zh-CN" altLang="en-US" sz="1100"/>
                        <a:t>命令（</a:t>
                      </a:r>
                      <a:r>
                        <a:rPr lang="en-US" altLang="zh-CN" sz="1100"/>
                        <a:t>json</a:t>
                      </a:r>
                      <a:r>
                        <a:rPr lang="zh-CN" altLang="en-US" sz="1100"/>
                        <a:t>版）</a:t>
                      </a:r>
                      <a:endParaRPr lang="zh-CN" altLang="en-US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100"/>
                        <a:t>MB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100"/>
                        <a:t>5,096</a:t>
                      </a:r>
                      <a:r>
                        <a:rPr lang="zh-CN" altLang="en-US" sz="1100"/>
                        <a:t>行</a:t>
                      </a:r>
                      <a:endParaRPr lang="zh-CN" altLang="en-US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88000">
                <a:tc>
                  <a:txBody>
                    <a:bodyPr/>
                    <a:p>
                      <a:pPr algn="ctr"/>
                      <a:r>
                        <a:rPr lang="en-US" altLang="zh-CN" sz="1100"/>
                        <a:t>res_summary.xlsx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81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100"/>
                        <a:t>resident_mem_ios</a:t>
                      </a:r>
                      <a:r>
                        <a:rPr lang="zh-CN" altLang="en-US" sz="1100"/>
                        <a:t>程序</a:t>
                      </a:r>
                      <a:endParaRPr lang="zh-CN" altLang="en-US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81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100"/>
                        <a:t>bytes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81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100"/>
                        <a:t>5,103</a:t>
                      </a:r>
                      <a:r>
                        <a:rPr lang="zh-CN" altLang="en-US" sz="1100"/>
                        <a:t>行</a:t>
                      </a:r>
                      <a:endParaRPr lang="zh-CN" altLang="en-US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81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206375" y="2042160"/>
            <a:ext cx="6410325" cy="3553460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000" b="1"/>
              <a:t>Instruments</a:t>
            </a:r>
            <a:r>
              <a:rPr lang="zh-CN" altLang="en-US" sz="1000" b="1"/>
              <a:t>里面</a:t>
            </a:r>
            <a:endParaRPr lang="zh-CN" altLang="en-US" sz="1000" b="1"/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000" b="1"/>
              <a:t>1.</a:t>
            </a:r>
            <a:r>
              <a:rPr lang="en-US" altLang="zh-CN" sz="1000" b="1">
                <a:solidFill>
                  <a:srgbClr val="FF0000"/>
                </a:solidFill>
              </a:rPr>
              <a:t>M</a:t>
            </a:r>
            <a:r>
              <a:rPr lang="en-US" altLang="zh-CN" sz="1000" b="1">
                <a:solidFill>
                  <a:srgbClr val="FF0000"/>
                </a:solidFill>
                <a:sym typeface="+mn-ea"/>
              </a:rPr>
              <a:t>emory: </a:t>
            </a:r>
            <a:r>
              <a:rPr lang="en-US" altLang="zh-CN" sz="1000" b="1">
                <a:solidFill>
                  <a:schemeClr val="tx1"/>
                </a:solidFill>
              </a:rPr>
              <a:t>memory-physical-footprint</a:t>
            </a:r>
            <a:r>
              <a:rPr lang="en-US" altLang="zh-CN" sz="1000" b="1"/>
              <a:t> (</a:t>
            </a:r>
            <a:r>
              <a:rPr lang="zh-CN" altLang="en-US" sz="1000" b="1"/>
              <a:t>物理内存足迹</a:t>
            </a:r>
            <a:r>
              <a:rPr lang="en-US" altLang="zh-CN" sz="1000" b="1"/>
              <a:t>)</a:t>
            </a:r>
            <a:endParaRPr lang="en-US" altLang="zh-CN" sz="1000" b="1"/>
          </a:p>
          <a:p>
            <a:pPr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90204"/>
              <a:buNone/>
            </a:pPr>
            <a:r>
              <a:rPr lang="zh-CN" altLang="en-US" sz="1000"/>
              <a:t>在 </a:t>
            </a:r>
            <a:r>
              <a:rPr lang="en-US" altLang="zh-CN" sz="1000"/>
              <a:t>res_summary.xlsx </a:t>
            </a:r>
            <a:r>
              <a:rPr lang="zh-CN" altLang="en-US" sz="1000"/>
              <a:t>中：等同于 </a:t>
            </a:r>
            <a:r>
              <a:rPr lang="en-US" altLang="zh-CN" sz="1000">
                <a:solidFill>
                  <a:srgbClr val="FF0000"/>
                </a:solidFill>
              </a:rPr>
              <a:t>footprint</a:t>
            </a:r>
            <a:r>
              <a:rPr lang="en-US" altLang="zh-CN" sz="1000"/>
              <a:t> </a:t>
            </a:r>
            <a:r>
              <a:rPr lang="zh-CN" altLang="en-US" sz="1000"/>
              <a:t>字段。</a:t>
            </a:r>
            <a:endParaRPr lang="zh-CN" altLang="en-US" sz="1000"/>
          </a:p>
          <a:p>
            <a:pPr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90204"/>
              <a:buNone/>
            </a:pPr>
            <a:r>
              <a:rPr lang="zh-CN" altLang="en-US" sz="1000"/>
              <a:t>在 </a:t>
            </a:r>
            <a:r>
              <a:rPr lang="en-US" altLang="zh-CN" sz="1000"/>
              <a:t>footprint_all.xlsx </a:t>
            </a:r>
            <a:r>
              <a:rPr lang="zh-CN" altLang="en-US" sz="1000"/>
              <a:t>中：对应 </a:t>
            </a:r>
            <a:r>
              <a:rPr lang="en-US" altLang="zh-CN" sz="1000">
                <a:solidFill>
                  <a:srgbClr val="FF0000"/>
                </a:solidFill>
              </a:rPr>
              <a:t>footprint</a:t>
            </a:r>
            <a:r>
              <a:rPr lang="zh-CN" altLang="en-US" sz="1000"/>
              <a:t>（</a:t>
            </a:r>
            <a:r>
              <a:rPr lang="en-US" altLang="zh-CN" sz="1000"/>
              <a:t>MB</a:t>
            </a:r>
            <a:r>
              <a:rPr lang="zh-CN" altLang="en-US" sz="1000"/>
              <a:t>） 字段。。</a:t>
            </a:r>
            <a:endParaRPr lang="zh-CN" altLang="en-US" sz="1000"/>
          </a:p>
          <a:p>
            <a:pPr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90204"/>
              <a:buNone/>
            </a:pPr>
            <a:r>
              <a:rPr lang="en-US" altLang="zh-CN" sz="1000" b="1"/>
              <a:t>2.</a:t>
            </a:r>
            <a:r>
              <a:rPr lang="en-US" altLang="zh-CN" sz="1000" b="1">
                <a:solidFill>
                  <a:srgbClr val="FF0000"/>
                </a:solidFill>
              </a:rPr>
              <a:t>Real </a:t>
            </a:r>
            <a:r>
              <a:rPr lang="en-US" altLang="zh-CN" sz="1000" b="1">
                <a:solidFill>
                  <a:srgbClr val="FF0000"/>
                </a:solidFill>
                <a:sym typeface="+mn-ea"/>
              </a:rPr>
              <a:t>M</a:t>
            </a:r>
            <a:r>
              <a:rPr lang="en-US" altLang="zh-CN" sz="1000" b="1">
                <a:solidFill>
                  <a:srgbClr val="FF0000"/>
                </a:solidFill>
                <a:sym typeface="+mn-ea"/>
              </a:rPr>
              <a:t>em: </a:t>
            </a:r>
            <a:r>
              <a:rPr lang="en-US" altLang="zh-CN" sz="1000" b="1">
                <a:solidFill>
                  <a:schemeClr val="tx1"/>
                </a:solidFill>
              </a:rPr>
              <a:t>memory-real</a:t>
            </a:r>
            <a:r>
              <a:rPr lang="en-US" altLang="zh-CN" sz="1000" b="1"/>
              <a:t> (</a:t>
            </a:r>
            <a:r>
              <a:rPr lang="zh-CN" altLang="en-US" sz="1000" b="1"/>
              <a:t>实际使用的物理内存，即</a:t>
            </a:r>
            <a:r>
              <a:rPr lang="en-US" altLang="zh-CN" sz="1000" b="1"/>
              <a:t> RSS - Resident Set Size)</a:t>
            </a:r>
            <a:endParaRPr lang="en-US" altLang="zh-CN" sz="1000" b="1"/>
          </a:p>
          <a:p>
            <a:pPr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90204"/>
              <a:buNone/>
            </a:pPr>
            <a:r>
              <a:rPr lang="zh-CN" altLang="en-US" sz="1000"/>
              <a:t>在</a:t>
            </a:r>
            <a:r>
              <a:rPr lang="en-US" altLang="zh-CN" sz="1000"/>
              <a:t> res_summary.xlsx </a:t>
            </a:r>
            <a:r>
              <a:rPr lang="zh-CN" altLang="en-US" sz="1000"/>
              <a:t>中：完全等于</a:t>
            </a:r>
            <a:r>
              <a:rPr lang="en-US" altLang="zh-CN" sz="1000"/>
              <a:t> </a:t>
            </a:r>
            <a:r>
              <a:rPr lang="en-US" altLang="zh-CN" sz="1000">
                <a:solidFill>
                  <a:srgbClr val="FF0000"/>
                </a:solidFill>
              </a:rPr>
              <a:t>resident_size</a:t>
            </a:r>
            <a:r>
              <a:rPr lang="en-US" altLang="zh-CN" sz="1000"/>
              <a:t> </a:t>
            </a:r>
            <a:r>
              <a:rPr lang="zh-CN" altLang="en-US" sz="1000"/>
              <a:t>字段。数值分毫不差，单位为</a:t>
            </a:r>
            <a:r>
              <a:rPr lang="en-US" altLang="zh-CN" sz="1000"/>
              <a:t> </a:t>
            </a:r>
            <a:r>
              <a:rPr lang="zh-CN" altLang="en-US" sz="1000"/>
              <a:t>字节</a:t>
            </a:r>
            <a:r>
              <a:rPr lang="en-US" altLang="zh-CN" sz="1000"/>
              <a:t> (Bytes)</a:t>
            </a:r>
            <a:r>
              <a:rPr lang="zh-CN" altLang="en-US" sz="1000"/>
              <a:t>。</a:t>
            </a:r>
            <a:endParaRPr lang="zh-CN" altLang="en-US" sz="1000"/>
          </a:p>
          <a:p>
            <a:pPr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90204"/>
              <a:buNone/>
            </a:pPr>
            <a:r>
              <a:rPr lang="zh-CN" altLang="en-US" sz="1000"/>
              <a:t>在</a:t>
            </a:r>
            <a:r>
              <a:rPr lang="en-US" altLang="zh-CN" sz="1000"/>
              <a:t> footprint_all.xlsx </a:t>
            </a:r>
            <a:r>
              <a:rPr lang="zh-CN" altLang="en-US" sz="1000"/>
              <a:t>中：宏观</a:t>
            </a:r>
            <a:r>
              <a:rPr lang="zh-CN" altLang="en-US" sz="1000">
                <a:sym typeface="+mn-ea"/>
              </a:rPr>
              <a:t>等于</a:t>
            </a:r>
            <a:r>
              <a:rPr lang="en-US" altLang="zh-CN" sz="1000"/>
              <a:t> Dirty(MB) + Clean(MB) </a:t>
            </a:r>
            <a:r>
              <a:rPr lang="zh-CN" altLang="en-US" sz="1000"/>
              <a:t>等长期驻留在</a:t>
            </a:r>
            <a:r>
              <a:rPr lang="en-US" altLang="zh-CN" sz="1000"/>
              <a:t> DRAM </a:t>
            </a:r>
            <a:r>
              <a:rPr lang="zh-CN" altLang="en-US" sz="1000"/>
              <a:t>中的部分总和。</a:t>
            </a:r>
            <a:endParaRPr lang="zh-CN" altLang="en-US" sz="1000"/>
          </a:p>
          <a:p>
            <a:pPr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90204"/>
              <a:buNone/>
            </a:pPr>
            <a:r>
              <a:rPr lang="en-US" altLang="zh-CN" sz="1000" b="1"/>
              <a:t>3.</a:t>
            </a:r>
            <a:r>
              <a:rPr lang="en-US" altLang="zh-CN" sz="1000" b="1">
                <a:solidFill>
                  <a:srgbClr val="FF0000"/>
                </a:solidFill>
              </a:rPr>
              <a:t>Compressed </a:t>
            </a:r>
            <a:r>
              <a:rPr lang="en-US" altLang="zh-CN" sz="1000" b="1">
                <a:solidFill>
                  <a:srgbClr val="FF0000"/>
                </a:solidFill>
                <a:sym typeface="+mn-ea"/>
              </a:rPr>
              <a:t>Memory</a:t>
            </a:r>
            <a:r>
              <a:rPr lang="en-US" altLang="zh-CN" sz="1000" b="1"/>
              <a:t>(</a:t>
            </a:r>
            <a:r>
              <a:rPr lang="zh-CN" altLang="en-US" sz="1000" b="1"/>
              <a:t>压缩内存</a:t>
            </a:r>
            <a:r>
              <a:rPr lang="en-US" altLang="zh-CN" sz="1000" b="1"/>
              <a:t>)</a:t>
            </a:r>
            <a:endParaRPr lang="en-US" altLang="zh-CN" sz="1000" b="1"/>
          </a:p>
          <a:p>
            <a:pPr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90204"/>
              <a:buNone/>
            </a:pPr>
            <a:r>
              <a:rPr lang="zh-CN" altLang="en-US" sz="1000"/>
              <a:t>在</a:t>
            </a:r>
            <a:r>
              <a:rPr lang="en-US" altLang="zh-CN" sz="1000"/>
              <a:t> footprint_all.xlsx </a:t>
            </a:r>
            <a:r>
              <a:rPr lang="zh-CN" altLang="en-US" sz="1000"/>
              <a:t>中：主要对应</a:t>
            </a:r>
            <a:r>
              <a:rPr lang="en-US" altLang="zh-CN" sz="1000"/>
              <a:t> Swapped(MB) </a:t>
            </a:r>
            <a:r>
              <a:rPr lang="zh-CN" altLang="en-US" sz="1000"/>
              <a:t>字段。因为</a:t>
            </a:r>
            <a:r>
              <a:rPr lang="en-US" altLang="zh-CN" sz="1000"/>
              <a:t> iOS </a:t>
            </a:r>
            <a:r>
              <a:rPr lang="zh-CN" altLang="en-US" sz="1000"/>
              <a:t>没有传统的磁盘交换区，苹果通常使用</a:t>
            </a:r>
            <a:r>
              <a:rPr lang="en-US" altLang="zh-CN" sz="1000"/>
              <a:t> Swapped </a:t>
            </a:r>
            <a:r>
              <a:rPr lang="zh-CN" altLang="en-US" sz="1000"/>
              <a:t>这个词来指代</a:t>
            </a:r>
            <a:r>
              <a:rPr lang="en-US" altLang="zh-CN" sz="1000"/>
              <a:t> </a:t>
            </a:r>
            <a:r>
              <a:rPr lang="zh-CN" altLang="en-US" sz="1000"/>
              <a:t>内存压缩技术。当内存不足时，不活跃的内存会被压缩。</a:t>
            </a:r>
            <a:endParaRPr lang="zh-CN" altLang="en-US" sz="1000"/>
          </a:p>
          <a:p>
            <a:pPr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90204"/>
              <a:buNone/>
            </a:pPr>
            <a:r>
              <a:rPr lang="en-US" altLang="zh-CN" sz="1000" b="1"/>
              <a:t>4.</a:t>
            </a:r>
            <a:r>
              <a:rPr lang="en-US" altLang="zh-CN" sz="1000" b="1">
                <a:solidFill>
                  <a:srgbClr val="FF0000"/>
                </a:solidFill>
              </a:rPr>
              <a:t>Purgeable</a:t>
            </a:r>
            <a:r>
              <a:rPr lang="en-US" altLang="zh-CN" sz="1000" b="1">
                <a:solidFill>
                  <a:srgbClr val="FF0000"/>
                </a:solidFill>
                <a:sym typeface="+mn-ea"/>
              </a:rPr>
              <a:t> </a:t>
            </a:r>
            <a:r>
              <a:rPr lang="en-US" altLang="zh-CN" sz="1000" b="1">
                <a:solidFill>
                  <a:srgbClr val="FF0000"/>
                </a:solidFill>
                <a:sym typeface="+mn-ea"/>
              </a:rPr>
              <a:t>Memory</a:t>
            </a:r>
            <a:r>
              <a:rPr lang="en-US" altLang="zh-CN" sz="1000" b="1"/>
              <a:t> (</a:t>
            </a:r>
            <a:r>
              <a:rPr lang="zh-CN" altLang="en-US" sz="1000" b="1"/>
              <a:t>可清除内存</a:t>
            </a:r>
            <a:r>
              <a:rPr lang="en-US" altLang="zh-CN" sz="1000" b="1"/>
              <a:t>)</a:t>
            </a:r>
            <a:endParaRPr lang="en-US" altLang="zh-CN" sz="1000" b="1"/>
          </a:p>
          <a:p>
            <a:pPr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90204"/>
              <a:buNone/>
            </a:pPr>
            <a:r>
              <a:rPr lang="zh-CN" altLang="en-US" sz="1000"/>
              <a:t>在</a:t>
            </a:r>
            <a:r>
              <a:rPr lang="en-US" altLang="zh-CN" sz="1000"/>
              <a:t> footprint_all.xlsx </a:t>
            </a:r>
            <a:r>
              <a:rPr lang="zh-CN" altLang="en-US" sz="1000"/>
              <a:t>中：直接对应</a:t>
            </a:r>
            <a:r>
              <a:rPr lang="en-US" altLang="zh-CN" sz="1000"/>
              <a:t> Reclaimable(MB) (</a:t>
            </a:r>
            <a:r>
              <a:rPr lang="zh-CN" altLang="en-US" sz="1000"/>
              <a:t>可回收内存</a:t>
            </a:r>
            <a:r>
              <a:rPr lang="en-US" altLang="zh-CN" sz="1000"/>
              <a:t>) </a:t>
            </a:r>
            <a:r>
              <a:rPr lang="zh-CN" altLang="en-US" sz="1000"/>
              <a:t>字段。内存吃紧时可以直接丢弃并重新分配。</a:t>
            </a:r>
            <a:endParaRPr lang="en-US" altLang="zh-CN" sz="1000"/>
          </a:p>
          <a:p>
            <a:pPr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90204"/>
              <a:buNone/>
            </a:pPr>
            <a:r>
              <a:rPr lang="en-US" altLang="zh-CN" sz="1000" b="1"/>
              <a:t>5.</a:t>
            </a:r>
            <a:r>
              <a:rPr lang="en-US" altLang="zh-CN" sz="1000" b="1">
                <a:solidFill>
                  <a:srgbClr val="FF0000"/>
                </a:solidFill>
              </a:rPr>
              <a:t>real-private-</a:t>
            </a:r>
            <a:r>
              <a:rPr lang="en-US" altLang="zh-CN" sz="1000" b="1">
                <a:solidFill>
                  <a:srgbClr val="FF0000"/>
                </a:solidFill>
                <a:sym typeface="+mn-ea"/>
              </a:rPr>
              <a:t>memory</a:t>
            </a:r>
            <a:r>
              <a:rPr lang="en-US" altLang="zh-CN" sz="1000" b="1"/>
              <a:t> (</a:t>
            </a:r>
            <a:r>
              <a:rPr lang="zh-CN" altLang="en-US" sz="1000" b="1"/>
              <a:t>私有实际内存</a:t>
            </a:r>
            <a:r>
              <a:rPr lang="en-US" altLang="zh-CN" sz="1000" b="1"/>
              <a:t>) / </a:t>
            </a:r>
            <a:r>
              <a:rPr lang="en-US" altLang="zh-CN" sz="1000" b="1">
                <a:solidFill>
                  <a:srgbClr val="FF0000"/>
                </a:solidFill>
              </a:rPr>
              <a:t>real-shared</a:t>
            </a:r>
            <a:r>
              <a:rPr lang="en-US" altLang="zh-CN" sz="1000" b="1">
                <a:solidFill>
                  <a:srgbClr val="FF0000"/>
                </a:solidFill>
                <a:sym typeface="+mn-ea"/>
              </a:rPr>
              <a:t>-</a:t>
            </a:r>
            <a:r>
              <a:rPr lang="en-US" altLang="zh-CN" sz="1000" b="1">
                <a:solidFill>
                  <a:srgbClr val="FF0000"/>
                </a:solidFill>
                <a:sym typeface="+mn-ea"/>
              </a:rPr>
              <a:t>memory</a:t>
            </a:r>
            <a:r>
              <a:rPr lang="en-US" altLang="zh-CN" sz="1000" b="1"/>
              <a:t> (</a:t>
            </a:r>
            <a:r>
              <a:rPr lang="zh-CN" altLang="en-US" sz="1000" b="1"/>
              <a:t>共享实际内存</a:t>
            </a:r>
            <a:r>
              <a:rPr lang="en-US" altLang="zh-CN" sz="1000" b="1"/>
              <a:t>)</a:t>
            </a:r>
            <a:endParaRPr lang="en-US" altLang="zh-CN" sz="1000" b="1"/>
          </a:p>
          <a:p>
            <a:pPr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90204"/>
              <a:buNone/>
            </a:pPr>
            <a:r>
              <a:rPr lang="zh-CN" altLang="en-US" sz="1000"/>
              <a:t>在</a:t>
            </a:r>
            <a:r>
              <a:rPr lang="en-US" altLang="zh-CN" sz="1000"/>
              <a:t> footprint_all.xlsx </a:t>
            </a:r>
            <a:r>
              <a:rPr lang="zh-CN" altLang="en-US" sz="1000"/>
              <a:t>中：</a:t>
            </a:r>
            <a:r>
              <a:rPr lang="en-US" altLang="zh-CN" sz="1000"/>
              <a:t>real-private-</a:t>
            </a:r>
            <a:r>
              <a:rPr lang="en-US" altLang="zh-CN" sz="1000">
                <a:sym typeface="+mn-ea"/>
              </a:rPr>
              <a:t>memory</a:t>
            </a:r>
            <a:r>
              <a:rPr lang="en-US" altLang="zh-CN" sz="1000"/>
              <a:t> </a:t>
            </a:r>
            <a:r>
              <a:rPr lang="zh-CN" altLang="en-US" sz="1000"/>
              <a:t>构成了</a:t>
            </a:r>
            <a:r>
              <a:rPr lang="en-US" altLang="zh-CN" sz="1000"/>
              <a:t> Dirty(MB)</a:t>
            </a:r>
            <a:r>
              <a:rPr lang="zh-CN" altLang="en-US" sz="1000"/>
              <a:t>（脏内存）的核心部分。私有内存无法与其它进程共享，通常是被修改过且必须保存在物理</a:t>
            </a:r>
            <a:r>
              <a:rPr lang="en-US" altLang="zh-CN" sz="1000"/>
              <a:t> RAM </a:t>
            </a:r>
            <a:r>
              <a:rPr lang="zh-CN" altLang="en-US" sz="1000"/>
              <a:t>中的数据。</a:t>
            </a:r>
            <a:endParaRPr lang="zh-CN" altLang="en-US" sz="1000"/>
          </a:p>
        </p:txBody>
      </p:sp>
      <p:sp>
        <p:nvSpPr>
          <p:cNvPr id="7" name="文本框 6"/>
          <p:cNvSpPr txBox="1"/>
          <p:nvPr/>
        </p:nvSpPr>
        <p:spPr>
          <a:xfrm>
            <a:off x="6800215" y="571500"/>
            <a:ext cx="4645025" cy="321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50000"/>
              </a:lnSpc>
            </a:pPr>
            <a:r>
              <a:rPr lang="zh-CN" altLang="en-US" sz="1000" b="1">
                <a:sym typeface="+mn-ea"/>
              </a:rPr>
              <a:t>证明</a:t>
            </a:r>
            <a:r>
              <a:rPr lang="en-US" altLang="zh-CN" sz="1000" b="1">
                <a:sym typeface="+mn-ea"/>
              </a:rPr>
              <a:t>1：</a:t>
            </a:r>
            <a:endParaRPr lang="en-US" altLang="zh-CN" sz="1000" b="1">
              <a:sym typeface="+mn-ea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75780" y="2225675"/>
            <a:ext cx="4320000" cy="318795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6875780" y="846455"/>
            <a:ext cx="997585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00000"/>
              </a:lnSpc>
            </a:pPr>
            <a:r>
              <a:rPr lang="en-US" altLang="zh-CN" sz="1000" b="1">
                <a:sym typeface="+mn-ea"/>
              </a:rPr>
              <a:t>Instruments：</a:t>
            </a:r>
            <a:endParaRPr lang="en-US" altLang="zh-CN" sz="1000" b="1">
              <a:sym typeface="+mn-ea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6875780" y="1909445"/>
            <a:ext cx="997585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00000"/>
              </a:lnSpc>
            </a:pPr>
            <a:r>
              <a:rPr lang="zh-CN" altLang="en-US" sz="1000" b="1">
                <a:sym typeface="+mn-ea"/>
              </a:rPr>
              <a:t>程序</a:t>
            </a:r>
            <a:r>
              <a:rPr lang="en-US" altLang="zh-CN" sz="1000" b="1">
                <a:sym typeface="+mn-ea"/>
              </a:rPr>
              <a:t>：</a:t>
            </a:r>
            <a:endParaRPr lang="en-US" altLang="zh-CN" sz="1000" b="1">
              <a:sym typeface="+mn-ea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6875780" y="2574925"/>
            <a:ext cx="3899535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00000"/>
              </a:lnSpc>
            </a:pPr>
            <a:r>
              <a:rPr lang="en-US" altLang="zh-CN" sz="1000" b="1">
                <a:sym typeface="+mn-ea"/>
              </a:rPr>
              <a:t>Footprint：151193920 Bytes </a:t>
            </a:r>
            <a:r>
              <a:rPr lang="en-US" altLang="en-US" sz="1000" b="1">
                <a:sym typeface="+mn-ea"/>
              </a:rPr>
              <a:t>÷</a:t>
            </a:r>
            <a:r>
              <a:rPr lang="en-US" altLang="zh-CN" sz="1000" b="1">
                <a:sym typeface="+mn-ea"/>
              </a:rPr>
              <a:t> 1024 </a:t>
            </a:r>
            <a:r>
              <a:rPr lang="en-US" altLang="en-US" sz="1000" b="1">
                <a:sym typeface="+mn-ea"/>
              </a:rPr>
              <a:t>÷</a:t>
            </a:r>
            <a:r>
              <a:rPr lang="en-US" altLang="zh-CN" sz="1000" b="1">
                <a:sym typeface="+mn-ea"/>
              </a:rPr>
              <a:t> 1024 ≈ 144.18 MB</a:t>
            </a:r>
            <a:endParaRPr lang="en-US" altLang="zh-CN" sz="1000" b="1">
              <a:sym typeface="+mn-ea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6883400" y="3261995"/>
            <a:ext cx="4645025" cy="321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50000"/>
              </a:lnSpc>
            </a:pPr>
            <a:r>
              <a:rPr lang="zh-CN" altLang="en-US" sz="1000" b="1">
                <a:sym typeface="+mn-ea"/>
              </a:rPr>
              <a:t>证明</a:t>
            </a:r>
            <a:r>
              <a:rPr lang="en-US" altLang="zh-CN" sz="1000" b="1">
                <a:sym typeface="+mn-ea"/>
              </a:rPr>
              <a:t>2</a:t>
            </a:r>
            <a:r>
              <a:rPr lang="en-US" altLang="zh-CN" sz="1000" b="1">
                <a:sym typeface="+mn-ea"/>
              </a:rPr>
              <a:t>：</a:t>
            </a:r>
            <a:endParaRPr lang="en-US" altLang="zh-CN" sz="1000" b="1">
              <a:sym typeface="+mn-ea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6958965" y="3536950"/>
            <a:ext cx="997585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00000"/>
              </a:lnSpc>
            </a:pPr>
            <a:r>
              <a:rPr lang="en-US" altLang="zh-CN" sz="1000" b="1">
                <a:sym typeface="+mn-ea"/>
              </a:rPr>
              <a:t>Instruments：</a:t>
            </a:r>
            <a:endParaRPr lang="en-US" altLang="zh-CN" sz="1000" b="1">
              <a:sym typeface="+mn-ea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6958965" y="4375785"/>
            <a:ext cx="997585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00000"/>
              </a:lnSpc>
            </a:pPr>
            <a:r>
              <a:rPr lang="zh-CN" altLang="en-US" sz="1000" b="1">
                <a:sym typeface="+mn-ea"/>
              </a:rPr>
              <a:t>程序</a:t>
            </a:r>
            <a:r>
              <a:rPr lang="en-US" altLang="zh-CN" sz="1000" b="1">
                <a:sym typeface="+mn-ea"/>
              </a:rPr>
              <a:t>：</a:t>
            </a:r>
            <a:endParaRPr lang="en-US" altLang="zh-CN" sz="1000" b="1">
              <a:sym typeface="+mn-ea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6958965" y="5041265"/>
            <a:ext cx="3899535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00000"/>
              </a:lnSpc>
            </a:pPr>
            <a:r>
              <a:rPr lang="en-US" altLang="zh-CN" sz="1000" b="1">
                <a:sym typeface="+mn-ea"/>
              </a:rPr>
              <a:t>Footprint：189991872 Bytes </a:t>
            </a:r>
            <a:r>
              <a:rPr lang="en-US" altLang="en-US" sz="1000" b="1">
                <a:sym typeface="+mn-ea"/>
              </a:rPr>
              <a:t>÷</a:t>
            </a:r>
            <a:r>
              <a:rPr lang="en-US" altLang="zh-CN" sz="1000" b="1">
                <a:sym typeface="+mn-ea"/>
              </a:rPr>
              <a:t> 1024 </a:t>
            </a:r>
            <a:r>
              <a:rPr lang="en-US" altLang="en-US" sz="1000" b="1">
                <a:sym typeface="+mn-ea"/>
              </a:rPr>
              <a:t>÷</a:t>
            </a:r>
            <a:r>
              <a:rPr lang="en-US" altLang="zh-CN" sz="1000" b="1">
                <a:sym typeface="+mn-ea"/>
              </a:rPr>
              <a:t> 1024 ≈ 181.18 MB</a:t>
            </a:r>
            <a:endParaRPr lang="en-US" altLang="zh-CN" sz="1000" b="1">
              <a:sym typeface="+mn-ea"/>
            </a:endParaRPr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4320" y="5412740"/>
            <a:ext cx="5580000" cy="166027"/>
          </a:xfrm>
          <a:prstGeom prst="rect">
            <a:avLst/>
          </a:prstGeom>
        </p:spPr>
      </p:pic>
      <p:pic>
        <p:nvPicPr>
          <p:cNvPr id="31" name="图片 3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8965" y="4671695"/>
            <a:ext cx="4320000" cy="318795"/>
          </a:xfrm>
          <a:prstGeom prst="rect">
            <a:avLst/>
          </a:prstGeom>
        </p:spPr>
      </p:pic>
      <p:pic>
        <p:nvPicPr>
          <p:cNvPr id="33" name="图片 3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6700" y="2931795"/>
            <a:ext cx="5580000" cy="165886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83400" y="1099185"/>
            <a:ext cx="4300855" cy="32004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83400" y="1426845"/>
            <a:ext cx="4320000" cy="48568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83400" y="3836035"/>
            <a:ext cx="4320000" cy="4856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5660391" y="-1188720"/>
            <a:ext cx="184731" cy="5283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3440"/>
              </a:lnSpc>
            </a:pPr>
            <a:endParaRPr lang="en-US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0" y="0"/>
            <a:ext cx="6231890" cy="532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ts val="3440"/>
              </a:lnSpc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内核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&amp;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驱动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占用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" name="直接连接符 2"/>
          <p:cNvCxnSpPr/>
          <p:nvPr/>
        </p:nvCxnSpPr>
        <p:spPr>
          <a:xfrm>
            <a:off x="0" y="532130"/>
            <a:ext cx="12204065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195580" y="549275"/>
            <a:ext cx="5657215" cy="181673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l">
              <a:lnSpc>
                <a:spcPct val="150000"/>
              </a:lnSpc>
            </a:pPr>
            <a:r>
              <a:rPr lang="zh-CN" altLang="en-US" sz="1200" b="1">
                <a:latin typeface="宋体" charset="0"/>
                <a:ea typeface="宋体" charset="0"/>
                <a:cs typeface="Times New Roman Regular" panose="02020503050405090304" charset="0"/>
                <a:sym typeface="+mn-ea"/>
              </a:rPr>
              <a:t>公式</a:t>
            </a:r>
            <a:r>
              <a:rPr lang="en-US" altLang="zh-CN" sz="1200" b="1">
                <a:latin typeface="宋体" charset="0"/>
                <a:ea typeface="宋体" charset="0"/>
                <a:cs typeface="Times New Roman Regular" panose="02020503050405090304" charset="0"/>
                <a:sym typeface="+mn-ea"/>
              </a:rPr>
              <a:t>：</a:t>
            </a:r>
            <a:endParaRPr lang="zh-CN" altLang="en-US" sz="1200" b="1">
              <a:latin typeface="宋体" charset="0"/>
              <a:ea typeface="宋体" charset="0"/>
              <a:cs typeface="Times New Roman Regular" panose="02020503050405090304" charset="0"/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zh-CN" altLang="en-US" sz="1200" b="1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内核占用</a:t>
            </a:r>
            <a:r>
              <a:rPr lang="en-US" altLang="zh-CN" sz="1200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 = (</a:t>
            </a:r>
            <a:r>
              <a:rPr lang="zh-CN" altLang="en-US" sz="1200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所有</a:t>
            </a:r>
            <a:r>
              <a:rPr lang="en-US" altLang="zh-CN" sz="1200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 VM_KERN_* + zones) </a:t>
            </a:r>
            <a:endParaRPr lang="en-US" altLang="zh-CN" sz="1200">
              <a:latin typeface="Times New Roman Regular" panose="02020503050405090304" charset="0"/>
              <a:cs typeface="Times New Roman Regular" panose="02020503050405090304" charset="0"/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en-US" altLang="zh-CN" sz="1200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                 - VM_KERN_COUNT_BOOT_STOLEN </a:t>
            </a:r>
            <a:endParaRPr lang="en-US" altLang="zh-CN" sz="1200">
              <a:latin typeface="Times New Roman Regular" panose="02020503050405090304" charset="0"/>
              <a:cs typeface="Times New Roman Regular" panose="02020503050405090304" charset="0"/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en-US" altLang="zh-CN" sz="1200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                 + VM_KERN_COUNT_WIRED_</a:t>
            </a:r>
            <a:r>
              <a:rPr lang="zh-CN" altLang="en-US" sz="1200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残余</a:t>
            </a:r>
            <a:endParaRPr lang="zh-CN" altLang="en-US" sz="1200">
              <a:latin typeface="Times New Roman Regular" panose="02020503050405090304" charset="0"/>
              <a:cs typeface="Times New Roman Regular" panose="02020503050405090304" charset="0"/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en-US" altLang="zh-CN" sz="1200" i="1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// </a:t>
            </a:r>
            <a:r>
              <a:rPr lang="zh-CN" altLang="en-US" sz="1200" i="1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口径</a:t>
            </a:r>
            <a:r>
              <a:rPr lang="en-US" altLang="zh-CN" sz="1200" i="1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：</a:t>
            </a:r>
            <a:r>
              <a:rPr lang="zh-CN" altLang="en-US" sz="1200" i="1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单框架比</a:t>
            </a:r>
            <a:r>
              <a:rPr lang="en-US" altLang="zh-CN" sz="1200" i="1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iOS</a:t>
            </a:r>
            <a:r>
              <a:rPr lang="zh-CN" altLang="en-US" sz="1200" i="1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多</a:t>
            </a:r>
            <a:r>
              <a:rPr lang="en-US" altLang="zh-CN" sz="1200" i="1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1G</a:t>
            </a:r>
            <a:r>
              <a:rPr lang="zh-CN" altLang="en-US" sz="1200" i="1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存储</a:t>
            </a:r>
            <a:r>
              <a:rPr lang="en-US" altLang="zh-CN" sz="1200" i="1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，</a:t>
            </a:r>
            <a:r>
              <a:rPr lang="zh-CN" altLang="en-US" sz="1200" i="1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内存增加内核占用量级</a:t>
            </a:r>
            <a:r>
              <a:rPr lang="en-US" altLang="zh-CN" sz="1200" i="1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156kB。</a:t>
            </a:r>
            <a:r>
              <a:rPr lang="zh-CN" altLang="en-US" sz="1200" i="1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（已确认）</a:t>
            </a:r>
            <a:endParaRPr lang="zh-CN" altLang="en-US" sz="1200" i="1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algn="l">
              <a:lnSpc>
                <a:spcPct val="150000"/>
              </a:lnSpc>
            </a:pPr>
            <a:r>
              <a:rPr lang="zh-CN" altLang="en-US" sz="1200" b="1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驱动占用</a:t>
            </a:r>
            <a:r>
              <a:rPr lang="en-US" altLang="zh-CN" sz="1200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 = sum(wired memory </a:t>
            </a:r>
            <a:r>
              <a:rPr lang="zh-CN" altLang="en-US" sz="1200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中的</a:t>
            </a:r>
            <a:r>
              <a:rPr lang="en-US" altLang="zh-CN" sz="1200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 com.apple.*) - com.apple.filesystems.apfs</a:t>
            </a:r>
            <a:endParaRPr lang="en-US" altLang="zh-CN" sz="1200" dirty="0" smtClean="0">
              <a:latin typeface="Times New Roman Regular" panose="02020503050405090304" charset="0"/>
              <a:ea typeface="微软雅黑" panose="020B0503020204020204" pitchFamily="34" charset="-122"/>
              <a:cs typeface="Times New Roman Regular" panose="02020503050405090304" charset="0"/>
              <a:sym typeface="+mn-ea"/>
            </a:endParaRPr>
          </a:p>
        </p:txBody>
      </p: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483870" y="2976245"/>
          <a:ext cx="4591685" cy="1226185"/>
        </p:xfrm>
        <a:graphic>
          <a:graphicData uri="http://schemas.openxmlformats.org/drawingml/2006/table">
            <a:tbl>
              <a:tblPr/>
              <a:tblGrid>
                <a:gridCol w="1088390"/>
                <a:gridCol w="1751330"/>
                <a:gridCol w="1751965"/>
              </a:tblGrid>
              <a:tr h="248285">
                <a:tc>
                  <a:txBody>
                    <a:bodyPr/>
                    <a:p>
                      <a:pPr algn="ctr" fontAlgn="ctr"/>
                      <a:endParaRPr sz="1200" b="0" i="0">
                        <a:solidFill>
                          <a:srgbClr val="000000"/>
                        </a:solidFill>
                        <a:latin typeface="Times New Roman Regular" panose="02020503050405090304" charset="0"/>
                        <a:ea typeface="宋体"/>
                        <a:cs typeface="Times New Roman Regular" panose="02020503050405090304" charset="0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Times New Roman Regular" panose="02020503050405090304" charset="0"/>
                          <a:ea typeface="宋体"/>
                          <a:cs typeface="Times New Roman Regular" panose="02020503050405090304" charset="0"/>
                        </a:rPr>
                        <a:t>内核占用均值MB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Times New Roman Regular" panose="02020503050405090304" charset="0"/>
                        <a:ea typeface="宋体"/>
                        <a:cs typeface="Times New Roman Regular" panose="02020503050405090304" charset="0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000">
                          <a:solidFill>
                            <a:srgbClr val="000000"/>
                          </a:solidFill>
                          <a:latin typeface="Times New Roman Regular" panose="02020503050405090304" charset="0"/>
                          <a:ea typeface="宋体"/>
                          <a:cs typeface="Times New Roman Regular" panose="02020503050405090304" charset="0"/>
                          <a:sym typeface="+mn-ea"/>
                        </a:rPr>
                        <a:t>驱动</a:t>
                      </a:r>
                      <a:r>
                        <a:rPr lang="en-US" altLang="zh-CN" sz="1000">
                          <a:solidFill>
                            <a:srgbClr val="000000"/>
                          </a:solidFill>
                          <a:latin typeface="Times New Roman Regular" panose="02020503050405090304" charset="0"/>
                          <a:ea typeface="宋体"/>
                          <a:cs typeface="Times New Roman Regular" panose="02020503050405090304" charset="0"/>
                          <a:sym typeface="+mn-ea"/>
                        </a:rPr>
                        <a:t>占用均值MB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Times New Roman Regular" panose="02020503050405090304" charset="0"/>
                        <a:ea typeface="宋体"/>
                        <a:cs typeface="Times New Roman Regular" panose="02020503050405090304" charset="0"/>
                        <a:sym typeface="+mn-ea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5580"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Times New Roman Regular" panose="02020503050405090304" charset="0"/>
                          <a:ea typeface="宋体"/>
                          <a:cs typeface="Times New Roman Regular" panose="02020503050405090304" charset="0"/>
                        </a:rPr>
                        <a:t>Basic1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Times New Roman Regular" panose="02020503050405090304" charset="0"/>
                        <a:ea typeface="宋体"/>
                        <a:cs typeface="Times New Roman Regular" panose="02020503050405090304" charset="0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Times New Roman Regular" panose="02020503050405090304" charset="0"/>
                          <a:ea typeface="宋体"/>
                          <a:cs typeface="Times New Roman Regular" panose="02020503050405090304" charset="0"/>
                        </a:rPr>
                        <a:t>737.62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Times New Roman Regular" panose="02020503050405090304" charset="0"/>
                        <a:ea typeface="宋体"/>
                        <a:cs typeface="Times New Roman Regular" panose="02020503050405090304" charset="0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Times New Roman Regular" panose="02020503050405090304" charset="0"/>
                          <a:ea typeface="宋体"/>
                          <a:cs typeface="Times New Roman Regular" panose="02020503050405090304" charset="0"/>
                        </a:rPr>
                        <a:t>629.11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Times New Roman Regular" panose="02020503050405090304" charset="0"/>
                        <a:ea typeface="宋体"/>
                        <a:cs typeface="Times New Roman Regular" panose="02020503050405090304" charset="0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5580"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Times New Roman Regular" panose="02020503050405090304" charset="0"/>
                          <a:ea typeface="宋体"/>
                          <a:cs typeface="Times New Roman Regular" panose="02020503050405090304" charset="0"/>
                        </a:rPr>
                        <a:t>Basic2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Times New Roman Regular" panose="02020503050405090304" charset="0"/>
                        <a:ea typeface="宋体"/>
                        <a:cs typeface="Times New Roman Regular" panose="02020503050405090304" charset="0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i="0">
                          <a:solidFill>
                            <a:srgbClr val="000000"/>
                          </a:solidFill>
                          <a:latin typeface="Times New Roman Regular" panose="02020503050405090304" charset="0"/>
                          <a:ea typeface="宋体"/>
                          <a:cs typeface="Times New Roman Regular" panose="02020503050405090304" charset="0"/>
                        </a:rPr>
                        <a:t>586.25</a:t>
                      </a:r>
                      <a:endParaRPr lang="en-US" altLang="zh-CN" sz="1200" i="0">
                        <a:solidFill>
                          <a:srgbClr val="000000"/>
                        </a:solidFill>
                        <a:latin typeface="Times New Roman Regular" panose="02020503050405090304" charset="0"/>
                        <a:ea typeface="宋体"/>
                        <a:cs typeface="Times New Roman Regular" panose="02020503050405090304" charset="0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Times New Roman Regular" panose="02020503050405090304" charset="0"/>
                          <a:ea typeface="宋体"/>
                          <a:cs typeface="Times New Roman Regular" panose="02020503050405090304" charset="0"/>
                        </a:rPr>
                        <a:t>440.73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Times New Roman Regular" panose="02020503050405090304" charset="0"/>
                        <a:ea typeface="宋体"/>
                        <a:cs typeface="Times New Roman Regular" panose="02020503050405090304" charset="0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5580"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Times New Roman Regular" panose="02020503050405090304" charset="0"/>
                          <a:ea typeface="宋体"/>
                          <a:cs typeface="Times New Roman Regular" panose="02020503050405090304" charset="0"/>
                        </a:rPr>
                        <a:t>Basic3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Times New Roman Regular" panose="02020503050405090304" charset="0"/>
                        <a:ea typeface="宋体"/>
                        <a:cs typeface="Times New Roman Regular" panose="02020503050405090304" charset="0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Times New Roman Regular" panose="02020503050405090304" charset="0"/>
                          <a:ea typeface="宋体"/>
                          <a:cs typeface="Times New Roman Regular" panose="02020503050405090304" charset="0"/>
                        </a:rPr>
                        <a:t>628.81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Times New Roman Regular" panose="02020503050405090304" charset="0"/>
                        <a:ea typeface="宋体"/>
                        <a:cs typeface="Times New Roman Regular" panose="02020503050405090304" charset="0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Times New Roman Regular" panose="02020503050405090304" charset="0"/>
                          <a:ea typeface="宋体"/>
                          <a:cs typeface="Times New Roman Regular" panose="02020503050405090304" charset="0"/>
                        </a:rPr>
                        <a:t>437.87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Times New Roman Regular" panose="02020503050405090304" charset="0"/>
                        <a:ea typeface="宋体"/>
                        <a:cs typeface="Times New Roman Regular" panose="02020503050405090304" charset="0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5580"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Times New Roman Regular" panose="02020503050405090304" charset="0"/>
                          <a:ea typeface="宋体"/>
                          <a:cs typeface="Times New Roman Regular" panose="02020503050405090304" charset="0"/>
                        </a:rPr>
                        <a:t>Basic4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Times New Roman Regular" panose="02020503050405090304" charset="0"/>
                        <a:ea typeface="宋体"/>
                        <a:cs typeface="Times New Roman Regular" panose="02020503050405090304" charset="0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Times New Roman Regular" panose="02020503050405090304" charset="0"/>
                          <a:ea typeface="宋体"/>
                          <a:cs typeface="Times New Roman Regular" panose="02020503050405090304" charset="0"/>
                        </a:rPr>
                        <a:t>723.28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Times New Roman Regular" panose="02020503050405090304" charset="0"/>
                        <a:ea typeface="宋体"/>
                        <a:cs typeface="Times New Roman Regular" panose="02020503050405090304" charset="0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Times New Roman Regular" panose="02020503050405090304" charset="0"/>
                          <a:ea typeface="宋体"/>
                          <a:cs typeface="Times New Roman Regular" panose="02020503050405090304" charset="0"/>
                        </a:rPr>
                        <a:t>490.31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Times New Roman Regular" panose="02020503050405090304" charset="0"/>
                        <a:ea typeface="宋体"/>
                        <a:cs typeface="Times New Roman Regular" panose="02020503050405090304" charset="0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5580"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Times New Roman Regular" panose="02020503050405090304" charset="0"/>
                          <a:ea typeface="宋体"/>
                          <a:cs typeface="Times New Roman Regular" panose="02020503050405090304" charset="0"/>
                        </a:rPr>
                        <a:t>Basic5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Times New Roman Regular" panose="02020503050405090304" charset="0"/>
                        <a:ea typeface="宋体"/>
                        <a:cs typeface="Times New Roman Regular" panose="02020503050405090304" charset="0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Times New Roman Regular" panose="02020503050405090304" charset="0"/>
                          <a:ea typeface="宋体"/>
                          <a:cs typeface="Times New Roman Regular" panose="02020503050405090304" charset="0"/>
                        </a:rPr>
                        <a:t>749.33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Times New Roman Regular" panose="02020503050405090304" charset="0"/>
                        <a:ea typeface="宋体"/>
                        <a:cs typeface="Times New Roman Regular" panose="02020503050405090304" charset="0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Times New Roman Regular" panose="02020503050405090304" charset="0"/>
                          <a:ea typeface="宋体"/>
                          <a:cs typeface="Times New Roman Regular" panose="02020503050405090304" charset="0"/>
                        </a:rPr>
                        <a:t>476.27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Times New Roman Regular" panose="02020503050405090304" charset="0"/>
                        <a:ea typeface="宋体"/>
                        <a:cs typeface="Times New Roman Regular" panose="02020503050405090304" charset="0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1" name="文本框 10"/>
          <p:cNvSpPr txBox="1"/>
          <p:nvPr/>
        </p:nvSpPr>
        <p:spPr>
          <a:xfrm>
            <a:off x="970915" y="2615565"/>
            <a:ext cx="3476625" cy="3028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>
              <a:lnSpc>
                <a:spcPct val="150000"/>
              </a:lnSpc>
            </a:pPr>
            <a:r>
              <a:rPr lang="zh-CN" altLang="en-US" sz="1000" b="1">
                <a:latin typeface="宋体" charset="0"/>
                <a:ea typeface="宋体" charset="0"/>
                <a:cs typeface="宋体" charset="0"/>
              </a:rPr>
              <a:t>表</a:t>
            </a:r>
            <a:r>
              <a:rPr lang="en-US" altLang="zh-CN" sz="1000" b="1" dirty="0" smtClean="0">
                <a:latin typeface="宋体" charset="0"/>
                <a:ea typeface="宋体" charset="0"/>
                <a:cs typeface="宋体" charset="0"/>
              </a:rPr>
              <a:t>3 </a:t>
            </a:r>
            <a:r>
              <a:rPr lang="zh-CN" altLang="en-US" sz="1000" b="1">
                <a:latin typeface="宋体" charset="0"/>
                <a:ea typeface="宋体" charset="0"/>
                <a:cs typeface="宋体" charset="0"/>
                <a:sym typeface="+mn-ea"/>
              </a:rPr>
              <a:t>测试</a:t>
            </a:r>
            <a:r>
              <a:rPr lang="zh-CN" altLang="en-US" sz="1000" b="1" dirty="0" smtClean="0">
                <a:latin typeface="宋体" charset="0"/>
                <a:ea typeface="宋体" charset="0"/>
                <a:cs typeface="宋体" charset="0"/>
              </a:rPr>
              <a:t>一</a:t>
            </a:r>
            <a:r>
              <a:rPr lang="en-US" altLang="zh-CN" sz="1000" b="1" dirty="0" smtClean="0">
                <a:latin typeface="宋体" charset="0"/>
                <a:ea typeface="宋体" charset="0"/>
                <a:cs typeface="宋体" charset="0"/>
              </a:rPr>
              <a:t> Top48</a:t>
            </a:r>
            <a:r>
              <a:rPr lang="zh-CN" altLang="en-US" sz="1000" b="1" dirty="0" smtClean="0">
                <a:latin typeface="宋体" charset="0"/>
                <a:ea typeface="宋体" charset="0"/>
                <a:cs typeface="宋体" charset="0"/>
              </a:rPr>
              <a:t>动态模型内核及驱动占用</a:t>
            </a:r>
            <a:r>
              <a:rPr lang="zh-CN" altLang="en-US" sz="1000" b="1" dirty="0" smtClean="0">
                <a:latin typeface="宋体" charset="0"/>
                <a:ea typeface="宋体" charset="0"/>
                <a:cs typeface="宋体" charset="0"/>
              </a:rPr>
              <a:t>大小</a:t>
            </a:r>
            <a:endParaRPr lang="zh-CN" altLang="en-US" sz="1000" b="1" dirty="0" smtClean="0">
              <a:latin typeface="宋体" charset="0"/>
              <a:ea typeface="宋体" charset="0"/>
              <a:cs typeface="宋体" charset="0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80250" y="2976245"/>
            <a:ext cx="4027805" cy="3441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>
              <a:lnSpc>
                <a:spcPct val="150000"/>
              </a:lnSpc>
            </a:pPr>
            <a:r>
              <a:rPr lang="en-US" altLang="zh-CN" sz="1000" b="1" dirty="0" smtClean="0">
                <a:latin typeface="Times New Roman Regular" panose="02020503050405090304" charset="0"/>
                <a:ea typeface="宋体" charset="0"/>
                <a:cs typeface="Times New Roman Regular" panose="02020503050405090304" charset="0"/>
              </a:rPr>
              <a:t>图2-1 Basic1 </a:t>
            </a:r>
            <a:r>
              <a:rPr lang="zh-CN" altLang="en-US" sz="1000" b="1" dirty="0" smtClean="0">
                <a:latin typeface="Times New Roman Regular" panose="02020503050405090304" charset="0"/>
                <a:ea typeface="宋体" charset="0"/>
                <a:cs typeface="Times New Roman Regular" panose="02020503050405090304" charset="0"/>
              </a:rPr>
              <a:t>内核及驱动大小</a:t>
            </a:r>
            <a:r>
              <a:rPr lang="en-US" altLang="zh-CN" sz="1000" b="1" dirty="0" smtClean="0">
                <a:latin typeface="Times New Roman Regular" panose="02020503050405090304" charset="0"/>
                <a:ea typeface="宋体" charset="0"/>
                <a:cs typeface="Times New Roman Regular" panose="02020503050405090304" charset="0"/>
              </a:rPr>
              <a:t>（</a:t>
            </a:r>
            <a:r>
              <a:rPr lang="zh-CN" altLang="en-US" sz="1000" b="1" dirty="0" smtClean="0">
                <a:latin typeface="Times New Roman Regular" panose="02020503050405090304" charset="0"/>
                <a:ea typeface="宋体" charset="0"/>
                <a:cs typeface="Times New Roman Regular" panose="02020503050405090304" charset="0"/>
              </a:rPr>
              <a:t>驱动占用异常点为抖音卡死</a:t>
            </a:r>
            <a:r>
              <a:rPr lang="en-US" altLang="zh-CN" sz="1000" b="1" dirty="0" smtClean="0">
                <a:latin typeface="Times New Roman Regular" panose="02020503050405090304" charset="0"/>
                <a:ea typeface="宋体" charset="0"/>
                <a:cs typeface="Times New Roman Regular" panose="02020503050405090304" charset="0"/>
              </a:rPr>
              <a:t>）</a:t>
            </a:r>
            <a:endParaRPr lang="en-US" altLang="zh-CN" sz="1000" b="1" dirty="0" smtClean="0">
              <a:latin typeface="Times New Roman Regular" panose="02020503050405090304" charset="0"/>
              <a:ea typeface="宋体" charset="0"/>
              <a:cs typeface="Times New Roman Regular" panose="02020503050405090304" charset="0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7800340" y="5864225"/>
            <a:ext cx="1951355" cy="3441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>
              <a:lnSpc>
                <a:spcPct val="150000"/>
              </a:lnSpc>
            </a:pPr>
            <a:r>
              <a:rPr lang="en-US" altLang="zh-CN" sz="1000" b="1" dirty="0" smtClean="0">
                <a:latin typeface="Times New Roman Regular" panose="02020503050405090304" charset="0"/>
                <a:ea typeface="宋体" charset="0"/>
                <a:cs typeface="Times New Roman Regular" panose="02020503050405090304" charset="0"/>
              </a:rPr>
              <a:t>图2-2 Basic2 </a:t>
            </a:r>
            <a:r>
              <a:rPr lang="zh-CN" altLang="en-US" sz="1000" b="1" dirty="0" smtClean="0">
                <a:latin typeface="Times New Roman Regular" panose="02020503050405090304" charset="0"/>
                <a:ea typeface="宋体" charset="0"/>
                <a:cs typeface="Times New Roman Regular" panose="02020503050405090304" charset="0"/>
              </a:rPr>
              <a:t>内核及驱动大小</a:t>
            </a:r>
            <a:endParaRPr lang="en-US" altLang="zh-CN" sz="1000" b="1" dirty="0" smtClean="0">
              <a:latin typeface="Times New Roman Regular" panose="02020503050405090304" charset="0"/>
              <a:ea typeface="宋体" charset="0"/>
              <a:cs typeface="Times New Roman Regular" panose="02020503050405090304" charset="0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281940" y="4352925"/>
            <a:ext cx="5363210" cy="193103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l">
              <a:lnSpc>
                <a:spcPct val="150000"/>
              </a:lnSpc>
            </a:pPr>
            <a:r>
              <a:rPr lang="zh-CN" altLang="en-US" sz="1200" b="1">
                <a:latin typeface="Times New Roman Regular" panose="02020503050405090304" charset="0"/>
                <a:cs typeface="Times New Roman Regular" panose="02020503050405090304" charset="0"/>
              </a:rPr>
              <a:t>内核占用均值约</a:t>
            </a:r>
            <a:r>
              <a:rPr lang="en-US" altLang="zh-CN" sz="1200" b="1">
                <a:latin typeface="Times New Roman Regular" panose="02020503050405090304" charset="0"/>
                <a:cs typeface="Times New Roman Regular" panose="02020503050405090304" charset="0"/>
              </a:rPr>
              <a:t>1GB，</a:t>
            </a:r>
            <a:r>
              <a:rPr lang="zh-CN" altLang="en-US" sz="1200" b="1">
                <a:latin typeface="Times New Roman Regular" panose="02020503050405090304" charset="0"/>
                <a:cs typeface="Times New Roman Regular" panose="02020503050405090304" charset="0"/>
              </a:rPr>
              <a:t>驱动占用约</a:t>
            </a:r>
            <a:r>
              <a:rPr lang="en-US" altLang="zh-CN" sz="1200" b="1">
                <a:latin typeface="Times New Roman Regular" panose="02020503050405090304" charset="0"/>
                <a:cs typeface="Times New Roman Regular" panose="02020503050405090304" charset="0"/>
              </a:rPr>
              <a:t>500MB</a:t>
            </a:r>
            <a:r>
              <a:rPr lang="zh-CN" altLang="en-US" sz="1200" b="1">
                <a:latin typeface="Times New Roman Regular" panose="02020503050405090304" charset="0"/>
                <a:cs typeface="Times New Roman Regular" panose="02020503050405090304" charset="0"/>
              </a:rPr>
              <a:t>。</a:t>
            </a:r>
            <a:endParaRPr lang="zh-CN" altLang="en-US" sz="1200" b="1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algn="l">
              <a:lnSpc>
                <a:spcPct val="150000"/>
              </a:lnSpc>
            </a:pPr>
            <a:r>
              <a:rPr lang="zh-CN" altLang="en-US" sz="1200" b="1">
                <a:latin typeface="Times New Roman Regular" panose="02020503050405090304" charset="0"/>
                <a:cs typeface="Times New Roman Regular" panose="02020503050405090304" charset="0"/>
              </a:rPr>
              <a:t>高压场景：</a:t>
            </a:r>
            <a:r>
              <a:rPr lang="zh-CN" altLang="en-US" sz="1200">
                <a:latin typeface="Times New Roman Regular" panose="02020503050405090304" charset="0"/>
                <a:cs typeface="Times New Roman Regular" panose="02020503050405090304" charset="0"/>
              </a:rPr>
              <a:t>Basic1 的驱动占用均值最高，达到 629.11 MB ；Basic5 的内核占用均值最高，达到 </a:t>
            </a:r>
            <a:r>
              <a:rPr lang="en-US" altLang="zh-CN" sz="1200">
                <a:solidFill>
                  <a:srgbClr val="000000"/>
                </a:solidFill>
                <a:latin typeface="Times New Roman Regular" panose="02020503050405090304" charset="0"/>
                <a:ea typeface="宋体"/>
                <a:cs typeface="Times New Roman Regular" panose="02020503050405090304" charset="0"/>
                <a:sym typeface="+mn-ea"/>
              </a:rPr>
              <a:t>749.33</a:t>
            </a:r>
            <a:r>
              <a:rPr lang="zh-CN" altLang="en-US" sz="1200">
                <a:latin typeface="Times New Roman Regular" panose="02020503050405090304" charset="0"/>
                <a:cs typeface="Times New Roman Regular" panose="02020503050405090304" charset="0"/>
              </a:rPr>
              <a:t>MB 。</a:t>
            </a:r>
            <a:endParaRPr lang="zh-CN" altLang="en-US" sz="120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algn="l">
              <a:lnSpc>
                <a:spcPct val="150000"/>
              </a:lnSpc>
            </a:pPr>
            <a:r>
              <a:rPr lang="zh-CN" altLang="en-US" sz="1200" b="1">
                <a:latin typeface="Times New Roman Regular" panose="02020503050405090304" charset="0"/>
                <a:cs typeface="Times New Roman Regular" panose="02020503050405090304" charset="0"/>
              </a:rPr>
              <a:t>低压场景：</a:t>
            </a:r>
            <a:r>
              <a:rPr lang="zh-CN" altLang="en-US" sz="1200">
                <a:latin typeface="Times New Roman Regular" panose="02020503050405090304" charset="0"/>
                <a:cs typeface="Times New Roman Regular" panose="02020503050405090304" charset="0"/>
              </a:rPr>
              <a:t>Basic2 和 Basic3 的整体表现较好，驱动占用均控制在 440 MB 左右（分别为 440.73 MB 和 437.87 MB） ，内核占用也相对较低（均在 </a:t>
            </a:r>
            <a:r>
              <a:rPr lang="en-US" altLang="zh-CN" sz="1200">
                <a:latin typeface="Times New Roman Regular" panose="02020503050405090304" charset="0"/>
                <a:cs typeface="Times New Roman Regular" panose="02020503050405090304" charset="0"/>
              </a:rPr>
              <a:t>7</a:t>
            </a:r>
            <a:r>
              <a:rPr lang="zh-CN" altLang="en-US" sz="1200">
                <a:latin typeface="Times New Roman Regular" panose="02020503050405090304" charset="0"/>
                <a:cs typeface="Times New Roman Regular" panose="02020503050405090304" charset="0"/>
              </a:rPr>
              <a:t>50 MB 以下） 。</a:t>
            </a:r>
            <a:endParaRPr lang="zh-CN" altLang="en-US" sz="1200"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7570" y="779145"/>
            <a:ext cx="5760000" cy="213942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7570" y="3603625"/>
            <a:ext cx="5749290" cy="22142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文本框 6"/>
          <p:cNvSpPr txBox="1"/>
          <p:nvPr/>
        </p:nvSpPr>
        <p:spPr>
          <a:xfrm>
            <a:off x="0" y="0"/>
            <a:ext cx="6231890" cy="532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ts val="3440"/>
              </a:lnSpc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内核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&amp;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驱动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占用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0" y="532130"/>
            <a:ext cx="12204065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1" name="文本框 20"/>
          <p:cNvSpPr txBox="1"/>
          <p:nvPr/>
        </p:nvSpPr>
        <p:spPr>
          <a:xfrm>
            <a:off x="2235200" y="2872740"/>
            <a:ext cx="1830070" cy="3441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>
              <a:lnSpc>
                <a:spcPct val="150000"/>
              </a:lnSpc>
            </a:pPr>
            <a:r>
              <a:rPr lang="en-US" altLang="zh-CN" sz="1000" b="1" dirty="0" smtClean="0">
                <a:latin typeface="Times New Roman Regular" panose="02020503050405090304" charset="0"/>
                <a:ea typeface="宋体" charset="0"/>
                <a:cs typeface="Times New Roman Regular" panose="02020503050405090304" charset="0"/>
              </a:rPr>
              <a:t>图2-3 Basic3 </a:t>
            </a:r>
            <a:r>
              <a:rPr lang="zh-CN" altLang="en-US" sz="1000" b="1" dirty="0" smtClean="0">
                <a:latin typeface="Times New Roman Regular" panose="02020503050405090304" charset="0"/>
                <a:ea typeface="宋体" charset="0"/>
                <a:cs typeface="Times New Roman Regular" panose="02020503050405090304" charset="0"/>
              </a:rPr>
              <a:t>内核及驱动大小</a:t>
            </a:r>
            <a:endParaRPr lang="en-US" altLang="zh-CN" sz="1000" b="1" dirty="0" smtClean="0">
              <a:latin typeface="Times New Roman Regular" panose="02020503050405090304" charset="0"/>
              <a:ea typeface="宋体" charset="0"/>
              <a:cs typeface="Times New Roman Regular" panose="02020503050405090304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061210" y="5551170"/>
            <a:ext cx="1959610" cy="3441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>
              <a:lnSpc>
                <a:spcPct val="150000"/>
              </a:lnSpc>
            </a:pPr>
            <a:r>
              <a:rPr lang="en-US" altLang="zh-CN" sz="1000" b="1" dirty="0" smtClean="0">
                <a:latin typeface="Times New Roman Regular" panose="02020503050405090304" charset="0"/>
                <a:ea typeface="宋体" charset="0"/>
                <a:cs typeface="Times New Roman Regular" panose="02020503050405090304" charset="0"/>
              </a:rPr>
              <a:t>图2-4 Basic4 </a:t>
            </a:r>
            <a:r>
              <a:rPr lang="zh-CN" altLang="en-US" sz="1000" b="1" dirty="0" smtClean="0">
                <a:latin typeface="Times New Roman Regular" panose="02020503050405090304" charset="0"/>
                <a:ea typeface="宋体" charset="0"/>
                <a:cs typeface="Times New Roman Regular" panose="02020503050405090304" charset="0"/>
              </a:rPr>
              <a:t>内核及驱动大小</a:t>
            </a:r>
            <a:endParaRPr lang="en-US" altLang="zh-CN" sz="1000" b="1" dirty="0" smtClean="0">
              <a:latin typeface="Times New Roman Regular" panose="02020503050405090304" charset="0"/>
              <a:ea typeface="宋体" charset="0"/>
              <a:cs typeface="Times New Roman Regular" panose="02020503050405090304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8048625" y="2879090"/>
            <a:ext cx="1959610" cy="3441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>
              <a:lnSpc>
                <a:spcPct val="150000"/>
              </a:lnSpc>
            </a:pPr>
            <a:r>
              <a:rPr lang="en-US" altLang="zh-CN" sz="1000" b="1" dirty="0" smtClean="0">
                <a:latin typeface="Times New Roman Regular" panose="02020503050405090304" charset="0"/>
                <a:ea typeface="宋体" charset="0"/>
                <a:cs typeface="Times New Roman Regular" panose="02020503050405090304" charset="0"/>
              </a:rPr>
              <a:t>图2-5 Basic5 </a:t>
            </a:r>
            <a:r>
              <a:rPr lang="zh-CN" altLang="en-US" sz="1000" b="1" dirty="0" smtClean="0">
                <a:latin typeface="Times New Roman Regular" panose="02020503050405090304" charset="0"/>
                <a:ea typeface="宋体" charset="0"/>
                <a:cs typeface="Times New Roman Regular" panose="02020503050405090304" charset="0"/>
              </a:rPr>
              <a:t>内核及驱动大小</a:t>
            </a:r>
            <a:endParaRPr lang="en-US" altLang="zh-CN" sz="1000" b="1" dirty="0" smtClean="0">
              <a:latin typeface="Times New Roman Regular" panose="02020503050405090304" charset="0"/>
              <a:ea typeface="宋体" charset="0"/>
              <a:cs typeface="Times New Roman Regular" panose="02020503050405090304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101715" y="3413760"/>
            <a:ext cx="5899785" cy="928370"/>
          </a:xfrm>
          <a:prstGeom prst="rect">
            <a:avLst/>
          </a:prstGeom>
        </p:spPr>
        <p:txBody>
          <a:bodyPr wrap="square">
            <a:noAutofit/>
          </a:bodyPr>
          <a:p>
            <a:pPr>
              <a:lnSpc>
                <a:spcPct val="150000"/>
              </a:lnSpc>
            </a:pPr>
            <a:r>
              <a:rPr lang="zh-CN" altLang="en-US" sz="1200" b="1">
                <a:latin typeface="Times New Roman Regular" panose="02020503050405090304" charset="0"/>
                <a:cs typeface="Times New Roman Regular" panose="02020503050405090304" charset="0"/>
              </a:rPr>
              <a:t>内核表现相对稳定</a:t>
            </a:r>
            <a:r>
              <a:rPr lang="zh-CN" altLang="en-US" sz="1200">
                <a:latin typeface="Times New Roman Regular" panose="02020503050405090304" charset="0"/>
                <a:cs typeface="Times New Roman Regular" panose="02020503050405090304" charset="0"/>
              </a:rPr>
              <a:t>：在 </a:t>
            </a:r>
            <a:r>
              <a:rPr lang="en-US" altLang="zh-CN" sz="1200">
                <a:latin typeface="Times New Roman Regular" panose="02020503050405090304" charset="0"/>
                <a:cs typeface="Times New Roman Regular" panose="02020503050405090304" charset="0"/>
              </a:rPr>
              <a:t>Basic1 </a:t>
            </a:r>
            <a:r>
              <a:rPr lang="zh-CN" altLang="en-US" sz="1200">
                <a:latin typeface="Times New Roman Regular" panose="02020503050405090304" charset="0"/>
                <a:cs typeface="Times New Roman Regular" panose="02020503050405090304" charset="0"/>
              </a:rPr>
              <a:t>至 </a:t>
            </a:r>
            <a:r>
              <a:rPr lang="en-US" altLang="zh-CN" sz="1200">
                <a:latin typeface="Times New Roman Regular" panose="02020503050405090304" charset="0"/>
                <a:cs typeface="Times New Roman Regular" panose="02020503050405090304" charset="0"/>
              </a:rPr>
              <a:t>Basic5 </a:t>
            </a:r>
            <a:r>
              <a:rPr lang="zh-CN" altLang="en-US" sz="1200">
                <a:latin typeface="Times New Roman Regular" panose="02020503050405090304" charset="0"/>
                <a:cs typeface="Times New Roman Regular" panose="02020503050405090304" charset="0"/>
              </a:rPr>
              <a:t>的全程动态模型测试中，内核内存整体水位保持在 </a:t>
            </a:r>
            <a:r>
              <a:rPr lang="en-US" altLang="zh-CN" sz="1200">
                <a:latin typeface="Times New Roman Regular" panose="02020503050405090304" charset="0"/>
                <a:cs typeface="Times New Roman Regular" panose="02020503050405090304" charset="0"/>
              </a:rPr>
              <a:t>55</a:t>
            </a:r>
            <a:r>
              <a:rPr lang="en-US" altLang="zh-CN" sz="1200">
                <a:latin typeface="Times New Roman Regular" panose="02020503050405090304" charset="0"/>
                <a:cs typeface="Times New Roman Regular" panose="02020503050405090304" charset="0"/>
              </a:rPr>
              <a:t>0MB ~ 750MB </a:t>
            </a:r>
            <a:r>
              <a:rPr lang="zh-CN" altLang="en-US" sz="1200">
                <a:latin typeface="Times New Roman Regular" panose="02020503050405090304" charset="0"/>
                <a:cs typeface="Times New Roman Regular" panose="02020503050405090304" charset="0"/>
              </a:rPr>
              <a:t>之间，呈现规律性的平稳</a:t>
            </a:r>
            <a:r>
              <a:rPr lang="en-US" altLang="zh-CN" sz="1200">
                <a:latin typeface="Times New Roman Regular" panose="02020503050405090304" charset="0"/>
                <a:cs typeface="Times New Roman Regular" panose="02020503050405090304" charset="0"/>
              </a:rPr>
              <a:t>。</a:t>
            </a:r>
            <a:endParaRPr lang="zh-CN" altLang="en-US" sz="120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200" b="1">
                <a:latin typeface="Times New Roman Regular" panose="02020503050405090304" charset="0"/>
                <a:cs typeface="Times New Roman Regular" panose="02020503050405090304" charset="0"/>
              </a:rPr>
              <a:t>驱动波动剧烈：</a:t>
            </a:r>
            <a:r>
              <a:rPr lang="zh-CN" altLang="en-US" sz="1200">
                <a:latin typeface="Times New Roman Regular" panose="02020503050405090304" charset="0"/>
                <a:cs typeface="Times New Roman Regular" panose="02020503050405090304" charset="0"/>
              </a:rPr>
              <a:t>相比于内核，驱动内存波动受前台应用和具体操作动态模型影响</a:t>
            </a:r>
            <a:r>
              <a:rPr lang="en-US" altLang="zh-CN" sz="1200">
                <a:latin typeface="Times New Roman Regular" panose="02020503050405090304" charset="0"/>
                <a:cs typeface="Times New Roman Regular" panose="02020503050405090304" charset="0"/>
              </a:rPr>
              <a:t>。</a:t>
            </a:r>
            <a:endParaRPr lang="en-US" altLang="zh-CN" sz="1200"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cxnSp>
        <p:nvCxnSpPr>
          <p:cNvPr id="13" name="直接连接符 12"/>
          <p:cNvCxnSpPr/>
          <p:nvPr/>
        </p:nvCxnSpPr>
        <p:spPr>
          <a:xfrm>
            <a:off x="6055360" y="4426585"/>
            <a:ext cx="5946140" cy="0"/>
          </a:xfrm>
          <a:prstGeom prst="line">
            <a:avLst/>
          </a:prstGeom>
          <a:ln w="6350" cap="flat" cmpd="sng" algn="ctr">
            <a:solidFill>
              <a:schemeClr val="accent1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4" name="文本框 13"/>
          <p:cNvSpPr txBox="1"/>
          <p:nvPr/>
        </p:nvSpPr>
        <p:spPr>
          <a:xfrm>
            <a:off x="7245350" y="4622800"/>
            <a:ext cx="3613150" cy="92837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noAutofit/>
          </a:bodyPr>
          <a:p>
            <a:pPr>
              <a:lnSpc>
                <a:spcPct val="150000"/>
              </a:lnSpc>
            </a:pPr>
            <a:r>
              <a:rPr lang="zh-CN" altLang="en-US" sz="1200">
                <a:latin typeface="Times New Roman Regular" panose="02020503050405090304" charset="0"/>
                <a:cs typeface="Times New Roman Regular" panose="02020503050405090304" charset="0"/>
              </a:rPr>
              <a:t>单框架</a:t>
            </a:r>
            <a:r>
              <a:rPr lang="en-US" altLang="zh-CN" sz="1200">
                <a:latin typeface="Times New Roman Regular" panose="02020503050405090304" charset="0"/>
                <a:cs typeface="Times New Roman Regular" panose="02020503050405090304" charset="0"/>
              </a:rPr>
              <a:t>：</a:t>
            </a:r>
            <a:r>
              <a:rPr lang="zh-CN" altLang="en-US" sz="1200">
                <a:latin typeface="Times New Roman Regular" panose="02020503050405090304" charset="0"/>
                <a:cs typeface="Times New Roman Regular" panose="02020503050405090304" charset="0"/>
              </a:rPr>
              <a:t>驱动</a:t>
            </a:r>
            <a:r>
              <a:rPr lang="en-US" altLang="zh-CN" sz="1200">
                <a:latin typeface="Times New Roman Regular" panose="02020503050405090304" charset="0"/>
                <a:cs typeface="Times New Roman Regular" panose="02020503050405090304" charset="0"/>
              </a:rPr>
              <a:t>440MB；</a:t>
            </a:r>
            <a:r>
              <a:rPr lang="zh-CN" altLang="en-US" sz="1200">
                <a:latin typeface="Times New Roman Regular" panose="02020503050405090304" charset="0"/>
                <a:cs typeface="Times New Roman Regular" panose="02020503050405090304" charset="0"/>
              </a:rPr>
              <a:t>内核</a:t>
            </a:r>
            <a:r>
              <a:rPr lang="en-US" altLang="zh-CN" sz="1200">
                <a:latin typeface="Times New Roman Regular" panose="02020503050405090304" charset="0"/>
                <a:cs typeface="Times New Roman Regular" panose="02020503050405090304" charset="0"/>
              </a:rPr>
              <a:t>1042</a:t>
            </a:r>
            <a:r>
              <a:rPr lang="en-US" altLang="zh-CN" sz="1200">
                <a:latin typeface="Times New Roman Regular" panose="02020503050405090304" charset="0"/>
                <a:cs typeface="Times New Roman Regular" panose="02020503050405090304" charset="0"/>
              </a:rPr>
              <a:t>MB</a:t>
            </a:r>
            <a:endParaRPr lang="en-US" altLang="zh-CN" sz="120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200">
                <a:latin typeface="Times New Roman Regular" panose="02020503050405090304" charset="0"/>
                <a:cs typeface="Times New Roman Regular" panose="02020503050405090304" charset="0"/>
              </a:rPr>
              <a:t>iOS：</a:t>
            </a:r>
            <a:r>
              <a:rPr lang="zh-CN" altLang="en-US" sz="1200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驱动</a:t>
            </a:r>
            <a:r>
              <a:rPr lang="en-US" altLang="zh-CN" sz="1200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494.86MB；</a:t>
            </a:r>
            <a:r>
              <a:rPr lang="zh-CN" altLang="en-US" sz="1200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内核</a:t>
            </a:r>
            <a:r>
              <a:rPr lang="en-US" altLang="zh-CN" sz="1200">
                <a:latin typeface="Times New Roman Regular" panose="02020503050405090304" charset="0"/>
                <a:cs typeface="Times New Roman Regular" panose="02020503050405090304" charset="0"/>
              </a:rPr>
              <a:t>685.06MB（+58.5MB）</a:t>
            </a:r>
            <a:endParaRPr lang="en-US" altLang="zh-CN" sz="120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200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58.5MB = 156kB*(512-128)/1024</a:t>
            </a:r>
            <a:endParaRPr lang="en-US" altLang="zh-CN" sz="1200"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290" y="649605"/>
            <a:ext cx="5760000" cy="2234785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290" y="3413760"/>
            <a:ext cx="5760000" cy="2137462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5360" y="649605"/>
            <a:ext cx="6082665" cy="2223135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413*295"/>
  <p:tag name="TABLE_ENDDRAG_RECT" val="30*44*413*295"/>
</p:tagLst>
</file>

<file path=ppt/tags/tag2.xml><?xml version="1.0" encoding="utf-8"?>
<p:tagLst xmlns:p="http://schemas.openxmlformats.org/presentationml/2006/main">
  <p:tag name="TABLE_ENDDRAG_ORIGIN_RECT" val="413*295"/>
  <p:tag name="TABLE_ENDDRAG_RECT" val="30*44*413*295"/>
</p:tagLst>
</file>

<file path=ppt/tags/tag3.xml><?xml version="1.0" encoding="utf-8"?>
<p:tagLst xmlns:p="http://schemas.openxmlformats.org/presentationml/2006/main">
  <p:tag name="TABLE_ENDDRAG_ORIGIN_RECT" val="361*81"/>
  <p:tag name="TABLE_ENDDRAG_RECT" val="38*234*361*81"/>
</p:tagLst>
</file>

<file path=ppt/theme/theme1.xml><?xml version="1.0" encoding="utf-8"?>
<a:theme xmlns:a="http://schemas.openxmlformats.org/drawingml/2006/main" name="1_Title Slide">
  <a:themeElements>
    <a:clrScheme name="2210">
      <a:dk1>
        <a:srgbClr val="1D1D1A"/>
      </a:dk1>
      <a:lt1>
        <a:srgbClr val="1D1D1A"/>
      </a:lt1>
      <a:dk2>
        <a:srgbClr val="FFFFFF"/>
      </a:dk2>
      <a:lt2>
        <a:srgbClr val="FFFFFF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noAutofit/>
      </a:bodyPr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kumimoji="1" sz="3200" dirty="0" smtClean="0">
            <a:solidFill>
              <a:srgbClr val="575756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rt page">
  <a:themeElements>
    <a:clrScheme name="updated">
      <a:dk1>
        <a:srgbClr val="1D1D1A"/>
      </a:dk1>
      <a:lt1>
        <a:srgbClr val="1D1D1A"/>
      </a:lt1>
      <a:dk2>
        <a:srgbClr val="FFFFFF"/>
      </a:dk2>
      <a:lt2>
        <a:srgbClr val="FFFFFF"/>
      </a:lt2>
      <a:accent1>
        <a:srgbClr val="C7000A"/>
      </a:accent1>
      <a:accent2>
        <a:srgbClr val="C8102E"/>
      </a:accent2>
      <a:accent3>
        <a:srgbClr val="EA594F"/>
      </a:accent3>
      <a:accent4>
        <a:srgbClr val="F8B53C"/>
      </a:accent4>
      <a:accent5>
        <a:srgbClr val="231815"/>
      </a:accent5>
      <a:accent6>
        <a:srgbClr val="595757"/>
      </a:accent6>
      <a:hlink>
        <a:srgbClr val="898989"/>
      </a:hlink>
      <a:folHlink>
        <a:srgbClr val="B5B5B5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C7000B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sz="1800" dirty="0" smtClean="0">
            <a:solidFill>
              <a:schemeClr val="accent2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4_Chart page">
  <a:themeElements>
    <a:clrScheme name="Custom 29">
      <a:dk1>
        <a:srgbClr val="1D1D1A"/>
      </a:dk1>
      <a:lt1>
        <a:srgbClr val="666666"/>
      </a:lt1>
      <a:dk2>
        <a:srgbClr val="FFFFFF"/>
      </a:dk2>
      <a:lt2>
        <a:srgbClr val="EBEBEB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A002F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lnSpc>
            <a:spcPts val="3440"/>
          </a:lnSpc>
          <a:defRPr sz="3200" dirty="0" smtClean="0"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End page">
  <a:themeElements>
    <a:clrScheme name="2210">
      <a:dk1>
        <a:srgbClr val="1D1D1A"/>
      </a:dk1>
      <a:lt1>
        <a:srgbClr val="1D1D1A"/>
      </a:lt1>
      <a:dk2>
        <a:srgbClr val="FFFFFF"/>
      </a:dk2>
      <a:lt2>
        <a:srgbClr val="FFFFFF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A002F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sz="1800" dirty="0"/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1_Chart page">
  <a:themeElements>
    <a:clrScheme name="Custom 29">
      <a:dk1>
        <a:srgbClr val="1D1D1A"/>
      </a:dk1>
      <a:lt1>
        <a:srgbClr val="666666"/>
      </a:lt1>
      <a:dk2>
        <a:srgbClr val="FFFFFF"/>
      </a:dk2>
      <a:lt2>
        <a:srgbClr val="EBEBEB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A002F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lnSpc>
            <a:spcPts val="3440"/>
          </a:lnSpc>
          <a:defRPr sz="3200" dirty="0" smtClean="0"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MWC 19-PPT模板-白底 16比9</Template>
  <TotalTime>0</TotalTime>
  <Words>6354</Words>
  <Application>WPS 表格</Application>
  <PresentationFormat>自定义</PresentationFormat>
  <Paragraphs>704</Paragraphs>
  <Slides>11</Slides>
  <Notes>2</Notes>
  <HiddenSlides>0</HiddenSlides>
  <MMClips>0</MMClips>
  <ScaleCrop>false</ScaleCrop>
  <HeadingPairs>
    <vt:vector size="8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5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37" baseType="lpstr">
      <vt:lpstr>Arial</vt:lpstr>
      <vt:lpstr>宋体</vt:lpstr>
      <vt:lpstr>Wingdings</vt:lpstr>
      <vt:lpstr>微软雅黑</vt:lpstr>
      <vt:lpstr>汉仪旗黑</vt:lpstr>
      <vt:lpstr>微软雅黑</vt:lpstr>
      <vt:lpstr>Times New Roman Regular</vt:lpstr>
      <vt:lpstr>宋体</vt:lpstr>
      <vt:lpstr>Wingdings</vt:lpstr>
      <vt:lpstr>Arial</vt:lpstr>
      <vt:lpstr>宋体</vt:lpstr>
      <vt:lpstr>Apple Color Emoji</vt:lpstr>
      <vt:lpstr>Arial Unicode MS</vt:lpstr>
      <vt:lpstr>Calibri</vt:lpstr>
      <vt:lpstr>Helvetica Neue</vt:lpstr>
      <vt:lpstr>等线</vt:lpstr>
      <vt:lpstr>汉仪中等线KW</vt:lpstr>
      <vt:lpstr>黑体</vt:lpstr>
      <vt:lpstr>汉仪中黑KW</vt:lpstr>
      <vt:lpstr>汉仪书宋二KW</vt:lpstr>
      <vt:lpstr>1_Title Slide</vt:lpstr>
      <vt:lpstr>Chart page</vt:lpstr>
      <vt:lpstr>4_Chart page</vt:lpstr>
      <vt:lpstr>End page</vt:lpstr>
      <vt:lpstr>1_Chart page</vt:lpstr>
      <vt:lpstr>Excel.Sheet.12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Huawei Technologies Co.,Ltd.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AutoBVT</dc:creator>
  <cp:lastModifiedBy>clover</cp:lastModifiedBy>
  <cp:revision>62</cp:revision>
  <dcterms:created xsi:type="dcterms:W3CDTF">2026-04-13T05:38:51Z</dcterms:created>
  <dcterms:modified xsi:type="dcterms:W3CDTF">2026-04-13T05:38:51Z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2015_ms_pID_725343">
    <vt:lpwstr>(3)9K7MhttPmctKTlAepJVghc5jVCKqhwlg3WUynTcyZRlAqvXwyh4Oh5MUn/S1qsRekxYaSjf0
xAMb+XIVmiFW19LQ5rzY8SxUDMVg4vj7tzi0SPjrpQaZEh2i7Q63wUANwPymQ9KhvkOpupId
8g/WiPz/3mo9lw2+u0HERtEEQOFSNHxTfxkHcxU8CosEcorCYU1bf3Ron8rzicflycNnYO6T
HSqLQgGez4SDJnplgK</vt:lpwstr>
  </property>
  <property fmtid="{D5CDD505-2E9C-101B-9397-08002B2CF9AE}" pid="3" name="_2015_ms_pID_7253431">
    <vt:lpwstr>82SGjRTEfRs+Omq1PLLlyH6r/NUeGWJLUTXD4xX4AdBDIbA5M3xGE1
FJDhGJWv+ZwJEBjSUU7vQG7pD9Re+jwOMeH8KvtBR51uSvL8QqKWID096WZ7sSv/LL5pae3t
XPEALNuJBpV72sbxfdY4icFZGPfj4727kRAWuT9uG/4Al1hW+8FJdNQ/J9I8uxSoEyoyJ96g
hvAj6RniZYqx1mFTVrh3xskdX0KPyR3xTPNI</vt:lpwstr>
  </property>
  <property fmtid="{D5CDD505-2E9C-101B-9397-08002B2CF9AE}" pid="4" name="_2015_ms_pID_7253432">
    <vt:lpwstr>zr4dAB7xmHqg7+bcC24Pv9M=</vt:lpwstr>
  </property>
  <property fmtid="{D5CDD505-2E9C-101B-9397-08002B2CF9AE}" pid="5" name="_readonly">
    <vt:lpwstr/>
  </property>
  <property fmtid="{D5CDD505-2E9C-101B-9397-08002B2CF9AE}" pid="6" name="_change">
    <vt:lpwstr/>
  </property>
  <property fmtid="{D5CDD505-2E9C-101B-9397-08002B2CF9AE}" pid="7" name="_full-control">
    <vt:lpwstr/>
  </property>
  <property fmtid="{D5CDD505-2E9C-101B-9397-08002B2CF9AE}" pid="8" name="sflag">
    <vt:lpwstr>1575429571</vt:lpwstr>
  </property>
  <property fmtid="{D5CDD505-2E9C-101B-9397-08002B2CF9AE}" pid="9" name="ICV">
    <vt:lpwstr>3DEA19BA465BC8C6D31BCF69430EA2A7_43</vt:lpwstr>
  </property>
  <property fmtid="{D5CDD505-2E9C-101B-9397-08002B2CF9AE}" pid="10" name="KSOProductBuildVer">
    <vt:lpwstr>2052-12.1.25205.25205</vt:lpwstr>
  </property>
</Properties>
</file>