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14"/>
  </p:handoutMasterIdLst>
  <p:sldIdLst>
    <p:sldId id="309" r:id="rId7"/>
    <p:sldId id="311" r:id="rId9"/>
    <p:sldId id="310" r:id="rId10"/>
    <p:sldId id="315" r:id="rId11"/>
    <p:sldId id="313" r:id="rId12"/>
    <p:sldId id="314" r:id="rId13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62" userDrawn="1">
          <p15:clr>
            <a:srgbClr val="A4A3A4"/>
          </p15:clr>
        </p15:guide>
        <p15:guide id="6" orient="horz" pos="2130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6F2"/>
    <a:srgbClr val="C7000B"/>
    <a:srgbClr val="FFFFFF"/>
    <a:srgbClr val="151515"/>
    <a:srgbClr val="575756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89" autoAdjust="0"/>
    <p:restoredTop sz="86371"/>
  </p:normalViewPr>
  <p:slideViewPr>
    <p:cSldViewPr snapToGrid="0" snapToObjects="1" showGuides="1">
      <p:cViewPr>
        <p:scale>
          <a:sx n="200" d="100"/>
          <a:sy n="200" d="100"/>
        </p:scale>
        <p:origin x="1504" y="-160"/>
      </p:cViewPr>
      <p:guideLst>
        <p:guide pos="3662"/>
        <p:guide orient="horz" pos="2130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iOS 相机管线的数据流转（三步走）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从光线进入镜头到屏幕显示，数据经历了一个跨进程的传递，内存池在其中扮演了关键角色：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第一站：底层硬件与 ISP（图像信号处理器）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光信号转为电信号后，ISP 硬件会快速生成原始图像。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同时，ISP 会输出极小的数据矩阵（比如我们在日志里看到的 7985 x 8 的长条状数据）。这些是用来计算自动对焦、自动曝光、白平衡的统计特征，占用极小，直接在底层的微型内存池里流转。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第二站：中央厨房 mediaserverd（系统媒体守护进程）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这是 iOS 真正干重活的地方。所有的硬件数据都会先汇总到这个系统级进程。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为了做 Deep Fusion（深度融合）、Smart HDR（智能 HDR）或多帧降噪，mediaserverd 会建立超大的内存池（比如日志中出现的需要 22 帧、总计约 400MB 的缓存池）。它会保留多帧历史画面，进行复杂的算法合成。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第三站：应用层（如原生相机或抖音等第三方 App）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合成好的画面会传递给 App。App 往往也会建立自己的内存池，但通常是偏向 GPU 渲染友好的格式（比如 32-bit 的 BGRA 格式，非常适合直接拿去做 Metal/OpenGL 美颜特效渲染）。 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AE (Auto Exposure)：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自动曝光</a:t>
            </a:r>
            <a:endParaRPr lang="zh-CN" alt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AWB (Auto White Balance)：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自动白平衡</a:t>
            </a:r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 (Auto Focus)：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自动对焦</a:t>
            </a:r>
            <a:endParaRPr lang="zh-CN" altLang="en-US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rtl="0"/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hyperlink" Target="https://developer.apple.com/documentation/avfoundation/avcapturesession/addoutput(_:)" TargetMode="External"/><Relationship Id="rId8" Type="http://schemas.openxmlformats.org/officeDocument/2006/relationships/hyperlink" Target="https://developer.apple.com/documentation/avfoundation/avcapturesession/addinput(_:)" TargetMode="External"/><Relationship Id="rId7" Type="http://schemas.openxmlformats.org/officeDocument/2006/relationships/hyperlink" Target="https://developer.apple.com/documentation/avfoundation/avcapturesession/sessionpreset" TargetMode="External"/><Relationship Id="rId6" Type="http://schemas.openxmlformats.org/officeDocument/2006/relationships/image" Target="../media/image12.png"/><Relationship Id="rId5" Type="http://schemas.openxmlformats.org/officeDocument/2006/relationships/hyperlink" Target="https://developer.apple.com/documentation/avfoundation/avcapturevideodataoutput/alwaysdiscardslatevideoframes" TargetMode="External"/><Relationship Id="rId4" Type="http://schemas.openxmlformats.org/officeDocument/2006/relationships/hyperlink" Target="https://developer.apple.com/documentation/avfoundation/avcapturevideodataoutput/videosettings" TargetMode="External"/><Relationship Id="rId3" Type="http://schemas.openxmlformats.org/officeDocument/2006/relationships/image" Target="../media/image11.png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9" Type="http://schemas.openxmlformats.org/officeDocument/2006/relationships/hyperlink" Target="https://developer.apple.com/documentation/corevideo/cvpixelbuffergetiosurface(_:)" TargetMode="External"/><Relationship Id="rId18" Type="http://schemas.openxmlformats.org/officeDocument/2006/relationships/hyperlink" Target="https://developer.apple.com/documentation/corevideo/cvpixelbuffergetbytesperrow(_:)?changes=_7" TargetMode="External"/><Relationship Id="rId17" Type="http://schemas.openxmlformats.org/officeDocument/2006/relationships/hyperlink" Target="https://developer.apple.com/documentation/corevideo/cvpixelbuffergetdatasize(_:)?language=objc" TargetMode="External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hyperlink" Target="https://developer.apple.com/documentation/corevideo/pixel-buffer-attribute-keys" TargetMode="External"/><Relationship Id="rId13" Type="http://schemas.openxmlformats.org/officeDocument/2006/relationships/hyperlink" Target="https://developer.apple.com/documentation/corevideo/cvpixelbufferpoolcreate(_:_:_:_:)" TargetMode="External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hyperlink" Target="https://developer.apple.com/documentation/avfoundation/avcapturesession/startrunning()" TargetMode="Externa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2" Type="http://schemas.openxmlformats.org/officeDocument/2006/relationships/notesSlide" Target="../notesSlides/notesSlide3.xml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6.xml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package" Target="../embeddings/Workbook1.xlsx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1" Type="http://schemas.openxmlformats.org/officeDocument/2006/relationships/package" Target="../embeddings/Workbook2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67"/>
            <a:ext cx="4969630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iOS相机Pipeline的内存池管理机制</a:t>
            </a: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48431" y="567362"/>
            <a:ext cx="11332369" cy="13254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在相机运作时，手机每秒要吐出几十张高分辨率的照片。如果系统每生成一帧图像，</a:t>
            </a:r>
            <a:r>
              <a:rPr lang="en-US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malloc</a:t>
            </a: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一块新空间，用完再free，会导致：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极高的开销： </a:t>
            </a:r>
            <a:r>
              <a:rPr lang="zh-CN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频繁分配和释放大块内存会严重拖慢 CPU。</a:t>
            </a:r>
            <a:endParaRPr lang="en-US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内存碎片化： </a:t>
            </a:r>
            <a:r>
              <a:rPr lang="zh-CN" altLang="zh-CN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内存空间会被切得七零八落。</a:t>
            </a:r>
            <a:endParaRPr lang="zh-CN" altLang="zh-CN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5940" y="1562100"/>
            <a:ext cx="3489960" cy="995680"/>
          </a:xfrm>
          <a:prstGeom prst="rect">
            <a:avLst/>
          </a:prstGeom>
        </p:spPr>
      </p:pic>
      <p:sp>
        <p:nvSpPr>
          <p:cNvPr id="9" name="Rectangle 1028"/>
          <p:cNvSpPr>
            <a:spLocks noChangeArrowheads="1"/>
          </p:cNvSpPr>
          <p:nvPr/>
        </p:nvSpPr>
        <p:spPr bwMode="auto">
          <a:xfrm>
            <a:off x="106680" y="1962785"/>
            <a:ext cx="7487920" cy="598805"/>
          </a:xfrm>
          <a:prstGeom prst="rect">
            <a:avLst/>
          </a:prstGeom>
          <a:solidFill>
            <a:srgbClr val="F3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CVPixelBufferPool（像素缓冲池）：系统在相机启动时，直接一次性申请几十块同样大小的PixelBuffer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放在Pool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。相机吐出数据时，拿一个PixelBuffer装；App 处理完后，把Buffer放回</a:t>
            </a:r>
            <a:r>
              <a:rPr lang="en-US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Pool</a:t>
            </a:r>
            <a:r>
              <a:rPr lang="zh-CN" altLang="en-US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中</a:t>
            </a:r>
            <a:r>
              <a:rPr lang="zh-CN" altLang="zh-CN" sz="11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。全程循环复用，不产生新的内存分配。</a:t>
            </a:r>
            <a:endParaRPr lang="zh-CN" altLang="zh-CN" sz="11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" y="2851150"/>
            <a:ext cx="6502400" cy="3543300"/>
          </a:xfrm>
          <a:prstGeom prst="rect">
            <a:avLst/>
          </a:prstGeom>
        </p:spPr>
      </p:pic>
      <p:sp>
        <p:nvSpPr>
          <p:cNvPr id="23" name="圆角矩形 22"/>
          <p:cNvSpPr/>
          <p:nvPr/>
        </p:nvSpPr>
        <p:spPr>
          <a:xfrm>
            <a:off x="7213600" y="2851150"/>
            <a:ext cx="4076700" cy="9398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75040" y="2851150"/>
            <a:ext cx="13538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1.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底层硬件与</a:t>
            </a: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ISP</a:t>
            </a:r>
            <a:endParaRPr lang="en-US" altLang="zh-CN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7213600" y="4101465"/>
            <a:ext cx="4076700" cy="939800"/>
          </a:xfrm>
          <a:prstGeom prst="roundRect">
            <a:avLst/>
          </a:prstGeom>
          <a:solidFill>
            <a:schemeClr val="accent5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61045" y="4108450"/>
            <a:ext cx="17824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2.mediaserverd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系统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进程</a:t>
            </a:r>
            <a:endParaRPr lang="zh-CN" altLang="en-US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13600" y="5396865"/>
            <a:ext cx="4076700" cy="939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855075" y="5403850"/>
            <a:ext cx="7931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altLang="zh-CN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3.</a:t>
            </a:r>
            <a:r>
              <a:rPr lang="zh-CN" altLang="en-US" sz="1200" dirty="0" smtClean="0">
                <a:solidFill>
                  <a:srgbClr val="0070C0"/>
                </a:solidFill>
                <a:latin typeface="Times New Roman" panose="02020503050405090304" pitchFamily="18" charset="0"/>
                <a:ea typeface="PingFang SC" panose="020B0400000000000000" charset="-122"/>
                <a:cs typeface="Times New Roman" panose="02020503050405090304" pitchFamily="18" charset="0"/>
              </a:rPr>
              <a:t>应用层</a:t>
            </a:r>
            <a:endParaRPr lang="zh-CN" altLang="en-US" sz="1200" dirty="0" smtClean="0">
              <a:solidFill>
                <a:srgbClr val="0070C0"/>
              </a:solidFill>
              <a:latin typeface="Times New Roman" panose="02020503050405090304" pitchFamily="18" charset="0"/>
              <a:ea typeface="PingFang SC" panose="020B0400000000000000" charset="-122"/>
              <a:cs typeface="Times New Roman" panose="02020503050405090304" pitchFamily="18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312660" y="3126740"/>
            <a:ext cx="1183005" cy="536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666480" y="3126740"/>
            <a:ext cx="1183005" cy="536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020300" y="3126740"/>
            <a:ext cx="1183005" cy="53657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411720" y="4384040"/>
            <a:ext cx="1565275" cy="536575"/>
          </a:xfrm>
          <a:prstGeom prst="roundRect">
            <a:avLst/>
          </a:prstGeom>
          <a:solidFill>
            <a:srgbClr val="FBE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9539605" y="4384040"/>
            <a:ext cx="1565275" cy="536575"/>
          </a:xfrm>
          <a:prstGeom prst="roundRect">
            <a:avLst/>
          </a:prstGeom>
          <a:solidFill>
            <a:srgbClr val="FBE6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7411720" y="5701030"/>
            <a:ext cx="1565275" cy="536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9539605" y="5701030"/>
            <a:ext cx="1565275" cy="536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>
            <a:stCxn id="13" idx="3"/>
            <a:endCxn id="14" idx="1"/>
          </p:cNvCxnSpPr>
          <p:nvPr/>
        </p:nvCxnSpPr>
        <p:spPr>
          <a:xfrm>
            <a:off x="8495665" y="3395345"/>
            <a:ext cx="1708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9849485" y="3395345"/>
            <a:ext cx="1708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endCxn id="18" idx="1"/>
          </p:cNvCxnSpPr>
          <p:nvPr/>
        </p:nvCxnSpPr>
        <p:spPr>
          <a:xfrm>
            <a:off x="8976995" y="4652010"/>
            <a:ext cx="5626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976995" y="5969000"/>
            <a:ext cx="5626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9251633" y="3789363"/>
            <a:ext cx="0" cy="3124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endCxn id="12" idx="0"/>
          </p:cNvCxnSpPr>
          <p:nvPr/>
        </p:nvCxnSpPr>
        <p:spPr>
          <a:xfrm>
            <a:off x="9251633" y="5045393"/>
            <a:ext cx="0" cy="3581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324340" y="3822700"/>
            <a:ext cx="6959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原始图像帧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324340" y="5104130"/>
            <a:ext cx="69596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处理后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411720" y="3176270"/>
            <a:ext cx="94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光传感器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光信号➡️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电信号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776970" y="3164205"/>
            <a:ext cx="995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成像处理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快速生成原始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0053320" y="3166110"/>
            <a:ext cx="11626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统计特征矩阵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自动对焦、自动曝光、白平衡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29525" y="4390390"/>
            <a:ext cx="94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超大内存池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多帧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画面缓存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557385" y="4418965"/>
            <a:ext cx="14839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多帧算法合成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Deep Fusion、Smart HDR或多帧降噪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17155" y="5747385"/>
            <a:ext cx="949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App</a:t>
            </a: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内存池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帧缓冲区</a:t>
            </a:r>
            <a:r>
              <a:rPr lang="zh-CN" altLang="en-US" sz="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487535" y="5755005"/>
            <a:ext cx="1715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渲染格式</a:t>
            </a:r>
            <a:endParaRPr lang="zh-CN" altLang="en-US" sz="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zh-CN" sz="800" dirty="0">
                <a:effectLst/>
                <a:sym typeface="+mn-ea"/>
              </a:rPr>
              <a:t>BGRA </a:t>
            </a:r>
            <a:r>
              <a:rPr lang="en-US" altLang="zh-CN" sz="800" dirty="0">
                <a:effectLst/>
                <a:sym typeface="+mn-ea"/>
              </a:rPr>
              <a:t>：</a:t>
            </a:r>
            <a:r>
              <a:rPr lang="zh-CN" altLang="zh-CN" sz="800" dirty="0">
                <a:effectLst/>
                <a:sym typeface="+mn-ea"/>
              </a:rPr>
              <a:t>Metal/OpenGL 美颜特效</a:t>
            </a:r>
            <a:endParaRPr lang="zh-CN" altLang="en-US" sz="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2472055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Hook</a:t>
            </a:r>
            <a:r>
              <a:rPr lang="zh-CN" altLang="en-US" sz="2400" b="1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  <a:sym typeface="+mn-ea"/>
              </a:rPr>
              <a:t>函数及意义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02870" y="568325"/>
            <a:ext cx="5339715" cy="498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前台应用层（AVFoundation）：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6214110" y="758190"/>
            <a:ext cx="0" cy="54997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Rectangle 1027"/>
          <p:cNvSpPr>
            <a:spLocks noChangeArrowheads="1"/>
          </p:cNvSpPr>
          <p:nvPr/>
        </p:nvSpPr>
        <p:spPr bwMode="auto">
          <a:xfrm>
            <a:off x="6473825" y="568325"/>
            <a:ext cx="5339715" cy="498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zh-CN" sz="16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系统服务</a:t>
            </a: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层（Core Video）：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870" y="998220"/>
            <a:ext cx="599567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6365" y="3484245"/>
            <a:ext cx="5995670" cy="263969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08970" y="1069480"/>
            <a:ext cx="49845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1. 视频输出控制 (VideoDataOutput)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50605" y="1357770"/>
            <a:ext cx="500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负责捕获视频，并为应用程序提供对原始或转换后视频帧的访问权限。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50605" y="1701880"/>
            <a:ext cx="558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8330" y="3576638"/>
            <a:ext cx="542290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2. 捕获会话中枢 (CaptureSession)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49885" y="3910965"/>
            <a:ext cx="544576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协调设备输入（如摄像头硬件）和输出（如文件写入、实时数据流）的核心对象。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0" name="Google Shape;100;p1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0605" y="1107580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350520" y="1710055"/>
            <a:ext cx="5546090" cy="8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accent1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" action="ppaction://hlinkfile"/>
              </a:rPr>
              <a:t>videoSettings</a:t>
            </a:r>
            <a:r>
              <a:rPr lang="en-US" sz="1200" b="1" i="0" u="none" strike="noStrike" cap="non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配置输出端最终接收到的视频属性字典。为 PixelFormatType (如 420f, BGRA) 及分辨率。若硬件原生采集格式与应用请求格式不一致，系统会在底层消耗大量性能和内存进行格式转换。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374015" y="2618740"/>
            <a:ext cx="5542915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5" tooltip="" action="ppaction://hlinkfile"/>
              </a:rPr>
              <a:t>alwaysDiscardsLateVideoFrames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丢帧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开关。当接收队列阻塞时，若设为 YES(默认) 则丢弃迟到视频帧以维持实时性防内存暴涨；若设为 NO 则强制排队。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5" name="Google Shape;105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49885" y="3614420"/>
            <a:ext cx="17716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350520" y="4271645"/>
            <a:ext cx="559562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7" tooltip="" action="ppaction://hlinkfile"/>
              </a:rPr>
              <a:t>sessionPreset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配置视频流的预设画质策略 (如 Photo 或 1920x1080)。它直接决定底层请求的传感器裁剪模式，以及随后分配的系统内存池大小。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74015" y="4871085"/>
            <a:ext cx="557149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8" tooltip="" action="ppaction://hlinkfile"/>
              </a:rPr>
              <a:t>addInput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9" tooltip="" action="ppaction://hlinkfile"/>
              </a:rPr>
              <a:t>addOutput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将指定的物理输入源(后置摄像头/麦克风)和输出接收器(视频数据输出对象)注册并绑定到当前的会话总线中。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350520" y="5470525"/>
            <a:ext cx="5506720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10" tooltip="" action="ppaction://hlinkfile"/>
              </a:rPr>
              <a:t>startRunning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唤醒硬件，数据开始流向 Output。系统在此刻提取底层硬件设备支持的真实维度与最高支持帧率。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3" name="Google Shape;90;p13"/>
          <p:cNvSpPr/>
          <p:nvPr/>
        </p:nvSpPr>
        <p:spPr>
          <a:xfrm>
            <a:off x="369655" y="4266645"/>
            <a:ext cx="558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11"/>
          <a:srcRect/>
          <a:stretch>
            <a:fillRect/>
          </a:stretch>
        </p:blipFill>
        <p:spPr>
          <a:xfrm>
            <a:off x="6390640" y="998220"/>
            <a:ext cx="5761355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6896735" y="1059498"/>
            <a:ext cx="522097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3. 核心视频缓冲池 (BufferPool)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645910" y="1337310"/>
            <a:ext cx="541337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避免高频视频流帧级分配和释放带来的巨大性能损耗，构建的可复用图像内存池。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2" name="Google Shape;112;p13" descr="image.png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6638290" y="1097280"/>
            <a:ext cx="1708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/>
        </p:nvSpPr>
        <p:spPr>
          <a:xfrm>
            <a:off x="6531610" y="1758315"/>
            <a:ext cx="5588635" cy="589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13" tooltip="" action="ppaction://hlinkfile"/>
              </a:rPr>
              <a:t>poolAttributes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(内存池级)：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核心键 MinimumBufferCountKey 代表内存池初始化时系统预留的最少缓冲帧数，该参数直接决定了管线的内存占用物理下限。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6581775" y="2416810"/>
            <a:ext cx="5529580" cy="69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  <a:hlinkClick r:id="rId14" tooltip="" action="ppaction://hlinkfile"/>
              </a:rPr>
              <a:t>pixelBufferAttributes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(缓冲级)：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池中每个 CVPixelBuffer 的规格属性。包含缓冲区的分辨率和所要求的像素格式，可以严格估算该池的最大理论物理内存峰值。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4" name="Google Shape;90;p13"/>
          <p:cNvSpPr/>
          <p:nvPr/>
        </p:nvSpPr>
        <p:spPr>
          <a:xfrm>
            <a:off x="6582495" y="1690450"/>
            <a:ext cx="5580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15"/>
          <a:srcRect/>
          <a:stretch>
            <a:fillRect/>
          </a:stretch>
        </p:blipFill>
        <p:spPr>
          <a:xfrm>
            <a:off x="6396990" y="3484245"/>
            <a:ext cx="5735955" cy="26365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6891020" y="3576638"/>
            <a:ext cx="5057140" cy="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4. 视频缓冲分配 (PixelBufferCreate)</a:t>
            </a:r>
            <a:endParaRPr lang="en-US" sz="1650" b="1" i="0" u="none" strike="noStrike" cap="none">
              <a:solidFill>
                <a:srgbClr val="1D4ED8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632575" y="3830320"/>
            <a:ext cx="5294630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无内存池或缓冲池暂时耗尽需扩充时，系统调用此函数分配单独像素缓冲区。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7" name="Google Shape;117;p13" descr="image.png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6632575" y="3614420"/>
            <a:ext cx="1651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6564630" y="4206240"/>
            <a:ext cx="5380990" cy="68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width、height、pixelFormatType</a:t>
            </a:r>
            <a:r>
              <a:rPr lang="en-US" sz="1200" b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决定申请缓冲区基本尺寸和底层编码格式。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  <a:hlinkClick r:id="rId17" tooltip="" action="ppaction://hlinkfile"/>
              </a:rPr>
              <a:t>CVPixelBufferGetDataSize</a:t>
            </a: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获取该缓冲区的纯逻辑数据体积。</a:t>
            </a:r>
            <a:endParaRPr lang="zh-CN" alt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6777990" y="5381625"/>
            <a:ext cx="762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6554470" y="4838700"/>
            <a:ext cx="5480050" cy="1202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  <a:hlinkClick r:id="rId18" tooltip="" action="ppaction://hlinkfile"/>
              </a:rPr>
              <a:t>CVPixelBufferGetBytesPerRow</a:t>
            </a: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为硬件对齐参数，苹果硬件为提升 GPU/NPU 内存读取带宽会进行行补齐(Padding)，导致此数值通常大于理论值。</a:t>
            </a:r>
            <a:endParaRPr 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  <a:hlinkClick r:id="rId19" tooltip="" action="ppaction://hlinkfile"/>
              </a:rPr>
              <a:t>CVPixelBufferGetIOSurface</a:t>
            </a:r>
            <a:r>
              <a:rPr lang="en-US" altLang="zh-CN" sz="1200" b="1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altLang="zh-CN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IOSurfaceGetAllocSize</a:t>
            </a:r>
            <a:r>
              <a:rPr lang="zh-CN" altLang="en-US" sz="1200" b="0" i="0" u="none" strike="noStrike" cap="non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能够得出这块缓冲到底占用了多少真实的物理内存。</a:t>
            </a:r>
            <a:endParaRPr lang="zh-CN" altLang="en-US" sz="1200" b="0" i="0" u="none" strike="noStrike" cap="none">
              <a:solidFill>
                <a:srgbClr val="3341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5" name="Google Shape;90;p13"/>
          <p:cNvSpPr/>
          <p:nvPr/>
        </p:nvSpPr>
        <p:spPr>
          <a:xfrm>
            <a:off x="6632660" y="4184730"/>
            <a:ext cx="5292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1555750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Hook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日志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83970" y="2368550"/>
          <a:ext cx="497840" cy="497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1524000" imgH="1524000" progId="Package">
                  <p:embed/>
                </p:oleObj>
              </mc:Choice>
              <mc:Fallback>
                <p:oleObj name="" showAsIcon="1" r:id="rId1" imgW="1524000" imgH="15240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3970" y="2368550"/>
                        <a:ext cx="497840" cy="497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表格 47"/>
          <p:cNvGraphicFramePr/>
          <p:nvPr/>
        </p:nvGraphicFramePr>
        <p:xfrm>
          <a:off x="185737" y="664845"/>
          <a:ext cx="6172200" cy="1524000"/>
        </p:xfrm>
        <a:graphic>
          <a:graphicData uri="http://schemas.openxmlformats.org/drawingml/2006/table">
            <a:tbl>
              <a:tblPr/>
              <a:tblGrid>
                <a:gridCol w="1130300"/>
                <a:gridCol w="2516505"/>
                <a:gridCol w="2525395"/>
              </a:tblGrid>
              <a:tr h="1778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对比维度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(Camera)</a:t>
                      </a:r>
                      <a:endParaRPr lang="en-US" altLang="zh-CN" sz="1000" b="1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第三方应用</a:t>
                      </a: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 b="1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(Aweme)</a:t>
                      </a:r>
                      <a:endParaRPr lang="en-US" altLang="zh-CN" sz="1000" b="1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首要目标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图像质量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多帧合成、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Deep Fusion)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实时性与处理速度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直播、美颜、特效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内存开销主体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(mediaserverd)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应用侧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(Aweme)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核心像素格式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私有格式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(bxc8, hf20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等高位深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通用格式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(420f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采集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-&gt; BGRA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渲染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51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内存峰值特征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Pool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预分配极大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出现单项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400MB+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占用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依赖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IOSurface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进行高频单帧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BGRA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读写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丢帧策略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严禁丢帧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(NO)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允许丢帧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(YES)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51117" marR="51117" marT="51117" marB="51117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85420" y="2364740"/>
            <a:ext cx="1098550" cy="498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zh-CN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日志分析：</a:t>
            </a:r>
            <a:endParaRPr lang="zh-CN" altLang="zh-CN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07185"/>
            <a:ext cx="4663440" cy="35223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6629400" y="546735"/>
            <a:ext cx="543369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mediaserverd 会建立超大的内存池（比如日志中出现的需要 22 帧、总计约 400MB 的缓存池）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，</a:t>
            </a:r>
            <a:r>
              <a:rPr lang="zh-CN" altLang="en-US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其大小约等于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mediaserverd</a:t>
            </a:r>
            <a:r>
              <a:rPr lang="zh-CN" altLang="en-US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中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IOSurface</a:t>
            </a:r>
            <a:r>
              <a:rPr lang="zh-CN" altLang="en-US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的大小</a:t>
            </a:r>
            <a:r>
              <a:rPr lang="en-US" altLang="zh-CN" sz="1400" dirty="0">
                <a:effectLst/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endParaRPr lang="en-US" altLang="zh-CN" sz="1400" dirty="0">
              <a:effectLst/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5420" y="2888615"/>
            <a:ext cx="6337300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 b="1"/>
              <a:t>bxc8 </a:t>
            </a:r>
            <a:r>
              <a:rPr lang="zh-CN" altLang="en-US" sz="1000" b="1"/>
              <a:t>格式池</a:t>
            </a:r>
            <a:r>
              <a:rPr lang="zh-CN" altLang="en-US" sz="1000"/>
              <a:t>：分辨率为 </a:t>
            </a:r>
            <a:r>
              <a:rPr lang="en-US" altLang="zh-CN" sz="1000"/>
              <a:t>4224 x 3024（</a:t>
            </a:r>
            <a:r>
              <a:rPr lang="zh-CN" altLang="en-US" sz="1000"/>
              <a:t>相机</a:t>
            </a:r>
            <a:r>
              <a:rPr lang="en-US" altLang="zh-CN" sz="1000"/>
              <a:t>）</a:t>
            </a:r>
            <a:r>
              <a:rPr lang="zh-CN" altLang="en-US" sz="1000"/>
              <a:t>，囤积了高达 </a:t>
            </a:r>
            <a:r>
              <a:rPr lang="en-US" altLang="zh-CN" sz="1000" b="1"/>
              <a:t>22 </a:t>
            </a:r>
            <a:r>
              <a:rPr lang="zh-CN" altLang="en-US" sz="1000" b="1"/>
              <a:t>帧</a:t>
            </a:r>
            <a:r>
              <a:rPr lang="zh-CN" altLang="en-US" sz="1000"/>
              <a:t>，单项池预估占用达到 </a:t>
            </a:r>
            <a:r>
              <a:rPr lang="en-US" altLang="zh-CN" sz="1000" b="1"/>
              <a:t>401.99 MB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20" y="3202305"/>
            <a:ext cx="5276215" cy="901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20" y="4479925"/>
            <a:ext cx="5276850" cy="9359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文本框 10"/>
          <p:cNvSpPr txBox="1"/>
          <p:nvPr/>
        </p:nvSpPr>
        <p:spPr>
          <a:xfrm>
            <a:off x="185420" y="4187825"/>
            <a:ext cx="6337300" cy="2451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 b="1"/>
              <a:t>420f </a:t>
            </a:r>
            <a:r>
              <a:rPr lang="zh-CN" altLang="en-US" sz="1000" b="1"/>
              <a:t>格式池</a:t>
            </a:r>
            <a:r>
              <a:rPr lang="zh-CN" altLang="en-US" sz="1000"/>
              <a:t>：分辨率为 </a:t>
            </a:r>
            <a:r>
              <a:rPr lang="en-US" altLang="zh-CN" sz="1000"/>
              <a:t>1080 x 1920（</a:t>
            </a:r>
            <a:r>
              <a:rPr lang="zh-CN" altLang="en-US" sz="1000"/>
              <a:t>抖音竖屏</a:t>
            </a:r>
            <a:r>
              <a:rPr lang="en-US" altLang="zh-CN" sz="1000"/>
              <a:t>）</a:t>
            </a:r>
            <a:r>
              <a:rPr lang="zh-CN" altLang="en-US" sz="1000"/>
              <a:t>，占用达到 </a:t>
            </a:r>
            <a:r>
              <a:rPr lang="en-US" altLang="zh-CN" sz="1000" b="1"/>
              <a:t>40 MB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sp>
        <p:nvSpPr>
          <p:cNvPr id="12" name="文本框 11"/>
          <p:cNvSpPr txBox="1"/>
          <p:nvPr/>
        </p:nvSpPr>
        <p:spPr>
          <a:xfrm>
            <a:off x="185420" y="5487035"/>
            <a:ext cx="5348605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000" b="1"/>
              <a:t>原生模式 (12MP 全尺寸)：</a:t>
            </a:r>
            <a:r>
              <a:rPr lang="en-US" altLang="zh-CN" sz="1000"/>
              <a:t>统计数据的宽度达到了 7985 x 8和 5237 x 8，</a:t>
            </a:r>
            <a:r>
              <a:rPr lang="zh-CN" altLang="en-US" sz="1000"/>
              <a:t>用于</a:t>
            </a:r>
            <a:r>
              <a:rPr lang="en-US" altLang="zh-CN" sz="1000"/>
              <a:t>3A</a:t>
            </a:r>
            <a:r>
              <a:rPr lang="zh-CN" altLang="en-US" sz="1000"/>
              <a:t>统计</a:t>
            </a:r>
            <a:r>
              <a:rPr lang="en-US" altLang="zh-CN" sz="1000"/>
              <a:t>。</a:t>
            </a:r>
            <a:endParaRPr lang="en-US" altLang="zh-CN" sz="100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000" b="1"/>
              <a:t>抖音模式 (1080p 裁切)：</a:t>
            </a:r>
            <a:r>
              <a:rPr lang="en-US" altLang="zh-CN" sz="1000"/>
              <a:t>统计数据的宽度相应缩小到了 7085 x 8和 4337 x 8。</a:t>
            </a:r>
            <a:endParaRPr lang="en-US" altLang="zh-CN" sz="10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8630" y="5187950"/>
            <a:ext cx="3321556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0315" y="5187950"/>
            <a:ext cx="3326420" cy="5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7300" y="5832475"/>
            <a:ext cx="3184569" cy="3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6725" y="5832475"/>
            <a:ext cx="3317908" cy="3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Rectangle 1026"/>
          <p:cNvSpPr>
            <a:spLocks noChangeArrowheads="1"/>
          </p:cNvSpPr>
          <p:nvPr/>
        </p:nvSpPr>
        <p:spPr bwMode="auto">
          <a:xfrm>
            <a:off x="0" y="35877"/>
            <a:ext cx="1404620" cy="4603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90204" pitchFamily="34" charset="0"/>
                <a:ea typeface="Open Sans" panose="020B0606030504020204" pitchFamily="34" charset="0"/>
              </a:rPr>
              <a:t>参考文献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90204" pitchFamily="34" charset="0"/>
              <a:ea typeface="Open Sans" panose="020B0606030504020204" pitchFamily="34" charset="0"/>
            </a:endParaRPr>
          </a:p>
        </p:txBody>
      </p:sp>
      <p:sp>
        <p:nvSpPr>
          <p:cNvPr id="3" name="Rectangle 1027"/>
          <p:cNvSpPr>
            <a:spLocks noChangeArrowheads="1"/>
          </p:cNvSpPr>
          <p:nvPr/>
        </p:nvSpPr>
        <p:spPr bwMode="auto">
          <a:xfrm>
            <a:off x="138430" y="650875"/>
            <a:ext cx="11630025" cy="62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26960" rIns="0" bIns="12696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[1] https://developer.apple.com/library/archive/documentation/Performance/Conceptual/ManagingMemory/Articles/MallocDebug.html</a:t>
            </a:r>
            <a:endParaRPr lang="en-US" altLang="zh-CN" sz="1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[2] https://developer.apple.com/videos/play/wwdc2020/10008/</a:t>
            </a:r>
            <a:endParaRPr lang="en-US" altLang="zh-CN" sz="1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微信拍照模式竞分数据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981700" y="2827020"/>
            <a:ext cx="6214745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预览阶段（日常取景）：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1424.56MB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1766.12MB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在基础预览时的系统开销比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24%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拍照阶段（瞬间捕获）：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1618.10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1868.09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在执行拍照动作时，底层系统的开销依然比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15.4%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9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82017" y="5467668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iPhone 17 Pro Max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开销增加了约 193.5MB（涨幅 13.6%）。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MLN-AL00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开销仅增加了约 102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（涨幅 5.8%）。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" y="2986405"/>
            <a:ext cx="4154170" cy="31261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文本框 17"/>
          <p:cNvSpPr txBox="1"/>
          <p:nvPr/>
        </p:nvSpPr>
        <p:spPr>
          <a:xfrm>
            <a:off x="57785" y="2734310"/>
            <a:ext cx="52241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https://developer.apple.com/documentation/avfoundation/avcapturephotooutput/qualityprioritization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608330"/>
            <a:ext cx="5829101" cy="2088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608330"/>
            <a:ext cx="5892479" cy="2088000"/>
          </a:xfrm>
          <a:prstGeom prst="rect">
            <a:avLst/>
          </a:prstGeom>
        </p:spPr>
      </p:pic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95800" y="4597400"/>
          <a:ext cx="1440000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4" imgW="1524000" imgH="1524000" progId="Excel.Sheet.12">
                  <p:embed/>
                </p:oleObj>
              </mc:Choice>
              <mc:Fallback>
                <p:oleObj name="" showAsIcon="1" r:id="rId4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5800" y="4597400"/>
                        <a:ext cx="1440000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7785" y="6150610"/>
            <a:ext cx="52241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内存从小到大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：speed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→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 balanced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→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quality ；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当前微信仅为能适配新版本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iOS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和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新版本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We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Chat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的手机开放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。</a:t>
            </a:r>
            <a:endParaRPr lang="en-US" altLang="zh-CN" sz="800" dirty="0"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系统相机和三方相机内存占用竞分数据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3820" y="4503420"/>
            <a:ext cx="10073005" cy="216852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1. 原生应用：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原生相机中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，iPhone  14PM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（31M）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采用极致轻量化策略，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360M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）存在十倍以上的内存开销差距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在原生拍摄场景中，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(Camera)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仅作为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UI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空壳，内存占用极低且稳定，绝大多数场景仅需 20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- 46MB（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例如 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K30fps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录像仅为 24.5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相比之下，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com.huawei.camera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承载了较多业务逻辑，内存占用普遍在 300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- 540MB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区间（例如延时摄影高达 541.4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</a:t>
            </a:r>
            <a:r>
              <a:rPr 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2. 框架服务：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双方架构设计思路高度一致，均保持极低的调度开销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camera_service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稳定在 18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- 22MB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左右，而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appleh13camerad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也仅为 21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- 37MB。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3. 系统服务：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原生场景下均为消耗主力，但在三方应用接入时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的降级释放策略更激进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系统底层的图像处理进程是双方的内存消耗大头（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CameraDaemon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与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mediaserverd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在原生场景均可达 1000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- 1600MB+）。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在面临三方应用（如微信、支付宝）调用时策略出现显著分化：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的系统服务内存会下降至 230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- 390MB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左右（如微信拍照降至 253.94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为三方应用让出空间；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底层服务在三方调用时依然维持在 600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- 1200MB+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的高水位（如微信拍照高达 1186.1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缺乏针对三方场景的重度内存收缩策略。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4137" y="597725"/>
          <a:ext cx="18244185" cy="6491605"/>
        </p:xfrm>
        <a:graphic>
          <a:graphicData uri="http://schemas.openxmlformats.org/drawingml/2006/table">
            <a:tbl>
              <a:tblPr/>
              <a:tblGrid>
                <a:gridCol w="611505"/>
                <a:gridCol w="962660"/>
                <a:gridCol w="467360"/>
                <a:gridCol w="834390"/>
                <a:gridCol w="738505"/>
                <a:gridCol w="772160"/>
                <a:gridCol w="666115"/>
                <a:gridCol w="666115"/>
                <a:gridCol w="751205"/>
                <a:gridCol w="751205"/>
                <a:gridCol w="751205"/>
                <a:gridCol w="750570"/>
                <a:gridCol w="751205"/>
                <a:gridCol w="751205"/>
                <a:gridCol w="751205"/>
              </a:tblGrid>
              <a:tr h="134620"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gridSpan="6"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单框架 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CHZ-AL00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206.0.0.138(SP20C00E138R2P1)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三方：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206.0.0.100(SP15C00E100R2P1)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iPhone 14 Pro Max iOS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16.1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用例名称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场景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测试峰值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com.huawei.camera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camera_service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CameraDaemon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hiaiserver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快照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测试峰值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appleh13camerad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mediaserverd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三方应用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ISP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驱动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+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内核增量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4K30Video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4K30fps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1752.62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385.64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1206.19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58.14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82.61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1295.08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1249.28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486.13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613.77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CodeStart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相机冷启动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1334.14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193.85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965.47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739.27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23.6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694.47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472.38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316.72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FHD30Video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1080p30fps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1583.67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377.52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1044.72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57.91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869.29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490.23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FHD60Video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1080p60fps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1566.37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404.02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992.23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67.24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801.04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22.94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756.97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533.52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256.37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HotStart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相机热启动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1636.1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485.91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20.69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980.22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67.51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830.99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769.66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211.58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1615.49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330.57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1091.62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87.87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86.12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1411.92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24.78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1361.92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648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1643.63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335.19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20.78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1118.79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1412.5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25.81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1361.92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710.25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1627.5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348.42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1089.7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1422.52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24.44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1372.16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741.08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1690.82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334.93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1154.23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96.99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85.76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1588.93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46.66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1505.28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1303.22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1721.01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348.12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1173.32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1596.88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1515.52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891.14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1754.86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350.53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1205.05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1525.76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1430.34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1797.1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1318.36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1691.04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36.49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941.95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1821.3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1313.32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70.18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79.98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522.77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1854.67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329.07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1357.64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925.25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1654.3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376.05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18.56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1094.31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1668.03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1607.68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434.55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1037.47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1684.21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368.05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1136.21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1668.51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1607.68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708.4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1664.64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344.82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1139.75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1687.84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1628.16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1164.85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TimeLapse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延时摄影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1734.43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541.4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1019.66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1090.39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30.74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1034.24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490.84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566.58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Alipay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支付宝扫码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1091.38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365.23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647.3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693.2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233.36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434.53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505.09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170.89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MeiTuan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美团扫码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1068.03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360.82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611.5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76.71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694.71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376.75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292.46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421.89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TaoBaoPhoto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淘宝拍照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1656.3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22.2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1231.74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892.97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524.39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562.38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TaoBaoScan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淘宝扫一扫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1035.7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611.28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727.79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295.35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407.02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1114.17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342.92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21.56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699.02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50.66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787.71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396.22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366.19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422.92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273.13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WeChatPhoto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微信拍照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1613.52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1186.1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60.46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673.38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253.94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394.1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355.28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WeChatScan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1058.67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345.17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21.73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631.36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60.41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823.88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271.39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527.05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184.19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4033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1508.01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1081.53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59.98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837.75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361.31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451.02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206.31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相机框架服务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相机框架服务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前台应用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71990" y="4634865"/>
          <a:ext cx="1466215" cy="146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1524000" imgH="1524000" progId="Excel.Sheet.12">
                  <p:embed/>
                </p:oleObj>
              </mc:Choice>
              <mc:Fallback>
                <p:oleObj name="" showAsIcon="1" r:id="rId1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71990" y="4634865"/>
                        <a:ext cx="1466215" cy="1466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6497</Words>
  <Application>WPS 演示</Application>
  <PresentationFormat>自定义</PresentationFormat>
  <Paragraphs>949</Paragraphs>
  <Slides>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汉仪旗黑</vt:lpstr>
      <vt:lpstr>Open Sans</vt:lpstr>
      <vt:lpstr>苹方-简</vt:lpstr>
      <vt:lpstr>Times New Roman</vt:lpstr>
      <vt:lpstr>PingFang SC</vt:lpstr>
      <vt:lpstr>Noto Sans SC</vt:lpstr>
      <vt:lpstr>Calibri</vt:lpstr>
      <vt:lpstr>helvetica neue</vt:lpstr>
      <vt:lpstr>等线</vt:lpstr>
      <vt:lpstr>汉仪中等线KW</vt:lpstr>
      <vt:lpstr>Helvetica Neue</vt:lpstr>
      <vt:lpstr>汉仪书宋二KW</vt:lpstr>
      <vt:lpstr>Arial Unicode MS</vt:lpstr>
      <vt:lpstr>Apple Color Emoji</vt:lpstr>
      <vt:lpstr>黑体</vt:lpstr>
      <vt:lpstr>汉仪中黑KW</vt:lpstr>
      <vt:lpstr>Thonburi</vt:lpstr>
      <vt:lpstr>宋体</vt:lpstr>
      <vt:lpstr>Noto Sans SC</vt:lpstr>
      <vt:lpstr>Wingdings</vt:lpstr>
      <vt:lpstr>微软雅黑</vt:lpstr>
      <vt:lpstr>等线</vt:lpstr>
      <vt:lpstr>Arial</vt:lpstr>
      <vt:lpstr>Times New Roman Regular</vt:lpstr>
      <vt:lpstr>宋体-简</vt:lpstr>
      <vt:lpstr>Helvetica</vt:lpstr>
      <vt:lpstr>Calibri</vt:lpstr>
      <vt:lpstr>Google Sans Text</vt:lpstr>
      <vt:lpstr>1_Title Slide</vt:lpstr>
      <vt:lpstr>Chart page</vt:lpstr>
      <vt:lpstr>4_Chart page</vt:lpstr>
      <vt:lpstr>End page</vt:lpstr>
      <vt:lpstr>1_Chart page</vt:lpstr>
      <vt:lpstr>Excel.Sheet.12</vt:lpstr>
      <vt:lpstr>Excel.Sheet.12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clover</cp:lastModifiedBy>
  <cp:revision>77</cp:revision>
  <dcterms:created xsi:type="dcterms:W3CDTF">2026-05-26T07:03:28Z</dcterms:created>
  <dcterms:modified xsi:type="dcterms:W3CDTF">2026-05-26T07:03:28Z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3800ED8B12D000E16810146ACBE76F70_43</vt:lpwstr>
  </property>
  <property fmtid="{D5CDD505-2E9C-101B-9397-08002B2CF9AE}" pid="10" name="KSOProductBuildVer">
    <vt:lpwstr>2052-12.1.25895.25895</vt:lpwstr>
  </property>
</Properties>
</file>