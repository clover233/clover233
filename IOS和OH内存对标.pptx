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直接连接符 2"/>
          <p:cNvSpPr>
            <a:spLocks noGrp="1"/>
          </p:cNvSpPr>
          <p:nvPr/>
        </p:nvSpPr>
        <p:spPr>
          <a:xfrm>
            <a:off x="2857500" y="1562100"/>
            <a:ext cx="2000250" cy="0"/>
          </a:xfrm>
          <a:prstGeom prst="line">
            <a:avLst/>
          </a:prstGeom>
          <a:noFill/>
          <a:ln w="28575">
            <a:solidFill>
              <a:srgbClr val="C90028"/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2857500" y="1562100"/>
            <a:ext cx="0" cy="152400"/>
          </a:xfrm>
          <a:prstGeom prst="line">
            <a:avLst/>
          </a:prstGeom>
          <a:noFill/>
          <a:ln w="28575">
            <a:solidFill>
              <a:srgbClr val="C90028"/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4857750" y="1562100"/>
            <a:ext cx="0" cy="152400"/>
          </a:xfrm>
          <a:prstGeom prst="line">
            <a:avLst/>
          </a:prstGeom>
          <a:noFill/>
          <a:ln w="28575">
            <a:solidFill>
              <a:srgbClr val="C90028"/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857750" y="1562100"/>
            <a:ext cx="7524750" cy="0"/>
          </a:xfrm>
          <a:prstGeom prst="line">
            <a:avLst/>
          </a:prstGeom>
          <a:noFill/>
          <a:ln w="28575">
            <a:solidFill>
              <a:srgbClr val="C90028"/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4857750" y="1562100"/>
            <a:ext cx="0" cy="152400"/>
          </a:xfrm>
          <a:prstGeom prst="line">
            <a:avLst/>
          </a:prstGeom>
          <a:noFill/>
          <a:ln w="28575">
            <a:solidFill>
              <a:srgbClr val="C90028"/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2382500" y="1562100"/>
            <a:ext cx="0" cy="152400"/>
          </a:xfrm>
          <a:prstGeom prst="line">
            <a:avLst/>
          </a:prstGeom>
          <a:noFill/>
          <a:ln w="28575">
            <a:solidFill>
              <a:srgbClr val="C90028"/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2382500" y="1562100"/>
            <a:ext cx="1619250" cy="0"/>
          </a:xfrm>
          <a:prstGeom prst="line">
            <a:avLst/>
          </a:prstGeom>
          <a:noFill/>
          <a:ln w="28575">
            <a:solidFill>
              <a:srgbClr val="C90028"/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12382500" y="1562100"/>
            <a:ext cx="0" cy="152400"/>
          </a:xfrm>
          <a:prstGeom prst="line">
            <a:avLst/>
          </a:prstGeom>
          <a:noFill/>
          <a:ln w="28575">
            <a:solidFill>
              <a:srgbClr val="C90028"/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14001750" y="1562100"/>
            <a:ext cx="0" cy="152400"/>
          </a:xfrm>
          <a:prstGeom prst="line">
            <a:avLst/>
          </a:prstGeom>
          <a:noFill/>
          <a:ln w="28575">
            <a:solidFill>
              <a:srgbClr val="C90028"/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857250" y="6191250"/>
            <a:ext cx="15430500" cy="0"/>
          </a:xfrm>
          <a:prstGeom prst="line">
            <a:avLst/>
          </a:prstGeom>
          <a:noFill/>
          <a:ln w="28575">
            <a:solidFill>
              <a:srgbClr val="C90028"/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857250" y="6191250"/>
            <a:ext cx="0" cy="142875"/>
          </a:xfrm>
          <a:prstGeom prst="line">
            <a:avLst/>
          </a:prstGeom>
          <a:noFill/>
          <a:ln w="28575">
            <a:solidFill>
              <a:srgbClr val="C90028"/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16287750" y="6191250"/>
            <a:ext cx="0" cy="142875"/>
          </a:xfrm>
          <a:prstGeom prst="line">
            <a:avLst/>
          </a:prstGeom>
          <a:noFill/>
          <a:ln w="28575">
            <a:solidFill>
              <a:srgbClr val="C90028"/>
            </a:solidFill>
            <a:prstDash val="solid"/>
          </a:ln>
        </p:spPr>
      </p:sp>
      <p:sp>
        <p:nvSpPr>
          <p:cNvPr id="23" name="上箭头 22"/>
          <p:cNvSpPr>
            <a:spLocks noGrp="1"/>
          </p:cNvSpPr>
          <p:nvPr/>
        </p:nvSpPr>
        <p:spPr>
          <a:xfrm>
            <a:off x="13058775" y="3267075"/>
            <a:ext cx="133350" cy="1123950"/>
          </a:xfrm>
          <a:prstGeom prst="upArrow">
            <a:avLst/>
          </a:prstGeom>
          <a:solidFill>
            <a:srgbClr val="C90028"/>
          </a:solidFill>
          <a:ln w="4763">
            <a:solidFill>
              <a:srgbClr val="C90028"/>
            </a:solidFill>
            <a:prstDash val="solid"/>
          </a:ln>
        </p:spPr>
      </p:sp>
      <p:sp>
        <p:nvSpPr>
          <p:cNvPr id="24" name="下箭头 23"/>
          <p:cNvSpPr>
            <a:spLocks noGrp="1"/>
          </p:cNvSpPr>
          <p:nvPr/>
        </p:nvSpPr>
        <p:spPr>
          <a:xfrm>
            <a:off x="13058775" y="5219700"/>
            <a:ext cx="133350" cy="876300"/>
          </a:xfrm>
          <a:prstGeom prst="downArrow">
            <a:avLst/>
          </a:prstGeom>
          <a:solidFill>
            <a:srgbClr val="C90028"/>
          </a:solidFill>
          <a:ln w="4763">
            <a:solidFill>
              <a:srgbClr val="C90028"/>
            </a:solidFill>
            <a:prstDash val="solid"/>
          </a:ln>
        </p:spPr>
      </p:sp>
      <p:sp>
        <p:nvSpPr>
          <p:cNvPr id="25" name="下箭头 24"/>
          <p:cNvSpPr>
            <a:spLocks noGrp="1"/>
          </p:cNvSpPr>
          <p:nvPr/>
        </p:nvSpPr>
        <p:spPr>
          <a:xfrm>
            <a:off x="1819275" y="2943225"/>
            <a:ext cx="133350" cy="361950"/>
          </a:xfrm>
          <a:prstGeom prst="downArrow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</p:sp>
      <p:sp>
        <p:nvSpPr>
          <p:cNvPr id="26" name="下箭头 25"/>
          <p:cNvSpPr>
            <a:spLocks noGrp="1"/>
          </p:cNvSpPr>
          <p:nvPr/>
        </p:nvSpPr>
        <p:spPr>
          <a:xfrm>
            <a:off x="3857625" y="2962275"/>
            <a:ext cx="133350" cy="323850"/>
          </a:xfrm>
          <a:prstGeom prst="downArrow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</p:sp>
      <p:sp>
        <p:nvSpPr>
          <p:cNvPr id="27" name="下箭头 26"/>
          <p:cNvSpPr>
            <a:spLocks noGrp="1"/>
          </p:cNvSpPr>
          <p:nvPr/>
        </p:nvSpPr>
        <p:spPr>
          <a:xfrm>
            <a:off x="1895475" y="7429500"/>
            <a:ext cx="133350" cy="400050"/>
          </a:xfrm>
          <a:prstGeom prst="downArrow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</p:sp>
      <p:sp>
        <p:nvSpPr>
          <p:cNvPr id="28" name="下箭头 27"/>
          <p:cNvSpPr>
            <a:spLocks noGrp="1"/>
          </p:cNvSpPr>
          <p:nvPr/>
        </p:nvSpPr>
        <p:spPr>
          <a:xfrm>
            <a:off x="3914775" y="7429500"/>
            <a:ext cx="133350" cy="400050"/>
          </a:xfrm>
          <a:prstGeom prst="downArrow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</p:sp>
      <p:sp>
        <p:nvSpPr>
          <p:cNvPr id="29" name="title"/>
          <p:cNvSpPr>
            <a:spLocks noGrp="1"/>
          </p:cNvSpPr>
          <p:nvPr/>
        </p:nvSpPr>
        <p:spPr>
          <a:xfrm>
            <a:off x="209550" y="171450"/>
            <a:ext cx="7715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405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405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</a:t>
            </a:r>
            <a:r>
              <a:rPr sz="405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OS和OH内存对标：</a:t>
            </a:r>
            <a:endParaRPr sz="4050" b="1">
              <a:solidFill>
                <a:srgbClr val="1717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71450" y="12001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IOS应用内存：</a:t>
            </a:r>
            <a:endParaRPr sz="1725" b="1">
              <a:solidFill>
                <a:srgbClr val="1717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476500" y="1333500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55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①</a:t>
            </a:r>
            <a:endParaRPr sz="1555" b="0">
              <a:solidFill>
                <a:srgbClr val="1717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371850" y="1104900"/>
            <a:ext cx="99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clean</a:t>
            </a:r>
            <a:endParaRPr sz="1650" b="1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020050" y="1104900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Footprint</a:t>
            </a:r>
            <a:endParaRPr sz="1650" b="1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2430125" y="1104900"/>
            <a:ext cx="152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Reclaimable</a:t>
            </a:r>
            <a:endParaRPr sz="1650" b="1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2990850" y="2514600"/>
            <a:ext cx="1885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加载机制（系统可优化）</a:t>
            </a:r>
            <a:endParaRPr sz="1400" b="1">
              <a:solidFill>
                <a:srgbClr val="1717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990850" y="3048000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按需加载</a:t>
            </a:r>
            <a:endParaRPr sz="1400" b="1">
              <a:solidFill>
                <a:srgbClr val="1717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191250" y="2657475"/>
            <a:ext cx="5715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compressed，系统手段优化应用可优化的</a:t>
            </a:r>
            <a:endParaRPr sz="1400" b="1">
              <a:solidFill>
                <a:srgbClr val="1717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4192250" y="26479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TOP6的峰值场景</a:t>
            </a:r>
            <a:endParaRPr sz="1400" b="1">
              <a:solidFill>
                <a:srgbClr val="1717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57250" y="1714500"/>
            <a:ext cx="2000250" cy="800100"/>
          </a:xfrm>
          <a:prstGeom prst="rect">
            <a:avLst/>
          </a:prstGeom>
          <a:solidFill>
            <a:srgbClr val="E7E7E4"/>
          </a:solidFill>
          <a:ln w="11430">
            <a:solidFill>
              <a:srgbClr val="B7B7B1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76300" y="1752600"/>
            <a:ext cx="1962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shared clean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857500" y="1714500"/>
            <a:ext cx="2000250" cy="800100"/>
          </a:xfrm>
          <a:prstGeom prst="rect">
            <a:avLst/>
          </a:prstGeom>
          <a:solidFill>
            <a:srgbClr val="E7E7E4"/>
          </a:solidFill>
          <a:ln w="11430">
            <a:solidFill>
              <a:srgbClr val="B7B7B1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2876550" y="1752600"/>
            <a:ext cx="1962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private clean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857750" y="1714500"/>
            <a:ext cx="1619250" cy="800100"/>
          </a:xfrm>
          <a:prstGeom prst="rect">
            <a:avLst/>
          </a:prstGeom>
          <a:solidFill>
            <a:srgbClr val="D7D8D5"/>
          </a:solidFill>
          <a:ln w="11430">
            <a:solidFill>
              <a:srgbClr val="B7B7B1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4876800" y="1752600"/>
            <a:ext cx="1581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swapped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477000" y="1714500"/>
            <a:ext cx="4000500" cy="800100"/>
          </a:xfrm>
          <a:prstGeom prst="rect">
            <a:avLst/>
          </a:prstGeom>
          <a:solidFill>
            <a:srgbClr val="078326"/>
          </a:solidFill>
          <a:ln w="11430">
            <a:solidFill>
              <a:srgbClr val="B7B7B1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496050" y="1752600"/>
            <a:ext cx="3962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1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dirty memory（非purgeable）</a:t>
            </a:r>
            <a:endParaRPr sz="1400" b="1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0477500" y="1714500"/>
            <a:ext cx="1905000" cy="800100"/>
          </a:xfrm>
          <a:prstGeom prst="rect">
            <a:avLst/>
          </a:prstGeom>
          <a:solidFill>
            <a:srgbClr val="078326"/>
          </a:solidFill>
          <a:ln w="11430">
            <a:solidFill>
              <a:srgbClr val="B7B7B1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0496550" y="1752600"/>
            <a:ext cx="1866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1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Purgeable-N</a:t>
            </a:r>
            <a:endParaRPr sz="1400" b="1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2382500" y="1714500"/>
            <a:ext cx="1619250" cy="800100"/>
          </a:xfrm>
          <a:prstGeom prst="rect">
            <a:avLst/>
          </a:prstGeom>
          <a:solidFill>
            <a:srgbClr val="E5E2C6"/>
          </a:solidFill>
          <a:ln w="19050">
            <a:solidFill>
              <a:srgbClr val="45AEC5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2401550" y="1752600"/>
            <a:ext cx="1581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分配器缓存</a:t>
            </a:r>
            <a:endParaRPr sz="1400" b="0">
              <a:solidFill>
                <a:srgbClr val="1717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4001750" y="1714500"/>
            <a:ext cx="2000250" cy="800100"/>
          </a:xfrm>
          <a:prstGeom prst="rect">
            <a:avLst/>
          </a:prstGeom>
          <a:solidFill>
            <a:srgbClr val="E5C361"/>
          </a:solidFill>
          <a:ln w="11430">
            <a:solidFill>
              <a:srgbClr val="B7B7B1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14020800" y="1752600"/>
            <a:ext cx="1962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Purgeable-V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6002000" y="1714500"/>
            <a:ext cx="1619250" cy="800100"/>
          </a:xfrm>
          <a:prstGeom prst="rect">
            <a:avLst/>
          </a:prstGeom>
          <a:solidFill>
            <a:srgbClr val="D4DDCA"/>
          </a:solidFill>
          <a:ln w="19050">
            <a:solidFill>
              <a:srgbClr val="45AEC5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6021050" y="1752600"/>
            <a:ext cx="1581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Purgeable-E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5" name="ios-shared-clean-sources"/>
          <p:cNvSpPr>
            <a:spLocks noGrp="1"/>
          </p:cNvSpPr>
          <p:nvPr/>
        </p:nvSpPr>
        <p:spPr>
          <a:xfrm>
            <a:off x="876300" y="3314700"/>
            <a:ext cx="1952625" cy="1866900"/>
          </a:xfrm>
          <a:prstGeom prst="rect">
            <a:avLst/>
          </a:prstGeom>
          <a:solidFill>
            <a:srgbClr val="E7E7E4"/>
          </a:solidFill>
          <a:ln w="11430">
            <a:solidFill>
              <a:srgbClr val="B7B7B1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914400" y="3352800"/>
            <a:ext cx="1876425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dyld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08000"/>
              </a:lnSpc>
              <a:buNone/>
              <a:defRPr sz="12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/usr/lib/*.dylib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08000"/>
              </a:lnSpc>
              <a:buNone/>
              <a:defRPr sz="12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/System/Library/Frameworks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08000"/>
              </a:lnSpc>
              <a:buNone/>
              <a:defRPr sz="12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/System/Library/PrivateFrameworks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08000"/>
              </a:lnSpc>
              <a:buNone/>
              <a:defRPr sz="12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……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685800" y="5219700"/>
            <a:ext cx="2333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系统公共库、共享文件映射等</a:t>
            </a:r>
            <a:endParaRPr sz="1200" b="0">
              <a:solidFill>
                <a:srgbClr val="1717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00000"/>
              </a:lnSpc>
              <a:buNone/>
              <a:defRPr sz="1125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缺少均摊算法</a:t>
            </a:r>
            <a:endParaRPr sz="1200" b="0">
              <a:solidFill>
                <a:srgbClr val="1717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ios-private-clean-sources"/>
          <p:cNvSpPr>
            <a:spLocks noGrp="1"/>
          </p:cNvSpPr>
          <p:nvPr/>
        </p:nvSpPr>
        <p:spPr>
          <a:xfrm>
            <a:off x="2952750" y="3314700"/>
            <a:ext cx="1952625" cy="1866900"/>
          </a:xfrm>
          <a:prstGeom prst="rect">
            <a:avLst/>
          </a:prstGeom>
          <a:solidFill>
            <a:srgbClr val="E7E7E4"/>
          </a:solidFill>
          <a:ln w="11430">
            <a:solidFill>
              <a:srgbClr val="B7B7B1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2990850" y="3352800"/>
            <a:ext cx="1876425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/var/containers/Bundle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00000"/>
              </a:lnSpc>
              <a:buNone/>
              <a:defRPr sz="12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/Application/***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endParaRPr sz="1400"/>
          </a:p>
          <a:p>
            <a:pPr algn="ctr">
              <a:lnSpc>
                <a:spcPct val="100000"/>
              </a:lnSpc>
              <a:buNone/>
              <a:defRPr sz="12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/private/var/containers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00000"/>
              </a:lnSpc>
              <a:buNone/>
              <a:defRPr sz="12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/Bundle/Application/**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00000"/>
              </a:lnSpc>
              <a:buNone/>
              <a:defRPr sz="12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……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2905125" y="5219700"/>
            <a:ext cx="2332990" cy="23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进程私有代码段、私有文件映射</a:t>
            </a:r>
            <a:endParaRPr sz="1200" b="0">
              <a:solidFill>
                <a:srgbClr val="1717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2886075" y="5647690"/>
            <a:ext cx="2238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C900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C900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（是否会变为 Dirty？可写/代码最少是否可以回收掉 clean，最小为多少</a:t>
            </a:r>
            <a:r>
              <a:rPr sz="1400" b="1">
                <a:solidFill>
                  <a:srgbClr val="C900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）</a:t>
            </a:r>
            <a:endParaRPr sz="1400" b="1">
              <a:solidFill>
                <a:srgbClr val="C900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" name="ios-heap-examples"/>
          <p:cNvSpPr>
            <a:spLocks noGrp="1"/>
          </p:cNvSpPr>
          <p:nvPr/>
        </p:nvSpPr>
        <p:spPr>
          <a:xfrm>
            <a:off x="7620000" y="3333750"/>
            <a:ext cx="1714500" cy="1809750"/>
          </a:xfrm>
          <a:prstGeom prst="rect">
            <a:avLst/>
          </a:prstGeom>
          <a:solidFill>
            <a:srgbClr val="B4A4D0"/>
          </a:solidFill>
          <a:ln w="14288">
            <a:solidFill>
              <a:srgbClr val="111111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7696200" y="3429000"/>
            <a:ext cx="15621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12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MALLOC_XXX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15000"/>
              </a:lnSpc>
              <a:buNone/>
              <a:defRPr sz="12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app-specific tag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15000"/>
              </a:lnSpc>
              <a:buNone/>
              <a:defRPr sz="12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IOSurface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15000"/>
              </a:lnSpc>
              <a:buNone/>
              <a:defRPr sz="12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CoreAnimation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15000"/>
              </a:lnSpc>
              <a:buNone/>
              <a:defRPr sz="12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……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11673840" y="4343400"/>
            <a:ext cx="5375910" cy="408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0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IOS应用内存：Private Clean + Footprint + Reclaimable</a:t>
            </a:r>
            <a:endParaRPr sz="1600" b="1">
              <a:solidFill>
                <a:srgbClr val="1717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11640185" y="4781550"/>
            <a:ext cx="464756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00">
                <a:solidFill>
                  <a:srgbClr val="17171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OH应用内存：PSS - Shared Clean</a:t>
            </a:r>
            <a:endParaRPr sz="1600">
              <a:solidFill>
                <a:srgbClr val="17171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133350" y="57531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OH应用内存：</a:t>
            </a:r>
            <a:endParaRPr sz="1725" b="1">
              <a:solidFill>
                <a:srgbClr val="1717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8229600" y="5781675"/>
            <a:ext cx="104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1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PSS</a:t>
            </a:r>
            <a:endParaRPr sz="1400" b="1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57250" y="6305550"/>
            <a:ext cx="2000250" cy="800100"/>
          </a:xfrm>
          <a:prstGeom prst="rect">
            <a:avLst/>
          </a:prstGeom>
          <a:solidFill>
            <a:srgbClr val="E7E7E4"/>
          </a:solidFill>
          <a:ln w="11430">
            <a:solidFill>
              <a:srgbClr val="B7B7B1"/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876300" y="6343650"/>
            <a:ext cx="1962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shared clean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2857500" y="6305550"/>
            <a:ext cx="2000250" cy="800100"/>
          </a:xfrm>
          <a:prstGeom prst="rect">
            <a:avLst/>
          </a:prstGeom>
          <a:solidFill>
            <a:srgbClr val="E7E7E4"/>
          </a:solidFill>
          <a:ln w="11430">
            <a:solidFill>
              <a:srgbClr val="B7B7B1"/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2876550" y="6343650"/>
            <a:ext cx="1962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private clean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4857750" y="6305550"/>
            <a:ext cx="1619250" cy="800100"/>
          </a:xfrm>
          <a:prstGeom prst="rect">
            <a:avLst/>
          </a:prstGeom>
          <a:solidFill>
            <a:srgbClr val="D7D8D5"/>
          </a:solidFill>
          <a:ln w="11430">
            <a:solidFill>
              <a:srgbClr val="B7B7B1"/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4876800" y="6343650"/>
            <a:ext cx="1581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swapped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6477000" y="6305550"/>
            <a:ext cx="4000500" cy="800100"/>
          </a:xfrm>
          <a:prstGeom prst="rect">
            <a:avLst/>
          </a:prstGeom>
          <a:solidFill>
            <a:srgbClr val="078326"/>
          </a:solidFill>
          <a:ln w="11430">
            <a:solidFill>
              <a:srgbClr val="B7B7B1"/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6496050" y="6343650"/>
            <a:ext cx="3962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1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dirty memory（非purgeable）</a:t>
            </a:r>
            <a:endParaRPr sz="1400" b="1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10477500" y="6305550"/>
            <a:ext cx="1905000" cy="800100"/>
          </a:xfrm>
          <a:prstGeom prst="rect">
            <a:avLst/>
          </a:prstGeom>
          <a:solidFill>
            <a:srgbClr val="078326"/>
          </a:solidFill>
          <a:ln w="11430">
            <a:solidFill>
              <a:srgbClr val="B7B7B1"/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10496550" y="6343650"/>
            <a:ext cx="1866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1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Purgeable-N</a:t>
            </a:r>
            <a:endParaRPr sz="1400" b="1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12382500" y="6305550"/>
            <a:ext cx="1619250" cy="800100"/>
          </a:xfrm>
          <a:prstGeom prst="rect">
            <a:avLst/>
          </a:prstGeom>
          <a:solidFill>
            <a:srgbClr val="E5E2C6"/>
          </a:solidFill>
          <a:ln w="19050">
            <a:solidFill>
              <a:srgbClr val="45AEC5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12401550" y="6343650"/>
            <a:ext cx="1581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分配器缓存</a:t>
            </a:r>
            <a:endParaRPr sz="1400" b="0">
              <a:solidFill>
                <a:srgbClr val="1717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14001750" y="6305550"/>
            <a:ext cx="2000250" cy="800100"/>
          </a:xfrm>
          <a:prstGeom prst="rect">
            <a:avLst/>
          </a:prstGeom>
          <a:solidFill>
            <a:srgbClr val="066D20"/>
          </a:solidFill>
          <a:ln w="11430">
            <a:solidFill>
              <a:srgbClr val="B7B7B1"/>
            </a:solidFill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14020800" y="6343650"/>
            <a:ext cx="1962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Purgeable-V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16002000" y="6305550"/>
            <a:ext cx="1619250" cy="800100"/>
          </a:xfrm>
          <a:prstGeom prst="rect">
            <a:avLst/>
          </a:prstGeom>
          <a:solidFill>
            <a:srgbClr val="066D20"/>
          </a:solidFill>
          <a:ln w="11430">
            <a:solidFill>
              <a:srgbClr val="B7B7B1"/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16021050" y="6343650"/>
            <a:ext cx="1581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Purgeable-E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4" name="oh-shared-clean-sources"/>
          <p:cNvSpPr>
            <a:spLocks noGrp="1"/>
          </p:cNvSpPr>
          <p:nvPr/>
        </p:nvSpPr>
        <p:spPr>
          <a:xfrm>
            <a:off x="952500" y="7848600"/>
            <a:ext cx="1905000" cy="1943100"/>
          </a:xfrm>
          <a:prstGeom prst="rect">
            <a:avLst/>
          </a:prstGeom>
          <a:solidFill>
            <a:srgbClr val="E7E7E4"/>
          </a:solidFill>
          <a:ln w="11430">
            <a:solidFill>
              <a:srgbClr val="B7B7B1"/>
            </a:solidFill>
            <a:prstDash val="solid"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1009650" y="7962900"/>
            <a:ext cx="179070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lnSpc>
                <a:spcPct val="115000"/>
              </a:lnSpc>
              <a:buNone/>
              <a:defRPr sz="12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/system/lib64/***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15000"/>
              </a:lnSpc>
              <a:buNone/>
              <a:defRPr sz="12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/vendor/lib64/***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15000"/>
              </a:lnSpc>
              <a:buNone/>
              <a:defRPr sz="12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/system/fonts/***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15000"/>
              </a:lnSpc>
              <a:buNone/>
              <a:defRPr sz="12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/system/lib/***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723900" y="9763125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系统公共库、共享文件映射等</a:t>
            </a:r>
            <a:endParaRPr sz="1050" b="0">
              <a:solidFill>
                <a:srgbClr val="1717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00000"/>
              </a:lnSpc>
              <a:buNone/>
              <a:defRPr sz="1050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可按比例均摊</a:t>
            </a:r>
            <a:endParaRPr sz="1050" b="0">
              <a:solidFill>
                <a:srgbClr val="1717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7" name="oh-private-clean-sources"/>
          <p:cNvSpPr>
            <a:spLocks noGrp="1"/>
          </p:cNvSpPr>
          <p:nvPr/>
        </p:nvSpPr>
        <p:spPr>
          <a:xfrm>
            <a:off x="3000375" y="7848600"/>
            <a:ext cx="1905000" cy="1943100"/>
          </a:xfrm>
          <a:prstGeom prst="rect">
            <a:avLst/>
          </a:prstGeom>
          <a:solidFill>
            <a:srgbClr val="E7E7E4"/>
          </a:solidFill>
          <a:ln w="11430">
            <a:solidFill>
              <a:srgbClr val="B7B7B1"/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3048000" y="7943850"/>
            <a:ext cx="1809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/data/storage/el1/bundle/**/*.so</a:t>
            </a:r>
            <a:endParaRPr sz="1400"/>
          </a:p>
          <a:p>
            <a:pPr algn="ctr">
              <a:lnSpc>
                <a:spcPct val="100000"/>
              </a:lnSpc>
              <a:buNone/>
              <a:defRPr sz="1125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/data/storage/el1/bundle/entry.hap</a:t>
            </a:r>
            <a:endParaRPr sz="1400"/>
          </a:p>
          <a:p>
            <a:pPr algn="ctr">
              <a:lnSpc>
                <a:spcPct val="100000"/>
              </a:lnSpc>
              <a:buNone/>
              <a:defRPr sz="1125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/data/storage/el2/***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00000"/>
              </a:lnSpc>
              <a:buNone/>
              <a:defRPr sz="1125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……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2886075" y="9763125"/>
            <a:ext cx="2143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进程私有代码段、hap包等</a:t>
            </a:r>
            <a:endParaRPr sz="1050" b="0">
              <a:solidFill>
                <a:srgbClr val="1717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0" name="oh-heap-examples"/>
          <p:cNvSpPr>
            <a:spLocks noGrp="1"/>
          </p:cNvSpPr>
          <p:nvPr/>
        </p:nvSpPr>
        <p:spPr>
          <a:xfrm>
            <a:off x="7620000" y="7734300"/>
            <a:ext cx="1809750" cy="2266950"/>
          </a:xfrm>
          <a:prstGeom prst="rect">
            <a:avLst/>
          </a:prstGeom>
          <a:solidFill>
            <a:srgbClr val="B4A4D0"/>
          </a:solidFill>
          <a:ln w="14288">
            <a:solidFill>
              <a:srgbClr val="111111"/>
            </a:solidFill>
            <a:prstDash val="solid"/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7696200" y="7848600"/>
            <a:ext cx="165735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/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Native heap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18000"/>
              </a:lnSpc>
              <a:buNone/>
              <a:defRPr sz="1275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ArkTs heap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18000"/>
              </a:lnSpc>
              <a:buNone/>
              <a:defRPr sz="1275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</a:t>
            </a:r>
            <a:r>
              <a:rPr lang="en-US"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</a:t>
            </a: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buf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18000"/>
              </a:lnSpc>
              <a:buNone/>
              <a:defRPr sz="1275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GPU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18000"/>
              </a:lnSpc>
              <a:buNone/>
              <a:defRPr sz="1275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>
                <a:solidFill>
                  <a:srgbClr val="17171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……</a:t>
            </a:r>
            <a:endParaRPr sz="1400" b="0">
              <a:solidFill>
                <a:srgbClr val="17171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2" name="explanatory-notes"/>
          <p:cNvSpPr>
            <a:spLocks noGrp="1"/>
          </p:cNvSpPr>
          <p:nvPr/>
        </p:nvSpPr>
        <p:spPr>
          <a:xfrm>
            <a:off x="9829800" y="8001000"/>
            <a:ext cx="80962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lnSpc>
                <a:spcPct val="100000"/>
              </a:lnSpc>
              <a:spcAft>
                <a:spcPts val="5"/>
              </a:spcAft>
              <a:buNone/>
              <a:defRPr sz="1350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00" b="1">
                <a:solidFill>
                  <a:srgbClr val="17171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1.  应用的实际物理占用是 clean（private clean + 均摊 shared clean）+ footprint + purgeable</a:t>
            </a:r>
            <a:endParaRPr sz="1600" b="1">
              <a:solidFill>
                <a:srgbClr val="17171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algn="l">
              <a:lnSpc>
                <a:spcPct val="100000"/>
              </a:lnSpc>
              <a:spcAft>
                <a:spcPts val="5"/>
              </a:spcAft>
              <a:buNone/>
              <a:defRPr sz="1350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00" b="1">
                <a:solidFill>
                  <a:srgbClr val="17171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2.  clean① 分为 private clean 和 shared clean，其中 private clean 应全部归属给应用；shared clean 需要和其他系统服务及应用均摊（当前 iOS 未提供均摊计算机制，单框架可以计算均摊）。</a:t>
            </a:r>
            <a:endParaRPr sz="1600" b="1">
              <a:solidFill>
                <a:srgbClr val="17171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00" b="1">
                <a:solidFill>
                  <a:srgbClr val="17171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3.  Purgeable② 分为三个状态（non-volatile、volatile、empty），其中 N 是锁定状态，计入 footprint；V 为解锁状态，随时可以清理，未计入 footprint；E 为已清理状态，无物理内存占用。</a:t>
            </a:r>
            <a:endParaRPr sz="1600" b="1">
              <a:solidFill>
                <a:srgbClr val="17171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2" name="ios-oh-comparison-focus"/>
          <p:cNvSpPr>
            <a:spLocks noGrp="1"/>
          </p:cNvSpPr>
          <p:nvPr/>
        </p:nvSpPr>
        <p:spPr>
          <a:xfrm>
            <a:off x="2800350" y="1028700"/>
            <a:ext cx="11277600" cy="6858000"/>
          </a:xfrm>
          <a:prstGeom prst="rect">
            <a:avLst/>
          </a:prstGeom>
          <a:noFill/>
          <a:ln w="23813">
            <a:solidFill>
              <a:srgbClr val="C90028"/>
            </a:solidFill>
            <a:prstDash val="dash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14832965" y="1254760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  <a:defRPr sz="2250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altLang="zh-CN" sz="2250" b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②</a:t>
            </a:r>
            <a:endParaRPr lang="en-US" altLang="zh-CN" sz="2250" b="0">
              <a:solidFill>
                <a:srgbClr val="1717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5" name="左大括号 94"/>
          <p:cNvSpPr/>
          <p:nvPr/>
        </p:nvSpPr>
        <p:spPr>
          <a:xfrm rot="5400000" flipH="1" flipV="1">
            <a:off x="10497185" y="-2762250"/>
            <a:ext cx="474980" cy="11677650"/>
          </a:xfrm>
          <a:prstGeom prst="leftBrace">
            <a:avLst>
              <a:gd name="adj1" fmla="val 8333"/>
              <a:gd name="adj2" fmla="val 2965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96" name="左大括号 95"/>
          <p:cNvSpPr/>
          <p:nvPr/>
        </p:nvSpPr>
        <p:spPr>
          <a:xfrm rot="5400000" flipH="1" flipV="1">
            <a:off x="10506710" y="1657985"/>
            <a:ext cx="474980" cy="11677650"/>
          </a:xfrm>
          <a:prstGeom prst="leftBrace">
            <a:avLst>
              <a:gd name="adj1" fmla="val 8333"/>
              <a:gd name="adj2" fmla="val 2965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cxnSp>
        <p:nvCxnSpPr>
          <p:cNvPr id="12" name="直接连接符 11"/>
          <p:cNvCxnSpPr/>
          <p:nvPr/>
        </p:nvCxnSpPr>
        <p:spPr>
          <a:xfrm>
            <a:off x="0" y="822746"/>
            <a:ext cx="18288000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2" name="直接连接符 11"/>
          <p:cNvCxnSpPr/>
          <p:nvPr/>
        </p:nvCxnSpPr>
        <p:spPr>
          <a:xfrm>
            <a:off x="0" y="822746"/>
            <a:ext cx="18288000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1255395"/>
            <a:ext cx="18288000" cy="4540250"/>
          </a:xfrm>
          <a:prstGeom prst="rect">
            <a:avLst/>
          </a:prstGeom>
        </p:spPr>
      </p:pic>
      <p:sp>
        <p:nvSpPr>
          <p:cNvPr id="29" name="title"/>
          <p:cNvSpPr>
            <a:spLocks noGrp="1"/>
          </p:cNvSpPr>
          <p:nvPr/>
        </p:nvSpPr>
        <p:spPr>
          <a:xfrm>
            <a:off x="71120" y="103505"/>
            <a:ext cx="795274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0000"/>
          </a:bodyPr>
          <a:lstStyle/>
          <a:p>
            <a:pPr algn="l">
              <a:lnSpc>
                <a:spcPct val="100000"/>
              </a:lnSpc>
              <a:buNone/>
              <a:defRPr sz="405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405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iPhone 17 Pro Max</a:t>
            </a:r>
            <a:r>
              <a:rPr lang="zh-CN" altLang="en-US" sz="405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静态场景下内存竞</a:t>
            </a:r>
            <a:r>
              <a:rPr lang="zh-CN" altLang="en-US" sz="405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分数据</a:t>
            </a:r>
            <a:endParaRPr sz="4050" b="1">
              <a:solidFill>
                <a:srgbClr val="17171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1221</Words>
  <Application>WPS 表格</Application>
  <PresentationFormat>Converted Presentation</PresentationFormat>
  <Paragraphs>115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宋体</vt:lpstr>
      <vt:lpstr>Wingdings</vt:lpstr>
      <vt:lpstr>PingFang SC</vt:lpstr>
      <vt:lpstr>Arial</vt:lpstr>
      <vt:lpstr>PingFang SC Semibold</vt:lpstr>
      <vt:lpstr>汉仪书宋二KW</vt:lpstr>
      <vt:lpstr>宋体</vt:lpstr>
      <vt:lpstr>Calibri</vt:lpstr>
      <vt:lpstr>Helvetica Neue</vt:lpstr>
      <vt:lpstr>微软雅黑</vt:lpstr>
      <vt:lpstr>汉仪旗黑</vt:lpstr>
      <vt:lpstr>Arial Unicode MS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clover</cp:lastModifiedBy>
  <cp:revision>2</cp:revision>
  <dcterms:created xsi:type="dcterms:W3CDTF">2026-07-18T02:24:14Z</dcterms:created>
  <dcterms:modified xsi:type="dcterms:W3CDTF">2026-07-18T02:24:14Z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A4B76053006A6502A042586AC835F5D8_42</vt:lpwstr>
  </property>
</Properties>
</file>